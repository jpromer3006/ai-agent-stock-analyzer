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9"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267" r:id="rId14"/>
    <p:sldId id="269" r:id="rId15"/>
    <p:sldId id="270" r:id="rId16"/>
    <p:sldId id="271" r:id="rId17"/>
    <p:sldId id="272" r:id="rId18"/>
    <p:sldId id="273" r:id="rId19"/>
    <p:sldId id="274" r:id="rId20"/>
    <p:sldId id="275" r:id="rId21"/>
  </p:sldIdLst>
  <p:sldSz cx="12192000" cy="6858000"/>
  <p:notesSz cx="6858000" cy="12192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981"/>
    <p:restoredTop sz="94658"/>
  </p:normalViewPr>
  <p:slideViewPr>
    <p:cSldViewPr snapToGrid="0">
      <p:cViewPr>
        <p:scale>
          <a:sx n="198" d="100"/>
          <a:sy n="198" d="100"/>
        </p:scale>
        <p:origin x="8" y="1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50 seconds. Open with the show of hands: who has a financial advisor? Almost nobody. Who has a brokerage app? Everyone. That gap is where this capstone lives. Then the one-liner: an AI agent team that runs a research desk by itself and publishes its record, win or lose. Frame as research: journaled, auditable, simulated money only.</a:t>
            </a:r>
            <a:endParaRPr dirty="0"/>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
        <p:cNvGrpSpPr/>
        <p:nvPr/>
      </p:nvGrpSpPr>
      <p:grpSpPr>
        <a:xfrm>
          <a:off x="0" y="0"/>
          <a:ext cx="0" cy="0"/>
          <a:chOff x="0" y="0"/>
          <a:chExt cx="0" cy="0"/>
        </a:xfrm>
      </p:grpSpPr>
      <p:sp>
        <p:nvSpPr>
          <p:cNvPr id="21" name="Google Shape;21;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 name="Google Shape;22;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90 seconds. Read the room the flow diagram first, then speak the paragraph naturally — it is written to be said aloud: minimums, fees, emotion, speed, and the mass-customization paradox, then automation's answer to all five. Land the gold line: a trillion dollars proves cost is solved — nobody shows their reasoning, so conversation is not. And OROS's own position in this industry is deliberate: it proposes and journals; it never executes.</a:t>
            </a:r>
            <a:endParaRPr dirty="0"/>
          </a:p>
        </p:txBody>
      </p:sp>
      <p:sp>
        <p:nvSpPr>
          <p:cNvPr id="23" name="Google Shape;23;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
        <p:cNvGrpSpPr/>
        <p:nvPr/>
      </p:nvGrpSpPr>
      <p:grpSpPr>
        <a:xfrm>
          <a:off x="0" y="0"/>
          <a:ext cx="0" cy="0"/>
          <a:chOff x="0" y="0"/>
          <a:chExt cx="0" cy="0"/>
        </a:xfrm>
      </p:grpSpPr>
      <p:sp>
        <p:nvSpPr>
          <p:cNvPr id="40" name="Google Shape;4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 name="Google Shape;4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45 seconds. All pictures, minimal reading. Left: the burnout — one human, thousands of charts, 3 AM; reviewing 500 charts manually is a 33-hour night. Center: the behavior gap — emotion buys the euphoric top and sells the panic bottom, and the market recovers without them; misaligned incentives and emotional cycles are exactly why governance and journaled rules matter. Right: the punchline stats — 60 to 73 percent of ALL U.S. equity volume is already algorithmic, and the industry is racing to build more bots. The machines already run the market; the question is whether anyone shows their reasoning. That is the governance gap OROS answers with journals.</a:t>
            </a:r>
            <a:endParaRPr dirty="0"/>
          </a:p>
        </p:txBody>
      </p:sp>
      <p:sp>
        <p:nvSpPr>
          <p:cNvPr id="42" name="Google Shape;4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 name="Google Shape;56;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60 seconds. Walk the diagram: regulators above, three pillars below — capital, service, machinery. Then the paragraph, naturally. Two nuances for the committee: traditional advisors are not eliminated — their role shifts to coaching and complex planning; and the governance tier is not decoration — the SEC/UBS YES-strategy case shows what happens when complex products lack transparency. Land the gold line: OROS gives investors four doors in, builders auditable journals, and regulators a system that logs everything and never executes. That is why 'proposes, never trades' is a design principle, not a limitation.</a:t>
            </a:r>
            <a:endParaRPr dirty="0"/>
          </a:p>
        </p:txBody>
      </p:sp>
      <p:sp>
        <p:nvSpPr>
          <p:cNvPr id="57" name="Google Shape;57;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 name="Google Shape;82;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75 seconds. Correct count, three tiers: seven pipeline roles on the left run the daily loop; the right panel is the bench — EIGHTEEN sector specialists, each reading its industry's own SEC filings with sector-specific tools (a REIT graded on funds-from-operations, a bank on deposits, a biotech on its trial pipeline), routed by the Classifier; plus the research voices and the three dialogue agents. Thirty-one agents, one journaled truth. Close on the doctrine — the answer to the LLM-in-finance objection.</a:t>
            </a:r>
            <a:endParaRPr dirty="0"/>
          </a:p>
        </p:txBody>
      </p:sp>
      <p:sp>
        <p:nvSpPr>
          <p:cNvPr id="83" name="Google Shape;83;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8" name="Google Shape;118;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45 seconds. This is the landing screen: the whole market's weather, then your list's scan. Stage cards double as navigation. Emphasize the timestamped provenance — these figures came from the overnight autonomous run and match the video and the email.</a:t>
            </a:r>
            <a:endParaRPr dirty="0"/>
          </a:p>
        </p:txBody>
      </p:sp>
      <p:sp>
        <p:nvSpPr>
          <p:cNvPr id="119" name="Google Shape;119;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8" name="Google Shape;128;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45 seconds. The money moment: an 85% bull-probability name REFUSED because volume hasn't confirmed. Read the two gate cards aloud — pass and fail. No entry without proof of strength; a WATCH label is the system practicing patience in public.</a:t>
            </a:r>
            <a:endParaRPr dirty="0"/>
          </a:p>
        </p:txBody>
      </p:sp>
      <p:sp>
        <p:nvSpPr>
          <p:cNvPr id="129" name="Google Shape;129;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8" name="Google Shape;138;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50 seconds. Agentic Autonomous Mode: the system chose mandate, risk, and universe from data. Point at the blend banner (the Playbook), the risk score, and mention the bench — the journal of names it REFUSED, with reasons. Customization: check different Playbooks — sprinter, swing, patient growth, value — same rules, different personality.</a:t>
            </a:r>
            <a:endParaRPr dirty="0"/>
          </a:p>
        </p:txBody>
      </p:sp>
      <p:sp>
        <p:nvSpPr>
          <p:cNvPr id="139" name="Google Shape;139;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8" name="Google Shape;148;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55 seconds. Built live the night before this presentation, and it reruns live in the demo. Claude nominated NVIDIA, Tesla, AMD; the deterministic gates refused all three and sized the 12 survivors so cautiously the book held 53% cash. The audition sheet shows every nomination with its verdict — the safety architecture made visible.</a:t>
            </a:r>
            <a:endParaRPr dirty="0"/>
          </a:p>
        </p:txBody>
      </p:sp>
      <p:sp>
        <p:nvSpPr>
          <p:cNvPr id="149" name="Google Shape;149;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1" name="Google Shape;161;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40 seconds. The Research tab's Historian: overhead supply zones from ten years of price, seasonality from 46 years of calendar. This is the EDA layer — anomaly detection by context. Mention: every claim in the memo cites SEC filings.</a:t>
            </a:r>
            <a:endParaRPr dirty="0"/>
          </a:p>
        </p:txBody>
      </p:sp>
      <p:sp>
        <p:nvSpPr>
          <p:cNvPr id="162" name="Google Shape;162;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4" name="Google Shape;174;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50 seconds. Be factual and specific: structured financials come from SEC EDGAR's XBRL — never scraped PDFs — with a compliant User-Agent and rate limiting; the universe comes from Nasdaq Trader's own listing files; prices from Yahoo Finance cached nightly for all 500; macro from FRED. Unstructured: the 10-K text itself, chunked into a vector store respecting Item boundaries, plus VADER-scored headlines and </a:t>
            </a:r>
            <a:r>
              <a:rPr lang="en-US" dirty="0" err="1"/>
              <a:t>StockTwits</a:t>
            </a:r>
            <a:r>
              <a:rPr lang="en-US" dirty="0"/>
              <a:t> attention. Then point at the screenshot: the system writes its own bibliography — numbered footnotes and a live EDGAR link by CIK in every memo. State the limits before they ask: delayed quotes, filing lag, quota fallbacks.</a:t>
            </a:r>
            <a:endParaRPr dirty="0"/>
          </a:p>
        </p:txBody>
      </p:sp>
      <p:sp>
        <p:nvSpPr>
          <p:cNvPr id="175" name="Google Shape;175;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6" name="Google Shape;206;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50 seconds. The direct answer to Investopedia's 'lack of human touch.' Read the three headers aloud — What the Build Shows, Why It's Included, What I Can't Say. The refusal is the feature: educational conversation with enforced limits, in the Portfolio tab, the Historian, and the YouTube desk.</a:t>
            </a:r>
            <a:endParaRPr dirty="0"/>
          </a:p>
        </p:txBody>
      </p:sp>
      <p:sp>
        <p:nvSpPr>
          <p:cNvPr id="207" name="Google Shape;207;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3" name="Google Shape;19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40 seconds. Two windows into the same honesty. Left: the agent workflow itself — when the Sector Specialist analyzes a company, its tool calls stream onto the screen: which SEC filing it pulled, which metric it computed, in order. Nothing happens behind a curtain. Right: the public channel — the same agents' conclusions broadcast twice a day, timestamped forever, including the days with nothing to say. Say the gold line slowly: a </a:t>
            </a:r>
            <a:r>
              <a:rPr lang="en-US" dirty="0" err="1"/>
              <a:t>robo</a:t>
            </a:r>
            <a:r>
              <a:rPr lang="en-US" dirty="0"/>
              <a:t>-advisor asks for trust; OROS manufactures it by exposure. Then hand off: now let me show you what those agents actually produce — the scanner.</a:t>
            </a:r>
            <a:endParaRPr dirty="0"/>
          </a:p>
        </p:txBody>
      </p:sp>
      <p:sp>
        <p:nvSpPr>
          <p:cNvPr id="194" name="Google Shape;19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7" name="Google Shape;217;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45 seconds. Every surface derives from one journaled record — the report PDF, Nathan's glance digest, the app landing view, and both broadcasts. Say it as the trust property: they cannot disagree, by construction. Mention the research memo of the day rides along, SEC-cited.</a:t>
            </a:r>
            <a:endParaRPr dirty="0"/>
          </a:p>
        </p:txBody>
      </p:sp>
      <p:sp>
        <p:nvSpPr>
          <p:cNvPr id="218" name="Google Shape;218;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0" name="Google Shape;230;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45 seconds. GitHub Actions runs the desk twice daily: scan, build, render, voice, publish, email, journal — laptop closed. Tonight's episode aired the corrected classifier and the holdings scene. Play 20 seconds of today's episode here if time allows.</a:t>
            </a:r>
            <a:endParaRPr dirty="0"/>
          </a:p>
        </p:txBody>
      </p:sp>
      <p:sp>
        <p:nvSpPr>
          <p:cNvPr id="231" name="Google Shape;231;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3" name="Google Shape;243;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60 seconds. The honest forward chart — every point journaled, finish line on presentation day. Say the caveat before they do: 17 sessions in one regime proves process, not alpha. Then the audit: we read our own reports skeptically, found phantom drops, fixed and published. Self-grading includes the plumbing.</a:t>
            </a:r>
            <a:endParaRPr dirty="0"/>
          </a:p>
        </p:txBody>
      </p:sp>
      <p:sp>
        <p:nvSpPr>
          <p:cNvPr id="244" name="Google Shape;244;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9" name="Google Shape;259;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55 seconds. Lead with the seventy cents — the number nobody expects, and it is journaled, not estimated. One Bloomberg seat costs 100x OROS's whole year. The scenario is labeled scenario; the margins are evidence because the cost line is real.</a:t>
            </a:r>
            <a:endParaRPr dirty="0"/>
          </a:p>
        </p:txBody>
      </p:sp>
      <p:sp>
        <p:nvSpPr>
          <p:cNvPr id="260" name="Google Shape;260;p1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7" name="Google Shape;277;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60 seconds. Say each limitation before they can — every one ships with its study design. Number 3 is the pride point: BND and HOOD were both re-classified this week because a human questioned the label and the framework's own logic settled it. That is how an autonomous system improves.</a:t>
            </a:r>
            <a:endParaRPr dirty="0"/>
          </a:p>
        </p:txBody>
      </p:sp>
      <p:sp>
        <p:nvSpPr>
          <p:cNvPr id="278" name="Google Shape;278;p1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7" name="Google Shape;297;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60 seconds. Walk the evidence: Robinhood is shipping 'Let your agent trade' through an MCP server — the exact rail a system like OROS would plug into for broker-verified execution; Coinbase built agent-native access; JPMorgan — the same bank from our course case — has agents beating the 60/40 in </a:t>
            </a:r>
            <a:r>
              <a:rPr lang="en-US" dirty="0" err="1"/>
              <a:t>backtests</a:t>
            </a:r>
            <a:r>
              <a:rPr lang="en-US" dirty="0"/>
              <a:t> as of July 2026; Vanguard runs </a:t>
            </a:r>
            <a:r>
              <a:rPr lang="en-US" dirty="0" err="1"/>
              <a:t>robo</a:t>
            </a:r>
            <a:r>
              <a:rPr lang="en-US" dirty="0"/>
              <a:t> at giant scale. The rails exist. OROS's roadmap rides them — bring-your-own portfolio first, then agent-API paper fills — and adds the thing none of these ship: a community that learns in public, open journals, a channel that grades itself. Trust compounds socially; that is section nine.</a:t>
            </a:r>
            <a:endParaRPr dirty="0"/>
          </a:p>
        </p:txBody>
      </p:sp>
      <p:sp>
        <p:nvSpPr>
          <p:cNvPr id="298" name="Google Shape;298;p2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7" name="Google Shape;317;p2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60 seconds, slow. Four conclusions, one line of evidence each: volatility — the flat book on SPY's worst days; democratization — institutional discipline at 1% of a terminal seat; efficiency — 45 autonomous builds and two daily shows with no hands; legacy — the advisor that converses and self-corrects within hours. Then your statement, slowly — it is the emotional center. End on the end-card quote, thank Professors Zhou, Ettl, and Tang, and invite the quant review: the journals are open.</a:t>
            </a:r>
            <a:endParaRPr dirty="0"/>
          </a:p>
        </p:txBody>
      </p:sp>
      <p:sp>
        <p:nvSpPr>
          <p:cNvPr id="318" name="Google Shape;318;p2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15"/>
        <p:cNvGrpSpPr/>
        <p:nvPr/>
      </p:nvGrpSpPr>
      <p:grpSpPr>
        <a:xfrm>
          <a:off x="0" y="0"/>
          <a:ext cx="0" cy="0"/>
          <a:chOff x="0" y="0"/>
          <a:chExt cx="0" cy="0"/>
        </a:xfrm>
      </p:grpSpPr>
      <p:sp>
        <p:nvSpPr>
          <p:cNvPr id="16" name="Google Shape;16;p3"/>
          <p:cNvSpPr/>
          <p:nvPr/>
        </p:nvSpPr>
        <p:spPr>
          <a:xfrm>
            <a:off x="457200" y="1554480"/>
            <a:ext cx="11274552" cy="914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6EDF3"/>
              </a:buClr>
              <a:buSzPts val="5400"/>
              <a:buFont typeface="Calibri"/>
              <a:buNone/>
            </a:pPr>
            <a:r>
              <a:rPr lang="en-US" sz="5400" b="1" i="0" u="none" strike="noStrike" cap="none">
                <a:solidFill>
                  <a:srgbClr val="E6EDF3"/>
                </a:solidFill>
                <a:latin typeface="Calibri"/>
                <a:ea typeface="Calibri"/>
                <a:cs typeface="Calibri"/>
                <a:sym typeface="Calibri"/>
              </a:rPr>
              <a:t>OROS</a:t>
            </a:r>
            <a:endParaRPr sz="5400" b="0" i="0" u="none" strike="noStrike" cap="none">
              <a:solidFill>
                <a:schemeClr val="dk1"/>
              </a:solidFill>
              <a:latin typeface="Calibri"/>
              <a:ea typeface="Calibri"/>
              <a:cs typeface="Calibri"/>
              <a:sym typeface="Calibri"/>
            </a:endParaRPr>
          </a:p>
        </p:txBody>
      </p:sp>
      <p:sp>
        <p:nvSpPr>
          <p:cNvPr id="17" name="Google Shape;17;p3"/>
          <p:cNvSpPr/>
          <p:nvPr/>
        </p:nvSpPr>
        <p:spPr>
          <a:xfrm>
            <a:off x="822960" y="2560320"/>
            <a:ext cx="105156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A020"/>
              </a:buClr>
              <a:buSzPts val="1800"/>
              <a:buFont typeface="Calibri"/>
              <a:buNone/>
            </a:pPr>
            <a:r>
              <a:rPr lang="en-US" sz="1800" b="0" i="0" u="none" strike="noStrike" cap="none" dirty="0">
                <a:solidFill>
                  <a:srgbClr val="E8A020"/>
                </a:solidFill>
                <a:latin typeface="Calibri"/>
                <a:ea typeface="Calibri"/>
                <a:cs typeface="Calibri"/>
                <a:sym typeface="Calibri"/>
              </a:rPr>
              <a:t>An Autonomous Agentic Market Analyst — a research prototype of </a:t>
            </a:r>
            <a:r>
              <a:rPr lang="en-US" sz="1800" b="0" i="0" u="none" strike="noStrike" cap="none" dirty="0" err="1">
                <a:solidFill>
                  <a:srgbClr val="E8A020"/>
                </a:solidFill>
                <a:latin typeface="Calibri"/>
                <a:ea typeface="Calibri"/>
                <a:cs typeface="Calibri"/>
                <a:sym typeface="Calibri"/>
              </a:rPr>
              <a:t>robo</a:t>
            </a:r>
            <a:r>
              <a:rPr lang="en-US" sz="1800" b="0" i="0" u="none" strike="noStrike" cap="none" dirty="0">
                <a:solidFill>
                  <a:srgbClr val="E8A020"/>
                </a:solidFill>
                <a:latin typeface="Calibri"/>
                <a:ea typeface="Calibri"/>
                <a:cs typeface="Calibri"/>
                <a:sym typeface="Calibri"/>
              </a:rPr>
              <a:t>-advisory’s and Agentic Trading </a:t>
            </a:r>
          </a:p>
          <a:p>
            <a:pPr marL="0" marR="0" lvl="0" indent="0" algn="ctr" rtl="0">
              <a:spcBef>
                <a:spcPts val="0"/>
              </a:spcBef>
              <a:spcAft>
                <a:spcPts val="0"/>
              </a:spcAft>
              <a:buClr>
                <a:srgbClr val="E8A020"/>
              </a:buClr>
              <a:buSzPts val="1800"/>
              <a:buFont typeface="Calibri"/>
              <a:buNone/>
            </a:pPr>
            <a:r>
              <a:rPr lang="en-US" sz="1800" b="0" i="0" u="none" strike="noStrike" cap="none" dirty="0">
                <a:solidFill>
                  <a:srgbClr val="E8A020"/>
                </a:solidFill>
                <a:latin typeface="Calibri"/>
                <a:ea typeface="Calibri"/>
                <a:cs typeface="Calibri"/>
                <a:sym typeface="Calibri"/>
              </a:rPr>
              <a:t>next generation of financia</a:t>
            </a:r>
            <a:r>
              <a:rPr lang="en-US" sz="1800" dirty="0">
                <a:solidFill>
                  <a:srgbClr val="E8A020"/>
                </a:solidFill>
                <a:latin typeface="Calibri"/>
                <a:ea typeface="Calibri"/>
                <a:cs typeface="Calibri"/>
                <a:sym typeface="Calibri"/>
              </a:rPr>
              <a:t>l tools</a:t>
            </a:r>
            <a:endParaRPr sz="1800" b="0" i="0" u="none" strike="noStrike" cap="none" dirty="0">
              <a:solidFill>
                <a:schemeClr val="dk1"/>
              </a:solidFill>
              <a:latin typeface="Calibri"/>
              <a:ea typeface="Calibri"/>
              <a:cs typeface="Calibri"/>
              <a:sym typeface="Calibri"/>
            </a:endParaRPr>
          </a:p>
        </p:txBody>
      </p:sp>
      <p:sp>
        <p:nvSpPr>
          <p:cNvPr id="18" name="Google Shape;18;p3"/>
          <p:cNvSpPr/>
          <p:nvPr/>
        </p:nvSpPr>
        <p:spPr>
          <a:xfrm>
            <a:off x="1554480" y="3200400"/>
            <a:ext cx="9052560" cy="7315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6EDF3"/>
              </a:buClr>
              <a:buSzPts val="1400"/>
              <a:buFont typeface="Calibri"/>
              <a:buNone/>
            </a:pPr>
            <a:r>
              <a:rPr lang="en-US" sz="1400" b="0" i="1" u="none" strike="noStrike" cap="none">
                <a:solidFill>
                  <a:srgbClr val="E6EDF3"/>
                </a:solidFill>
                <a:latin typeface="Calibri"/>
                <a:ea typeface="Calibri"/>
                <a:cs typeface="Calibri"/>
                <a:sym typeface="Calibri"/>
              </a:rPr>
              <a:t>It scans 500 stocks nightly, builds risk-sized simulated portfolios, explains every decision on YouTube twice a day, and grades its own record in public — the advisor that shows its work.</a:t>
            </a:r>
            <a:endParaRPr sz="1400" b="0" i="0" u="none" strike="noStrike" cap="none">
              <a:solidFill>
                <a:schemeClr val="dk1"/>
              </a:solidFill>
              <a:latin typeface="Calibri"/>
              <a:ea typeface="Calibri"/>
              <a:cs typeface="Calibri"/>
              <a:sym typeface="Calibri"/>
            </a:endParaRPr>
          </a:p>
        </p:txBody>
      </p:sp>
      <p:sp>
        <p:nvSpPr>
          <p:cNvPr id="19" name="Google Shape;19;p3"/>
          <p:cNvSpPr/>
          <p:nvPr/>
        </p:nvSpPr>
        <p:spPr>
          <a:xfrm>
            <a:off x="1280160" y="4206240"/>
            <a:ext cx="9601200" cy="10972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8B949E"/>
              </a:buClr>
              <a:buSzPts val="1200"/>
              <a:buFont typeface="Calibri"/>
              <a:buNone/>
            </a:pPr>
            <a:r>
              <a:rPr lang="en-US" sz="1200" b="0" i="0" u="none" strike="noStrike" cap="none">
                <a:solidFill>
                  <a:srgbClr val="8B949E"/>
                </a:solidFill>
                <a:latin typeface="Calibri"/>
                <a:ea typeface="Calibri"/>
                <a:cs typeface="Calibri"/>
                <a:sym typeface="Calibri"/>
              </a:rPr>
              <a:t>JP Romero · Fordham MSAIB · July 29, 2026</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8B949E"/>
              </a:buClr>
              <a:buSzPts val="1200"/>
              <a:buFont typeface="Calibri"/>
              <a:buNone/>
            </a:pPr>
            <a:r>
              <a:rPr lang="en-US" sz="1200" b="0" i="0" u="none" strike="noStrike" cap="none">
                <a:solidFill>
                  <a:srgbClr val="8B949E"/>
                </a:solidFill>
                <a:latin typeface="Calibri"/>
                <a:ea typeface="Calibri"/>
                <a:cs typeface="Calibri"/>
                <a:sym typeface="Calibri"/>
              </a:rPr>
              <a:t>Research under Prof. Yi Tang's Stock Prediction initiative — methods and results open to review by finance quant faculty and students</a:t>
            </a:r>
            <a:endParaRPr sz="12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8B949E"/>
              </a:buClr>
              <a:buSzPts val="1200"/>
              <a:buFont typeface="Calibri"/>
              <a:buNone/>
            </a:pPr>
            <a:r>
              <a:rPr lang="en-US" sz="1200" b="0" i="0" u="none" strike="noStrike" cap="none">
                <a:solidFill>
                  <a:srgbClr val="8B949E"/>
                </a:solidFill>
                <a:latin typeface="Calibri"/>
                <a:ea typeface="Calibri"/>
                <a:cs typeface="Calibri"/>
                <a:sym typeface="Calibri"/>
              </a:rPr>
              <a:t>Advisors: Dr. Yilu Zhou · Prof. Markus Ettl · Prof. Yi Tang</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24"/>
        <p:cNvGrpSpPr/>
        <p:nvPr/>
      </p:nvGrpSpPr>
      <p:grpSpPr>
        <a:xfrm>
          <a:off x="0" y="0"/>
          <a:ext cx="0" cy="0"/>
          <a:chOff x="0" y="0"/>
          <a:chExt cx="0" cy="0"/>
        </a:xfrm>
      </p:grpSpPr>
      <p:sp>
        <p:nvSpPr>
          <p:cNvPr id="25" name="Google Shape;25;p4"/>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26" name="Google Shape;26;p4"/>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SECTIONS 1–2 · THE CORE BUSINESS PROBLEM</a:t>
            </a:r>
            <a:endParaRPr sz="1150" b="0" i="0" u="none" strike="noStrike" cap="none">
              <a:solidFill>
                <a:schemeClr val="dk1"/>
              </a:solidFill>
              <a:latin typeface="Calibri"/>
              <a:ea typeface="Calibri"/>
              <a:cs typeface="Calibri"/>
              <a:sym typeface="Calibri"/>
            </a:endParaRPr>
          </a:p>
        </p:txBody>
      </p:sp>
      <p:sp>
        <p:nvSpPr>
          <p:cNvPr id="27" name="Google Shape;27;p4"/>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Human-Led Financial Decision-Making Is Expensive, Slow, and Emotional</a:t>
            </a:r>
            <a:endParaRPr sz="2700" b="0" i="0" u="none" strike="noStrike" cap="none">
              <a:solidFill>
                <a:schemeClr val="dk1"/>
              </a:solidFill>
              <a:latin typeface="Calibri"/>
              <a:ea typeface="Calibri"/>
              <a:cs typeface="Calibri"/>
              <a:sym typeface="Calibri"/>
            </a:endParaRPr>
          </a:p>
        </p:txBody>
      </p:sp>
      <p:sp>
        <p:nvSpPr>
          <p:cNvPr id="28" name="Google Shape;28;p4"/>
          <p:cNvSpPr/>
          <p:nvPr/>
        </p:nvSpPr>
        <p:spPr>
          <a:xfrm>
            <a:off x="1280160" y="1371600"/>
            <a:ext cx="4023360" cy="868680"/>
          </a:xfrm>
          <a:prstGeom prst="roundRect">
            <a:avLst>
              <a:gd name="adj" fmla="val 8421"/>
            </a:avLst>
          </a:prstGeom>
          <a:solidFill>
            <a:srgbClr val="161B22"/>
          </a:solidFill>
          <a:ln w="19050" cap="flat" cmpd="sng">
            <a:solidFill>
              <a:srgbClr val="58A6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4"/>
          <p:cNvSpPr/>
          <p:nvPr/>
        </p:nvSpPr>
        <p:spPr>
          <a:xfrm>
            <a:off x="1417320" y="1444752"/>
            <a:ext cx="37490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1100"/>
              <a:buFont typeface="Calibri"/>
              <a:buNone/>
            </a:pPr>
            <a:r>
              <a:rPr lang="en-US" sz="1100" b="1" i="0" u="none" strike="noStrike" cap="none">
                <a:solidFill>
                  <a:srgbClr val="58A6FF"/>
                </a:solidFill>
                <a:latin typeface="Calibri"/>
                <a:ea typeface="Calibri"/>
                <a:cs typeface="Calibri"/>
                <a:sym typeface="Calibri"/>
              </a:rPr>
              <a:t>TRADITIONAL WEALTH MANAGEMENT</a:t>
            </a:r>
            <a:endParaRPr sz="1100" b="0" i="0" u="none" strike="noStrike" cap="none">
              <a:solidFill>
                <a:schemeClr val="dk1"/>
              </a:solidFill>
              <a:latin typeface="Calibri"/>
              <a:ea typeface="Calibri"/>
              <a:cs typeface="Calibri"/>
              <a:sym typeface="Calibri"/>
            </a:endParaRPr>
          </a:p>
        </p:txBody>
      </p:sp>
      <p:sp>
        <p:nvSpPr>
          <p:cNvPr id="30" name="Google Shape;30;p4"/>
          <p:cNvSpPr/>
          <p:nvPr/>
        </p:nvSpPr>
        <p:spPr>
          <a:xfrm>
            <a:off x="1417320" y="1737360"/>
            <a:ext cx="374904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150"/>
              <a:buFont typeface="Calibri"/>
              <a:buNone/>
            </a:pPr>
            <a:r>
              <a:rPr lang="en-US" sz="1150" b="0" i="0" u="none" strike="noStrike" cap="none">
                <a:solidFill>
                  <a:srgbClr val="E6EDF3"/>
                </a:solidFill>
                <a:latin typeface="Calibri"/>
                <a:ea typeface="Calibri"/>
                <a:cs typeface="Calibri"/>
                <a:sym typeface="Calibri"/>
              </a:rPr>
              <a:t>high fees · human bias · slow execution</a:t>
            </a:r>
            <a:endParaRPr sz="1150" b="0" i="0" u="none" strike="noStrike" cap="none">
              <a:solidFill>
                <a:schemeClr val="dk1"/>
              </a:solidFill>
              <a:latin typeface="Calibri"/>
              <a:ea typeface="Calibri"/>
              <a:cs typeface="Calibri"/>
              <a:sym typeface="Calibri"/>
            </a:endParaRPr>
          </a:p>
        </p:txBody>
      </p:sp>
      <p:sp>
        <p:nvSpPr>
          <p:cNvPr id="31" name="Google Shape;31;p4"/>
          <p:cNvSpPr/>
          <p:nvPr/>
        </p:nvSpPr>
        <p:spPr>
          <a:xfrm>
            <a:off x="5349240" y="1572768"/>
            <a:ext cx="173736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A020"/>
              </a:buClr>
              <a:buSzPts val="1250"/>
              <a:buFont typeface="Calibri"/>
              <a:buNone/>
            </a:pPr>
            <a:r>
              <a:rPr lang="en-US" sz="1250" b="1" i="0" u="none" strike="noStrike" cap="none">
                <a:solidFill>
                  <a:srgbClr val="E8A020"/>
                </a:solidFill>
                <a:latin typeface="Calibri"/>
                <a:ea typeface="Calibri"/>
                <a:cs typeface="Calibri"/>
                <a:sym typeface="Calibri"/>
              </a:rPr>
              <a:t>→  solved by  →</a:t>
            </a:r>
            <a:endParaRPr sz="1250" b="0" i="0" u="none" strike="noStrike" cap="none">
              <a:solidFill>
                <a:schemeClr val="dk1"/>
              </a:solidFill>
              <a:latin typeface="Calibri"/>
              <a:ea typeface="Calibri"/>
              <a:cs typeface="Calibri"/>
              <a:sym typeface="Calibri"/>
            </a:endParaRPr>
          </a:p>
        </p:txBody>
      </p:sp>
      <p:sp>
        <p:nvSpPr>
          <p:cNvPr id="32" name="Google Shape;32;p4"/>
          <p:cNvSpPr/>
          <p:nvPr/>
        </p:nvSpPr>
        <p:spPr>
          <a:xfrm>
            <a:off x="7132320" y="1371600"/>
            <a:ext cx="4023360" cy="868680"/>
          </a:xfrm>
          <a:prstGeom prst="roundRect">
            <a:avLst>
              <a:gd name="adj" fmla="val 8421"/>
            </a:avLst>
          </a:prstGeom>
          <a:solidFill>
            <a:srgbClr val="161B22"/>
          </a:solidFill>
          <a:ln w="19050" cap="flat" cmpd="sng">
            <a:solidFill>
              <a:srgbClr val="E8A0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4"/>
          <p:cNvSpPr/>
          <p:nvPr/>
        </p:nvSpPr>
        <p:spPr>
          <a:xfrm>
            <a:off x="7269480" y="1444752"/>
            <a:ext cx="37490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00"/>
              <a:buFont typeface="Calibri"/>
              <a:buNone/>
            </a:pPr>
            <a:r>
              <a:rPr lang="en-US" sz="1100" b="1" i="0" u="none" strike="noStrike" cap="none">
                <a:solidFill>
                  <a:srgbClr val="E8A020"/>
                </a:solidFill>
                <a:latin typeface="Calibri"/>
                <a:ea typeface="Calibri"/>
                <a:cs typeface="Calibri"/>
                <a:sym typeface="Calibri"/>
              </a:rPr>
              <a:t>ROBO-ADVISORS &amp; AGENTIC AI</a:t>
            </a:r>
            <a:endParaRPr sz="1100" b="0" i="0" u="none" strike="noStrike" cap="none">
              <a:solidFill>
                <a:schemeClr val="dk1"/>
              </a:solidFill>
              <a:latin typeface="Calibri"/>
              <a:ea typeface="Calibri"/>
              <a:cs typeface="Calibri"/>
              <a:sym typeface="Calibri"/>
            </a:endParaRPr>
          </a:p>
        </p:txBody>
      </p:sp>
      <p:sp>
        <p:nvSpPr>
          <p:cNvPr id="34" name="Google Shape;34;p4"/>
          <p:cNvSpPr/>
          <p:nvPr/>
        </p:nvSpPr>
        <p:spPr>
          <a:xfrm>
            <a:off x="7269480" y="1737360"/>
            <a:ext cx="374904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150"/>
              <a:buFont typeface="Calibri"/>
              <a:buNone/>
            </a:pPr>
            <a:r>
              <a:rPr lang="en-US" sz="1150" b="0" i="0" u="none" strike="noStrike" cap="none">
                <a:solidFill>
                  <a:srgbClr val="E6EDF3"/>
                </a:solidFill>
                <a:latin typeface="Calibri"/>
                <a:ea typeface="Calibri"/>
                <a:cs typeface="Calibri"/>
                <a:sym typeface="Calibri"/>
              </a:rPr>
              <a:t>low cost · algorithmic logic · real-time autonomy</a:t>
            </a:r>
            <a:endParaRPr sz="1150" b="0" i="0" u="none" strike="noStrike" cap="none">
              <a:solidFill>
                <a:schemeClr val="dk1"/>
              </a:solidFill>
              <a:latin typeface="Calibri"/>
              <a:ea typeface="Calibri"/>
              <a:cs typeface="Calibri"/>
              <a:sym typeface="Calibri"/>
            </a:endParaRPr>
          </a:p>
        </p:txBody>
      </p:sp>
      <p:sp>
        <p:nvSpPr>
          <p:cNvPr id="35" name="Google Shape;35;p4"/>
          <p:cNvSpPr/>
          <p:nvPr/>
        </p:nvSpPr>
        <p:spPr>
          <a:xfrm>
            <a:off x="1280160" y="2606040"/>
            <a:ext cx="9875520" cy="1737360"/>
          </a:xfrm>
          <a:prstGeom prst="rect">
            <a:avLst/>
          </a:prstGeom>
          <a:noFill/>
          <a:ln>
            <a:noFill/>
          </a:ln>
        </p:spPr>
        <p:txBody>
          <a:bodyPr spcFirstLastPara="1" wrap="square" lIns="0" tIns="0" rIns="0" bIns="0" anchor="ctr" anchorCtr="0">
            <a:noAutofit/>
          </a:bodyPr>
          <a:lstStyle/>
          <a:p>
            <a:pPr marL="0" marR="0" lvl="0" indent="0" algn="l" rtl="0">
              <a:lnSpc>
                <a:spcPct val="125000"/>
              </a:lnSpc>
              <a:spcBef>
                <a:spcPts val="0"/>
              </a:spcBef>
              <a:spcAft>
                <a:spcPts val="0"/>
              </a:spcAft>
              <a:buClr>
                <a:srgbClr val="E6EDF3"/>
              </a:buClr>
              <a:buSzPts val="1350"/>
              <a:buFont typeface="Calibri"/>
              <a:buNone/>
            </a:pPr>
            <a:r>
              <a:rPr lang="en-US" sz="1350" b="0" i="0" u="none" strike="noStrike" cap="none">
                <a:solidFill>
                  <a:srgbClr val="E6EDF3"/>
                </a:solidFill>
                <a:latin typeface="Calibri"/>
                <a:ea typeface="Calibri"/>
                <a:cs typeface="Calibri"/>
                <a:sym typeface="Calibri"/>
              </a:rPr>
              <a:t>The fundamental problem that robo-advisors and agentic trading exist to solve is the inefficiency, cost, and emotional bias of human-led financial decision-making. Traditional wealth management needs $100,000-plus minimums to justify an advisor's time, and passes a 1–2% annual fee down to the client. Human investors panic-sell crashes, overbuy hype, and can process only a fraction of the market's data before fatigue sets in — while markets themselves move in milliseconds, far faster than human analysis and manual order routing. And hand-tailoring rebalancing, risk profiles, and tax optimization for thousands of individual accounts is humanly impossible: the mass-customization paradox.</a:t>
            </a:r>
            <a:endParaRPr sz="1350" b="0" i="0" u="none" strike="noStrike" cap="none">
              <a:solidFill>
                <a:schemeClr val="dk1"/>
              </a:solidFill>
              <a:latin typeface="Calibri"/>
              <a:ea typeface="Calibri"/>
              <a:cs typeface="Calibri"/>
              <a:sym typeface="Calibri"/>
            </a:endParaRPr>
          </a:p>
        </p:txBody>
      </p:sp>
      <p:sp>
        <p:nvSpPr>
          <p:cNvPr id="36" name="Google Shape;36;p4"/>
          <p:cNvSpPr/>
          <p:nvPr/>
        </p:nvSpPr>
        <p:spPr>
          <a:xfrm>
            <a:off x="1280160" y="4434840"/>
            <a:ext cx="9875520" cy="914400"/>
          </a:xfrm>
          <a:prstGeom prst="rect">
            <a:avLst/>
          </a:prstGeom>
          <a:noFill/>
          <a:ln>
            <a:noFill/>
          </a:ln>
        </p:spPr>
        <p:txBody>
          <a:bodyPr spcFirstLastPara="1" wrap="square" lIns="0" tIns="0" rIns="0" bIns="0" anchor="ctr" anchorCtr="0">
            <a:noAutofit/>
          </a:bodyPr>
          <a:lstStyle/>
          <a:p>
            <a:pPr marL="0" marR="0" lvl="0" indent="0" algn="l" rtl="0">
              <a:lnSpc>
                <a:spcPct val="125000"/>
              </a:lnSpc>
              <a:spcBef>
                <a:spcPts val="0"/>
              </a:spcBef>
              <a:spcAft>
                <a:spcPts val="0"/>
              </a:spcAft>
              <a:buClr>
                <a:srgbClr val="E6EDF3"/>
              </a:buClr>
              <a:buSzPts val="1350"/>
              <a:buFont typeface="Calibri"/>
              <a:buNone/>
            </a:pPr>
            <a:r>
              <a:rPr lang="en-US" sz="1350" b="0" i="0" u="none" strike="noStrike" cap="none">
                <a:solidFill>
                  <a:srgbClr val="E6EDF3"/>
                </a:solidFill>
                <a:latin typeface="Calibri"/>
                <a:ea typeface="Calibri"/>
                <a:cs typeface="Calibri"/>
                <a:sym typeface="Calibri"/>
              </a:rPr>
              <a:t>Automation answers each of these at once: portfolios served profitably at $0–$500 minimums, management fees near 0.25%, logic-based strategies running 24/7 without emotion or cognitive limits, and personalization delivered at machine scale through daily automated account reviews.</a:t>
            </a:r>
            <a:endParaRPr sz="1350" b="0" i="0" u="none" strike="noStrike" cap="none">
              <a:solidFill>
                <a:schemeClr val="dk1"/>
              </a:solidFill>
              <a:latin typeface="Calibri"/>
              <a:ea typeface="Calibri"/>
              <a:cs typeface="Calibri"/>
              <a:sym typeface="Calibri"/>
            </a:endParaRPr>
          </a:p>
        </p:txBody>
      </p:sp>
      <p:sp>
        <p:nvSpPr>
          <p:cNvPr id="37" name="Google Shape;37;p4"/>
          <p:cNvSpPr/>
          <p:nvPr/>
        </p:nvSpPr>
        <p:spPr>
          <a:xfrm>
            <a:off x="1280160" y="5532120"/>
            <a:ext cx="98755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250"/>
              <a:buFont typeface="Calibri"/>
              <a:buNone/>
            </a:pPr>
            <a:r>
              <a:rPr lang="en-US" sz="1250" b="1" i="1" u="none" strike="noStrike" cap="none">
                <a:solidFill>
                  <a:srgbClr val="E8A020"/>
                </a:solidFill>
                <a:latin typeface="Calibri"/>
                <a:ea typeface="Calibri"/>
                <a:cs typeface="Calibri"/>
                <a:sym typeface="Calibri"/>
              </a:rPr>
              <a:t>The opportunity: $1T+ already managed · $18.5B→$67.8B by 2031 (29.6% CAGR). Cost is solved; conversation is not. That is OROS's gap.</a:t>
            </a:r>
            <a:endParaRPr sz="1250" b="0" i="0" u="none" strike="noStrike" cap="none">
              <a:solidFill>
                <a:schemeClr val="dk1"/>
              </a:solidFill>
              <a:latin typeface="Calibri"/>
              <a:ea typeface="Calibri"/>
              <a:cs typeface="Calibri"/>
              <a:sym typeface="Calibri"/>
            </a:endParaRPr>
          </a:p>
        </p:txBody>
      </p:sp>
      <p:sp>
        <p:nvSpPr>
          <p:cNvPr id="38" name="Google Shape;38;p4"/>
          <p:cNvSpPr/>
          <p:nvPr/>
        </p:nvSpPr>
        <p:spPr>
          <a:xfrm>
            <a:off x="502920" y="6199632"/>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7681"/>
              </a:buClr>
              <a:buSzPts val="800"/>
              <a:buFont typeface="Calibri"/>
              <a:buNone/>
            </a:pPr>
            <a:r>
              <a:rPr lang="en-US" sz="800" b="0" i="1" u="none" strike="noStrike" cap="none">
                <a:solidFill>
                  <a:srgbClr val="6E7681"/>
                </a:solidFill>
                <a:latin typeface="Calibri"/>
                <a:ea typeface="Calibri"/>
                <a:cs typeface="Calibri"/>
                <a:sym typeface="Calibri"/>
              </a:rPr>
              <a:t>Sources: cepr.org (Skiera robo-advisers) · researchgate.net robo-advisor design · condorcapital.com Robo Report · truthifi.com · tradealgo.com · investor.gov · investopedia.com · mordorintelligence.com</a:t>
            </a:r>
            <a:endParaRPr sz="8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43"/>
        <p:cNvGrpSpPr/>
        <p:nvPr/>
      </p:nvGrpSpPr>
      <p:grpSpPr>
        <a:xfrm>
          <a:off x="0" y="0"/>
          <a:ext cx="0" cy="0"/>
          <a:chOff x="0" y="0"/>
          <a:chExt cx="0" cy="0"/>
        </a:xfrm>
      </p:grpSpPr>
      <p:sp>
        <p:nvSpPr>
          <p:cNvPr id="44" name="Google Shape;44;p5"/>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45" name="Google Shape;45;p5"/>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SECTIONS 1–2 · THE HUMAN COST</a:t>
            </a:r>
            <a:endParaRPr sz="1150" b="0" i="0" u="none" strike="noStrike" cap="none">
              <a:solidFill>
                <a:schemeClr val="dk1"/>
              </a:solidFill>
              <a:latin typeface="Calibri"/>
              <a:ea typeface="Calibri"/>
              <a:cs typeface="Calibri"/>
              <a:sym typeface="Calibri"/>
            </a:endParaRPr>
          </a:p>
        </p:txBody>
      </p:sp>
      <p:sp>
        <p:nvSpPr>
          <p:cNvPr id="46" name="Google Shape;46;p5"/>
          <p:cNvSpPr/>
          <p:nvPr/>
        </p:nvSpPr>
        <p:spPr>
          <a:xfrm>
            <a:off x="475491" y="530350"/>
            <a:ext cx="32367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a:solidFill>
                  <a:srgbClr val="E6EDF3"/>
                </a:solidFill>
                <a:latin typeface="Calibri"/>
                <a:ea typeface="Calibri"/>
                <a:cs typeface="Calibri"/>
                <a:sym typeface="Calibri"/>
              </a:rPr>
              <a:t>The</a:t>
            </a:r>
            <a:r>
              <a:rPr lang="en-US" sz="2700" b="1" i="0" u="none" strike="noStrike" cap="none">
                <a:solidFill>
                  <a:srgbClr val="E6EDF3"/>
                </a:solidFill>
                <a:latin typeface="Calibri"/>
                <a:ea typeface="Calibri"/>
                <a:cs typeface="Calibri"/>
                <a:sym typeface="Calibri"/>
              </a:rPr>
              <a:t> Problem Is Real</a:t>
            </a:r>
            <a:endParaRPr sz="2700" b="0" i="0" u="none" strike="noStrike" cap="none">
              <a:solidFill>
                <a:schemeClr val="dk1"/>
              </a:solidFill>
              <a:latin typeface="Calibri"/>
              <a:ea typeface="Calibri"/>
              <a:cs typeface="Calibri"/>
              <a:sym typeface="Calibri"/>
            </a:endParaRPr>
          </a:p>
        </p:txBody>
      </p:sp>
      <p:pic>
        <p:nvPicPr>
          <p:cNvPr id="47" name="Google Shape;47;p5" descr="burnout.png"/>
          <p:cNvPicPr preferRelativeResize="0"/>
          <p:nvPr/>
        </p:nvPicPr>
        <p:blipFill rotWithShape="1">
          <a:blip r:embed="rId3">
            <a:alphaModFix/>
          </a:blip>
          <a:srcRect/>
          <a:stretch/>
        </p:blipFill>
        <p:spPr>
          <a:xfrm>
            <a:off x="548640" y="1325880"/>
            <a:ext cx="3931920" cy="2944368"/>
          </a:xfrm>
          <a:prstGeom prst="rect">
            <a:avLst/>
          </a:prstGeom>
          <a:noFill/>
          <a:ln>
            <a:noFill/>
          </a:ln>
        </p:spPr>
      </p:pic>
      <p:sp>
        <p:nvSpPr>
          <p:cNvPr id="48" name="Google Shape;48;p5"/>
          <p:cNvSpPr/>
          <p:nvPr/>
        </p:nvSpPr>
        <p:spPr>
          <a:xfrm>
            <a:off x="8686800" y="3291840"/>
            <a:ext cx="3017520" cy="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1117"/>
              </a:buClr>
              <a:buSzPts val="100"/>
              <a:buFont typeface="Calibri"/>
              <a:buNone/>
            </a:pPr>
            <a:r>
              <a:rPr lang="en-US" sz="100" b="0" i="0" u="none" strike="noStrike" cap="none">
                <a:solidFill>
                  <a:srgbClr val="0D1117"/>
                </a:solidFill>
                <a:latin typeface="Calibri"/>
                <a:ea typeface="Calibri"/>
                <a:cs typeface="Calibri"/>
                <a:sym typeface="Calibri"/>
              </a:rPr>
              <a:t>Algorithmic trading already accounts for 60–73% of ALL U.S. equity volume (TradeAlgo) — and the industry is racing to build more (Biz4Group, 2026).</a:t>
            </a:r>
            <a:endParaRPr sz="100" b="0" i="0" u="none" strike="noStrike" cap="none">
              <a:solidFill>
                <a:schemeClr val="dk1"/>
              </a:solidFill>
              <a:latin typeface="Calibri"/>
              <a:ea typeface="Calibri"/>
              <a:cs typeface="Calibri"/>
              <a:sym typeface="Calibri"/>
            </a:endParaRPr>
          </a:p>
        </p:txBody>
      </p:sp>
      <p:sp>
        <p:nvSpPr>
          <p:cNvPr id="49" name="Google Shape;49;p5"/>
          <p:cNvSpPr/>
          <p:nvPr/>
        </p:nvSpPr>
        <p:spPr>
          <a:xfrm>
            <a:off x="548640" y="5623560"/>
            <a:ext cx="1106424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100"/>
              <a:buFont typeface="Calibri"/>
              <a:buNone/>
            </a:pPr>
            <a:endParaRPr sz="1100" b="0" i="0" u="none" strike="noStrike" cap="none">
              <a:solidFill>
                <a:schemeClr val="dk1"/>
              </a:solidFill>
              <a:latin typeface="Calibri"/>
              <a:ea typeface="Calibri"/>
              <a:cs typeface="Calibri"/>
              <a:sym typeface="Calibri"/>
            </a:endParaRPr>
          </a:p>
        </p:txBody>
      </p:sp>
      <p:sp>
        <p:nvSpPr>
          <p:cNvPr id="50" name="Google Shape;50;p5"/>
          <p:cNvSpPr/>
          <p:nvPr/>
        </p:nvSpPr>
        <p:spPr>
          <a:xfrm>
            <a:off x="502920" y="6199632"/>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7681"/>
              </a:buClr>
              <a:buSzPts val="800"/>
              <a:buFont typeface="Calibri"/>
              <a:buNone/>
            </a:pPr>
            <a:r>
              <a:rPr lang="en-US" sz="800" b="0" i="1" u="none" strike="noStrike" cap="none">
                <a:solidFill>
                  <a:srgbClr val="6E7681"/>
                </a:solidFill>
                <a:latin typeface="Calibri"/>
                <a:ea typeface="Calibri"/>
                <a:cs typeface="Calibri"/>
                <a:sym typeface="Calibri"/>
              </a:rPr>
              <a:t>Sources: tradealgo.com · biz4group.com · illustrations: OROS (original)</a:t>
            </a:r>
            <a:endParaRPr sz="800" b="0" i="0" u="none" strike="noStrike" cap="none">
              <a:solidFill>
                <a:schemeClr val="dk1"/>
              </a:solidFill>
              <a:latin typeface="Calibri"/>
              <a:ea typeface="Calibri"/>
              <a:cs typeface="Calibri"/>
              <a:sym typeface="Calibri"/>
            </a:endParaRPr>
          </a:p>
        </p:txBody>
      </p:sp>
      <p:pic>
        <p:nvPicPr>
          <p:cNvPr id="51" name="Google Shape;51;p5"/>
          <p:cNvPicPr preferRelativeResize="0"/>
          <p:nvPr/>
        </p:nvPicPr>
        <p:blipFill>
          <a:blip r:embed="rId4">
            <a:alphaModFix/>
          </a:blip>
          <a:stretch>
            <a:fillRect/>
          </a:stretch>
        </p:blipFill>
        <p:spPr>
          <a:xfrm>
            <a:off x="228848" y="4047388"/>
            <a:ext cx="5904175" cy="2579575"/>
          </a:xfrm>
          <a:prstGeom prst="rect">
            <a:avLst/>
          </a:prstGeom>
          <a:noFill/>
          <a:ln>
            <a:noFill/>
          </a:ln>
        </p:spPr>
      </p:pic>
      <p:pic>
        <p:nvPicPr>
          <p:cNvPr id="52" name="Google Shape;52;p5"/>
          <p:cNvPicPr preferRelativeResize="0"/>
          <p:nvPr/>
        </p:nvPicPr>
        <p:blipFill>
          <a:blip r:embed="rId5">
            <a:alphaModFix/>
          </a:blip>
          <a:stretch>
            <a:fillRect/>
          </a:stretch>
        </p:blipFill>
        <p:spPr>
          <a:xfrm>
            <a:off x="4760225" y="140625"/>
            <a:ext cx="6796100" cy="2711850"/>
          </a:xfrm>
          <a:prstGeom prst="rect">
            <a:avLst/>
          </a:prstGeom>
          <a:noFill/>
          <a:ln>
            <a:noFill/>
          </a:ln>
        </p:spPr>
      </p:pic>
      <p:pic>
        <p:nvPicPr>
          <p:cNvPr id="53" name="Google Shape;53;p5"/>
          <p:cNvPicPr preferRelativeResize="0"/>
          <p:nvPr/>
        </p:nvPicPr>
        <p:blipFill>
          <a:blip r:embed="rId6">
            <a:alphaModFix/>
          </a:blip>
          <a:stretch>
            <a:fillRect/>
          </a:stretch>
        </p:blipFill>
        <p:spPr>
          <a:xfrm>
            <a:off x="6361375" y="3216450"/>
            <a:ext cx="5830624" cy="35151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58"/>
        <p:cNvGrpSpPr/>
        <p:nvPr/>
      </p:nvGrpSpPr>
      <p:grpSpPr>
        <a:xfrm>
          <a:off x="0" y="0"/>
          <a:ext cx="0" cy="0"/>
          <a:chOff x="0" y="0"/>
          <a:chExt cx="0" cy="0"/>
        </a:xfrm>
      </p:grpSpPr>
      <p:sp>
        <p:nvSpPr>
          <p:cNvPr id="59" name="Google Shape;59;p6"/>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60" name="Google Shape;60;p6"/>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3 · CORE STAKEHOLDERS</a:t>
            </a:r>
            <a:endParaRPr sz="1150" b="0" i="0" u="none" strike="noStrike" cap="none">
              <a:solidFill>
                <a:schemeClr val="dk1"/>
              </a:solidFill>
              <a:latin typeface="Calibri"/>
              <a:ea typeface="Calibri"/>
              <a:cs typeface="Calibri"/>
              <a:sym typeface="Calibri"/>
            </a:endParaRPr>
          </a:p>
        </p:txBody>
      </p:sp>
      <p:sp>
        <p:nvSpPr>
          <p:cNvPr id="61" name="Google Shape;61;p6"/>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Builders, Users, and Regulators — the Whole Ecosystem Has Skin in This</a:t>
            </a:r>
            <a:endParaRPr sz="2700" b="0" i="0" u="none" strike="noStrike" cap="none">
              <a:solidFill>
                <a:schemeClr val="dk1"/>
              </a:solidFill>
              <a:latin typeface="Calibri"/>
              <a:ea typeface="Calibri"/>
              <a:cs typeface="Calibri"/>
              <a:sym typeface="Calibri"/>
            </a:endParaRPr>
          </a:p>
        </p:txBody>
      </p:sp>
      <p:sp>
        <p:nvSpPr>
          <p:cNvPr id="62" name="Google Shape;62;p6"/>
          <p:cNvSpPr/>
          <p:nvPr/>
        </p:nvSpPr>
        <p:spPr>
          <a:xfrm>
            <a:off x="4069080" y="1298448"/>
            <a:ext cx="4023360" cy="731520"/>
          </a:xfrm>
          <a:prstGeom prst="roundRect">
            <a:avLst>
              <a:gd name="adj" fmla="val 10000"/>
            </a:avLst>
          </a:prstGeom>
          <a:solidFill>
            <a:srgbClr val="161B22"/>
          </a:solidFill>
          <a:ln w="19050" cap="flat" cmpd="sng">
            <a:solidFill>
              <a:srgbClr val="E8A0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6"/>
          <p:cNvSpPr/>
          <p:nvPr/>
        </p:nvSpPr>
        <p:spPr>
          <a:xfrm>
            <a:off x="4206240" y="1371600"/>
            <a:ext cx="37490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00"/>
              <a:buFont typeface="Calibri"/>
              <a:buNone/>
            </a:pPr>
            <a:r>
              <a:rPr lang="en-US" sz="1100" b="1" i="0" u="none" strike="noStrike" cap="none">
                <a:solidFill>
                  <a:srgbClr val="E8A020"/>
                </a:solidFill>
                <a:latin typeface="Calibri"/>
                <a:ea typeface="Calibri"/>
                <a:cs typeface="Calibri"/>
                <a:sym typeface="Calibri"/>
              </a:rPr>
              <a:t>REGULATORS — SEC · FINRA · Compliance</a:t>
            </a:r>
            <a:endParaRPr sz="1100" b="0" i="0" u="none" strike="noStrike" cap="none">
              <a:solidFill>
                <a:schemeClr val="dk1"/>
              </a:solidFill>
              <a:latin typeface="Calibri"/>
              <a:ea typeface="Calibri"/>
              <a:cs typeface="Calibri"/>
              <a:sym typeface="Calibri"/>
            </a:endParaRPr>
          </a:p>
        </p:txBody>
      </p:sp>
      <p:sp>
        <p:nvSpPr>
          <p:cNvPr id="64" name="Google Shape;64;p6"/>
          <p:cNvSpPr/>
          <p:nvPr/>
        </p:nvSpPr>
        <p:spPr>
          <a:xfrm>
            <a:off x="4206240" y="1645920"/>
            <a:ext cx="374904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000"/>
              <a:buFont typeface="Calibri"/>
              <a:buNone/>
            </a:pPr>
            <a:r>
              <a:rPr lang="en-US" sz="1000" b="0" i="0" u="none" strike="noStrike" cap="none">
                <a:solidFill>
                  <a:srgbClr val="E6EDF3"/>
                </a:solidFill>
                <a:latin typeface="Calibri"/>
                <a:ea typeface="Calibri"/>
                <a:cs typeface="Calibri"/>
                <a:sym typeface="Calibri"/>
              </a:rPr>
              <a:t>market integrity · algorithmic fairness · AI transparency</a:t>
            </a:r>
            <a:endParaRPr sz="1000" b="0" i="0" u="none" strike="noStrike" cap="none">
              <a:solidFill>
                <a:schemeClr val="dk1"/>
              </a:solidFill>
              <a:latin typeface="Calibri"/>
              <a:ea typeface="Calibri"/>
              <a:cs typeface="Calibri"/>
              <a:sym typeface="Calibri"/>
            </a:endParaRPr>
          </a:p>
        </p:txBody>
      </p:sp>
      <p:sp>
        <p:nvSpPr>
          <p:cNvPr id="65" name="Google Shape;65;p6"/>
          <p:cNvSpPr/>
          <p:nvPr/>
        </p:nvSpPr>
        <p:spPr>
          <a:xfrm>
            <a:off x="5870448" y="2048256"/>
            <a:ext cx="457200" cy="3200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A020"/>
              </a:buClr>
              <a:buSzPts val="1600"/>
              <a:buFont typeface="Calibri"/>
              <a:buNone/>
            </a:pPr>
            <a:r>
              <a:rPr lang="en-US" sz="1600" b="1" i="0" u="none" strike="noStrike" cap="none">
                <a:solidFill>
                  <a:srgbClr val="E8A020"/>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66" name="Google Shape;66;p6"/>
          <p:cNvSpPr/>
          <p:nvPr/>
        </p:nvSpPr>
        <p:spPr>
          <a:xfrm>
            <a:off x="640080" y="2395728"/>
            <a:ext cx="3337560" cy="777240"/>
          </a:xfrm>
          <a:prstGeom prst="roundRect">
            <a:avLst>
              <a:gd name="adj" fmla="val 9412"/>
            </a:avLst>
          </a:prstGeom>
          <a:solidFill>
            <a:srgbClr val="161B22"/>
          </a:solidFill>
          <a:ln w="19050" cap="flat" cmpd="sng">
            <a:solidFill>
              <a:srgbClr val="58A6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6"/>
          <p:cNvSpPr/>
          <p:nvPr/>
        </p:nvSpPr>
        <p:spPr>
          <a:xfrm>
            <a:off x="768096" y="2459736"/>
            <a:ext cx="31089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950"/>
              <a:buFont typeface="Calibri"/>
              <a:buNone/>
            </a:pPr>
            <a:r>
              <a:rPr lang="en-US" sz="950" b="1" i="0" u="none" strike="noStrike" cap="none">
                <a:solidFill>
                  <a:srgbClr val="58A6FF"/>
                </a:solidFill>
                <a:latin typeface="Calibri"/>
                <a:ea typeface="Calibri"/>
                <a:cs typeface="Calibri"/>
                <a:sym typeface="Calibri"/>
              </a:rPr>
              <a:t>RETAIL &amp; INSTITUTIONAL INVESTORS</a:t>
            </a:r>
            <a:endParaRPr sz="950" b="0" i="0" u="none" strike="noStrike" cap="none">
              <a:solidFill>
                <a:schemeClr val="dk1"/>
              </a:solidFill>
              <a:latin typeface="Calibri"/>
              <a:ea typeface="Calibri"/>
              <a:cs typeface="Calibri"/>
              <a:sym typeface="Calibri"/>
            </a:endParaRPr>
          </a:p>
        </p:txBody>
      </p:sp>
      <p:sp>
        <p:nvSpPr>
          <p:cNvPr id="68" name="Google Shape;68;p6"/>
          <p:cNvSpPr/>
          <p:nvPr/>
        </p:nvSpPr>
        <p:spPr>
          <a:xfrm>
            <a:off x="768096" y="2734056"/>
            <a:ext cx="310896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950"/>
              <a:buFont typeface="Calibri"/>
              <a:buNone/>
            </a:pPr>
            <a:r>
              <a:rPr lang="en-US" sz="950" b="0" i="0" u="none" strike="noStrike" cap="none">
                <a:solidFill>
                  <a:srgbClr val="E6EDF3"/>
                </a:solidFill>
                <a:latin typeface="Calibri"/>
                <a:ea typeface="Calibri"/>
                <a:cs typeface="Calibri"/>
                <a:sym typeface="Calibri"/>
              </a:rPr>
              <a:t>the capital — low fees, inclusion, alpha</a:t>
            </a:r>
            <a:endParaRPr sz="950" b="0" i="0" u="none" strike="noStrike" cap="none">
              <a:solidFill>
                <a:schemeClr val="dk1"/>
              </a:solidFill>
              <a:latin typeface="Calibri"/>
              <a:ea typeface="Calibri"/>
              <a:cs typeface="Calibri"/>
              <a:sym typeface="Calibri"/>
            </a:endParaRPr>
          </a:p>
        </p:txBody>
      </p:sp>
      <p:sp>
        <p:nvSpPr>
          <p:cNvPr id="69" name="Google Shape;69;p6"/>
          <p:cNvSpPr/>
          <p:nvPr/>
        </p:nvSpPr>
        <p:spPr>
          <a:xfrm>
            <a:off x="4434840" y="2395728"/>
            <a:ext cx="3337560" cy="777240"/>
          </a:xfrm>
          <a:prstGeom prst="roundRect">
            <a:avLst>
              <a:gd name="adj" fmla="val 9412"/>
            </a:avLst>
          </a:prstGeom>
          <a:solidFill>
            <a:srgbClr val="161B22"/>
          </a:solidFill>
          <a:ln w="19050" cap="flat" cmpd="sng">
            <a:solidFill>
              <a:srgbClr val="58A6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6"/>
          <p:cNvSpPr/>
          <p:nvPr/>
        </p:nvSpPr>
        <p:spPr>
          <a:xfrm>
            <a:off x="4562856" y="2459736"/>
            <a:ext cx="31089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950"/>
              <a:buFont typeface="Calibri"/>
              <a:buNone/>
            </a:pPr>
            <a:r>
              <a:rPr lang="en-US" sz="950" b="1" i="0" u="none" strike="noStrike" cap="none">
                <a:solidFill>
                  <a:srgbClr val="58A6FF"/>
                </a:solidFill>
                <a:latin typeface="Calibri"/>
                <a:ea typeface="Calibri"/>
                <a:cs typeface="Calibri"/>
                <a:sym typeface="Calibri"/>
              </a:rPr>
              <a:t>FINANCIAL FIRMS — BANKS &amp; WEALTH</a:t>
            </a:r>
            <a:endParaRPr sz="950" b="0" i="0" u="none" strike="noStrike" cap="none">
              <a:solidFill>
                <a:schemeClr val="dk1"/>
              </a:solidFill>
              <a:latin typeface="Calibri"/>
              <a:ea typeface="Calibri"/>
              <a:cs typeface="Calibri"/>
              <a:sym typeface="Calibri"/>
            </a:endParaRPr>
          </a:p>
        </p:txBody>
      </p:sp>
      <p:sp>
        <p:nvSpPr>
          <p:cNvPr id="71" name="Google Shape;71;p6"/>
          <p:cNvSpPr/>
          <p:nvPr/>
        </p:nvSpPr>
        <p:spPr>
          <a:xfrm>
            <a:off x="4562856" y="2734056"/>
            <a:ext cx="310896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950"/>
              <a:buFont typeface="Calibri"/>
              <a:buNone/>
            </a:pPr>
            <a:r>
              <a:rPr lang="en-US" sz="950" b="0" i="0" u="none" strike="noStrike" cap="none">
                <a:solidFill>
                  <a:srgbClr val="E6EDF3"/>
                </a:solidFill>
                <a:latin typeface="Calibri"/>
                <a:ea typeface="Calibri"/>
                <a:cs typeface="Calibri"/>
                <a:sym typeface="Calibri"/>
              </a:rPr>
              <a:t>the service — scale, lower OpEx, new roles</a:t>
            </a:r>
            <a:endParaRPr sz="950" b="0" i="0" u="none" strike="noStrike" cap="none">
              <a:solidFill>
                <a:schemeClr val="dk1"/>
              </a:solidFill>
              <a:latin typeface="Calibri"/>
              <a:ea typeface="Calibri"/>
              <a:cs typeface="Calibri"/>
              <a:sym typeface="Calibri"/>
            </a:endParaRPr>
          </a:p>
        </p:txBody>
      </p:sp>
      <p:sp>
        <p:nvSpPr>
          <p:cNvPr id="72" name="Google Shape;72;p6"/>
          <p:cNvSpPr/>
          <p:nvPr/>
        </p:nvSpPr>
        <p:spPr>
          <a:xfrm>
            <a:off x="8229600" y="2395728"/>
            <a:ext cx="3337560" cy="777240"/>
          </a:xfrm>
          <a:prstGeom prst="roundRect">
            <a:avLst>
              <a:gd name="adj" fmla="val 9412"/>
            </a:avLst>
          </a:prstGeom>
          <a:solidFill>
            <a:srgbClr val="161B22"/>
          </a:solidFill>
          <a:ln w="19050" cap="flat" cmpd="sng">
            <a:solidFill>
              <a:srgbClr val="58A6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6"/>
          <p:cNvSpPr/>
          <p:nvPr/>
        </p:nvSpPr>
        <p:spPr>
          <a:xfrm>
            <a:off x="8357616" y="2459736"/>
            <a:ext cx="31089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950"/>
              <a:buFont typeface="Calibri"/>
              <a:buNone/>
            </a:pPr>
            <a:r>
              <a:rPr lang="en-US" sz="950" b="1" i="0" u="none" strike="noStrike" cap="none">
                <a:solidFill>
                  <a:srgbClr val="58A6FF"/>
                </a:solidFill>
                <a:latin typeface="Calibri"/>
                <a:ea typeface="Calibri"/>
                <a:cs typeface="Calibri"/>
                <a:sym typeface="Calibri"/>
              </a:rPr>
              <a:t>TECH BUILDERS — AI, DATA, SECURITY</a:t>
            </a:r>
            <a:endParaRPr sz="950" b="0" i="0" u="none" strike="noStrike" cap="none">
              <a:solidFill>
                <a:schemeClr val="dk1"/>
              </a:solidFill>
              <a:latin typeface="Calibri"/>
              <a:ea typeface="Calibri"/>
              <a:cs typeface="Calibri"/>
              <a:sym typeface="Calibri"/>
            </a:endParaRPr>
          </a:p>
        </p:txBody>
      </p:sp>
      <p:sp>
        <p:nvSpPr>
          <p:cNvPr id="74" name="Google Shape;74;p6"/>
          <p:cNvSpPr/>
          <p:nvPr/>
        </p:nvSpPr>
        <p:spPr>
          <a:xfrm>
            <a:off x="8357616" y="2734056"/>
            <a:ext cx="310896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950"/>
              <a:buFont typeface="Calibri"/>
              <a:buNone/>
            </a:pPr>
            <a:r>
              <a:rPr lang="en-US" sz="950" b="0" i="0" u="none" strike="noStrike" cap="none">
                <a:solidFill>
                  <a:srgbClr val="E6EDF3"/>
                </a:solidFill>
                <a:latin typeface="Calibri"/>
                <a:ea typeface="Calibri"/>
                <a:cs typeface="Calibri"/>
                <a:sym typeface="Calibri"/>
              </a:rPr>
              <a:t>the machinery — models, feeds, safeguards</a:t>
            </a:r>
            <a:endParaRPr sz="950" b="0" i="0" u="none" strike="noStrike" cap="none">
              <a:solidFill>
                <a:schemeClr val="dk1"/>
              </a:solidFill>
              <a:latin typeface="Calibri"/>
              <a:ea typeface="Calibri"/>
              <a:cs typeface="Calibri"/>
              <a:sym typeface="Calibri"/>
            </a:endParaRPr>
          </a:p>
        </p:txBody>
      </p:sp>
      <p:sp>
        <p:nvSpPr>
          <p:cNvPr id="75" name="Google Shape;75;p6"/>
          <p:cNvSpPr/>
          <p:nvPr/>
        </p:nvSpPr>
        <p:spPr>
          <a:xfrm>
            <a:off x="4041648" y="2615184"/>
            <a:ext cx="384048" cy="3200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8B949E"/>
              </a:buClr>
              <a:buSzPts val="1500"/>
              <a:buFont typeface="Calibri"/>
              <a:buNone/>
            </a:pPr>
            <a:r>
              <a:rPr lang="en-US" sz="1500" b="1" i="0" u="none" strike="noStrike" cap="none">
                <a:solidFill>
                  <a:srgbClr val="8B949E"/>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76" name="Google Shape;76;p6"/>
          <p:cNvSpPr/>
          <p:nvPr/>
        </p:nvSpPr>
        <p:spPr>
          <a:xfrm>
            <a:off x="7818120" y="2615184"/>
            <a:ext cx="384048" cy="3200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8B949E"/>
              </a:buClr>
              <a:buSzPts val="1500"/>
              <a:buFont typeface="Calibri"/>
              <a:buNone/>
            </a:pPr>
            <a:r>
              <a:rPr lang="en-US" sz="1500" b="1" i="0" u="none" strike="noStrike" cap="none">
                <a:solidFill>
                  <a:srgbClr val="8B949E"/>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77" name="Google Shape;77;p6"/>
          <p:cNvSpPr/>
          <p:nvPr/>
        </p:nvSpPr>
        <p:spPr>
          <a:xfrm>
            <a:off x="822960" y="3520440"/>
            <a:ext cx="10515600" cy="1920240"/>
          </a:xfrm>
          <a:prstGeom prst="rect">
            <a:avLst/>
          </a:prstGeom>
          <a:noFill/>
          <a:ln>
            <a:noFill/>
          </a:ln>
        </p:spPr>
        <p:txBody>
          <a:bodyPr spcFirstLastPara="1" wrap="square" lIns="0" tIns="0" rIns="0" bIns="0" anchor="ctr" anchorCtr="0">
            <a:noAutofit/>
          </a:bodyPr>
          <a:lstStyle/>
          <a:p>
            <a:pPr marL="0" marR="0" lvl="0" indent="0" algn="l" rtl="0">
              <a:lnSpc>
                <a:spcPct val="125000"/>
              </a:lnSpc>
              <a:spcBef>
                <a:spcPts val="0"/>
              </a:spcBef>
              <a:spcAft>
                <a:spcPts val="0"/>
              </a:spcAft>
              <a:buClr>
                <a:srgbClr val="E6EDF3"/>
              </a:buClr>
              <a:buSzPts val="1250"/>
              <a:buFont typeface="Calibri"/>
              <a:buNone/>
            </a:pPr>
            <a:r>
              <a:rPr lang="en-US" sz="1250" b="0" i="0" u="none" strike="noStrike" cap="none">
                <a:solidFill>
                  <a:srgbClr val="E6EDF3"/>
                </a:solidFill>
                <a:latin typeface="Calibri"/>
                <a:ea typeface="Calibri"/>
                <a:cs typeface="Calibri"/>
                <a:sym typeface="Calibri"/>
              </a:rPr>
              <a:t>The stakeholders span the whole financial ecosystem — those who provide the capital, those who serve it, those who build the machinery, and those who police it. Retail investors want low-fee management and inclusion without six-figure minimums, while hedge funds and pension managers want alpha and cheaper execution. Wealth firms and banks gain scale and lower operating costs — as traditional advisors shift from portfolio construction toward coaching and estate planning. Behind them, FinTech engineers maintain the models and safeguards, data providers like Bloomberg supply the feeds, and cybersecurity teams protect the APIs from manipulation. Above it all, the SEC and FINRA — plus internal risk officers — enforce fairness, transparency, and fiduciary duty, watching for breached thresholds and flash crashes.</a:t>
            </a:r>
            <a:endParaRPr sz="1250" b="0" i="0" u="none" strike="noStrike" cap="none">
              <a:solidFill>
                <a:schemeClr val="dk1"/>
              </a:solidFill>
              <a:latin typeface="Calibri"/>
              <a:ea typeface="Calibri"/>
              <a:cs typeface="Calibri"/>
              <a:sym typeface="Calibri"/>
            </a:endParaRPr>
          </a:p>
        </p:txBody>
      </p:sp>
      <p:sp>
        <p:nvSpPr>
          <p:cNvPr id="78" name="Google Shape;78;p6"/>
          <p:cNvSpPr/>
          <p:nvPr/>
        </p:nvSpPr>
        <p:spPr>
          <a:xfrm>
            <a:off x="822960" y="5577840"/>
            <a:ext cx="1051560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250"/>
              <a:buFont typeface="Calibri"/>
              <a:buNone/>
            </a:pPr>
            <a:r>
              <a:rPr lang="en-US" sz="1250" b="1" i="1" u="none" strike="noStrike" cap="none">
                <a:solidFill>
                  <a:srgbClr val="E8A020"/>
                </a:solidFill>
                <a:latin typeface="Calibri"/>
                <a:ea typeface="Calibri"/>
                <a:cs typeface="Calibri"/>
                <a:sym typeface="Calibri"/>
              </a:rPr>
              <a:t>OROS compresses this map into one transparent system: investor-facing doors (video, report, computation, chat), builder-grade journals — and a regulator's dream: every decision logged, disclosed, and never executed.</a:t>
            </a:r>
            <a:endParaRPr sz="1250" b="0" i="0" u="none" strike="noStrike" cap="none">
              <a:solidFill>
                <a:schemeClr val="dk1"/>
              </a:solidFill>
              <a:latin typeface="Calibri"/>
              <a:ea typeface="Calibri"/>
              <a:cs typeface="Calibri"/>
              <a:sym typeface="Calibri"/>
            </a:endParaRPr>
          </a:p>
        </p:txBody>
      </p:sp>
      <p:sp>
        <p:nvSpPr>
          <p:cNvPr id="79" name="Google Shape;79;p6"/>
          <p:cNvSpPr/>
          <p:nvPr/>
        </p:nvSpPr>
        <p:spPr>
          <a:xfrm>
            <a:off x="502920" y="6199632"/>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7681"/>
              </a:buClr>
              <a:buSzPts val="800"/>
              <a:buFont typeface="Calibri"/>
              <a:buNone/>
            </a:pPr>
            <a:r>
              <a:rPr lang="en-US" sz="800" b="0" i="1" u="none" strike="noStrike" cap="none">
                <a:solidFill>
                  <a:srgbClr val="6E7681"/>
                </a:solidFill>
                <a:latin typeface="Calibri"/>
                <a:ea typeface="Calibri"/>
                <a:cs typeface="Calibri"/>
                <a:sym typeface="Calibri"/>
              </a:rPr>
              <a:t>Sources: academic.oup.com (Current Legal Problems) · sec.gov · hedgefundalpha.com · investmentnews.com (SEC/UBS YES case) · siskolegal.com</a:t>
            </a:r>
            <a:endParaRPr sz="8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84"/>
        <p:cNvGrpSpPr/>
        <p:nvPr/>
      </p:nvGrpSpPr>
      <p:grpSpPr>
        <a:xfrm>
          <a:off x="0" y="0"/>
          <a:ext cx="0" cy="0"/>
          <a:chOff x="0" y="0"/>
          <a:chExt cx="0" cy="0"/>
        </a:xfrm>
      </p:grpSpPr>
      <p:sp>
        <p:nvSpPr>
          <p:cNvPr id="85" name="Google Shape;85;p7"/>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86" name="Google Shape;86;p7"/>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4 · SOLUTION OVERVIEW</a:t>
            </a:r>
            <a:endParaRPr sz="1150" b="0" i="0" u="none" strike="noStrike" cap="none">
              <a:solidFill>
                <a:schemeClr val="dk1"/>
              </a:solidFill>
              <a:latin typeface="Calibri"/>
              <a:ea typeface="Calibri"/>
              <a:cs typeface="Calibri"/>
              <a:sym typeface="Calibri"/>
            </a:endParaRPr>
          </a:p>
        </p:txBody>
      </p:sp>
      <p:sp>
        <p:nvSpPr>
          <p:cNvPr id="87" name="Google Shape;87;p7"/>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An Agent Team, Not a Model — 31 Agents, Three Tiers</a:t>
            </a:r>
            <a:endParaRPr sz="2700" b="0" i="0" u="none" strike="noStrike" cap="none">
              <a:solidFill>
                <a:schemeClr val="dk1"/>
              </a:solidFill>
              <a:latin typeface="Calibri"/>
              <a:ea typeface="Calibri"/>
              <a:cs typeface="Calibri"/>
              <a:sym typeface="Calibri"/>
            </a:endParaRPr>
          </a:p>
        </p:txBody>
      </p:sp>
      <p:sp>
        <p:nvSpPr>
          <p:cNvPr id="88" name="Google Shape;88;p7"/>
          <p:cNvSpPr/>
          <p:nvPr/>
        </p:nvSpPr>
        <p:spPr>
          <a:xfrm>
            <a:off x="502920" y="1371600"/>
            <a:ext cx="3383280" cy="548640"/>
          </a:xfrm>
          <a:prstGeom prst="roundRect">
            <a:avLst>
              <a:gd name="adj" fmla="val 10000"/>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7"/>
          <p:cNvSpPr/>
          <p:nvPr/>
        </p:nvSpPr>
        <p:spPr>
          <a:xfrm>
            <a:off x="640080" y="1417320"/>
            <a:ext cx="31546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1150"/>
              <a:buFont typeface="Calibri"/>
              <a:buNone/>
            </a:pPr>
            <a:r>
              <a:rPr lang="en-US" sz="1150" b="1" i="0" u="none" strike="noStrike" cap="none">
                <a:solidFill>
                  <a:srgbClr val="58A6FF"/>
                </a:solidFill>
                <a:latin typeface="Calibri"/>
                <a:ea typeface="Calibri"/>
                <a:cs typeface="Calibri"/>
                <a:sym typeface="Calibri"/>
              </a:rPr>
              <a:t>DataAgent</a:t>
            </a:r>
            <a:endParaRPr sz="1150" b="0" i="0" u="none" strike="noStrike" cap="none">
              <a:solidFill>
                <a:schemeClr val="dk1"/>
              </a:solidFill>
              <a:latin typeface="Calibri"/>
              <a:ea typeface="Calibri"/>
              <a:cs typeface="Calibri"/>
              <a:sym typeface="Calibri"/>
            </a:endParaRPr>
          </a:p>
        </p:txBody>
      </p:sp>
      <p:sp>
        <p:nvSpPr>
          <p:cNvPr id="90" name="Google Shape;90;p7"/>
          <p:cNvSpPr/>
          <p:nvPr/>
        </p:nvSpPr>
        <p:spPr>
          <a:xfrm>
            <a:off x="4023360" y="1389888"/>
            <a:ext cx="329184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000"/>
              <a:buFont typeface="Calibri"/>
              <a:buNone/>
            </a:pPr>
            <a:r>
              <a:rPr lang="en-US" sz="1000" b="0" i="0" u="none" strike="noStrike" cap="none">
                <a:solidFill>
                  <a:srgbClr val="E6EDF3"/>
                </a:solidFill>
                <a:latin typeface="Calibri"/>
                <a:ea typeface="Calibri"/>
                <a:cs typeface="Calibri"/>
                <a:sym typeface="Calibri"/>
              </a:rPr>
              <a:t>prices · SEC XBRL · FRED · sentiment</a:t>
            </a:r>
            <a:endParaRPr sz="1000" b="0" i="0" u="none" strike="noStrike" cap="none">
              <a:solidFill>
                <a:schemeClr val="dk1"/>
              </a:solidFill>
              <a:latin typeface="Calibri"/>
              <a:ea typeface="Calibri"/>
              <a:cs typeface="Calibri"/>
              <a:sym typeface="Calibri"/>
            </a:endParaRPr>
          </a:p>
        </p:txBody>
      </p:sp>
      <p:sp>
        <p:nvSpPr>
          <p:cNvPr id="91" name="Google Shape;91;p7"/>
          <p:cNvSpPr/>
          <p:nvPr/>
        </p:nvSpPr>
        <p:spPr>
          <a:xfrm>
            <a:off x="502920" y="2039112"/>
            <a:ext cx="3383280" cy="548640"/>
          </a:xfrm>
          <a:prstGeom prst="roundRect">
            <a:avLst>
              <a:gd name="adj" fmla="val 10000"/>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7"/>
          <p:cNvSpPr/>
          <p:nvPr/>
        </p:nvSpPr>
        <p:spPr>
          <a:xfrm>
            <a:off x="640080" y="2084832"/>
            <a:ext cx="31546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RegimeAgent</a:t>
            </a:r>
            <a:endParaRPr sz="1150" b="0" i="0" u="none" strike="noStrike" cap="none">
              <a:solidFill>
                <a:schemeClr val="dk1"/>
              </a:solidFill>
              <a:latin typeface="Calibri"/>
              <a:ea typeface="Calibri"/>
              <a:cs typeface="Calibri"/>
              <a:sym typeface="Calibri"/>
            </a:endParaRPr>
          </a:p>
        </p:txBody>
      </p:sp>
      <p:sp>
        <p:nvSpPr>
          <p:cNvPr id="93" name="Google Shape;93;p7"/>
          <p:cNvSpPr/>
          <p:nvPr/>
        </p:nvSpPr>
        <p:spPr>
          <a:xfrm>
            <a:off x="4023360" y="2057400"/>
            <a:ext cx="329184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000"/>
              <a:buFont typeface="Calibri"/>
              <a:buNone/>
            </a:pPr>
            <a:r>
              <a:rPr lang="en-US" sz="1000" b="0" i="0" u="none" strike="noStrike" cap="none">
                <a:solidFill>
                  <a:srgbClr val="E6EDF3"/>
                </a:solidFill>
                <a:latin typeface="Calibri"/>
                <a:ea typeface="Calibri"/>
                <a:cs typeface="Calibri"/>
                <a:sym typeface="Calibri"/>
              </a:rPr>
              <a:t>the whole market's stage + VIX → risk appetite</a:t>
            </a:r>
            <a:endParaRPr sz="1000" b="0" i="0" u="none" strike="noStrike" cap="none">
              <a:solidFill>
                <a:schemeClr val="dk1"/>
              </a:solidFill>
              <a:latin typeface="Calibri"/>
              <a:ea typeface="Calibri"/>
              <a:cs typeface="Calibri"/>
              <a:sym typeface="Calibri"/>
            </a:endParaRPr>
          </a:p>
        </p:txBody>
      </p:sp>
      <p:sp>
        <p:nvSpPr>
          <p:cNvPr id="94" name="Google Shape;94;p7"/>
          <p:cNvSpPr/>
          <p:nvPr/>
        </p:nvSpPr>
        <p:spPr>
          <a:xfrm>
            <a:off x="502920" y="2706624"/>
            <a:ext cx="3383280" cy="548640"/>
          </a:xfrm>
          <a:prstGeom prst="roundRect">
            <a:avLst>
              <a:gd name="adj" fmla="val 10000"/>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7"/>
          <p:cNvSpPr/>
          <p:nvPr/>
        </p:nvSpPr>
        <p:spPr>
          <a:xfrm>
            <a:off x="640080" y="2752344"/>
            <a:ext cx="31546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3FB950"/>
              </a:buClr>
              <a:buSzPts val="1150"/>
              <a:buFont typeface="Calibri"/>
              <a:buNone/>
            </a:pPr>
            <a:r>
              <a:rPr lang="en-US" sz="1150" b="1" i="0" u="none" strike="noStrike" cap="none">
                <a:solidFill>
                  <a:srgbClr val="3FB950"/>
                </a:solidFill>
                <a:latin typeface="Calibri"/>
                <a:ea typeface="Calibri"/>
                <a:cs typeface="Calibri"/>
                <a:sym typeface="Calibri"/>
              </a:rPr>
              <a:t>ScannerAgent + Classifier</a:t>
            </a:r>
            <a:endParaRPr sz="1150" b="0" i="0" u="none" strike="noStrike" cap="none">
              <a:solidFill>
                <a:schemeClr val="dk1"/>
              </a:solidFill>
              <a:latin typeface="Calibri"/>
              <a:ea typeface="Calibri"/>
              <a:cs typeface="Calibri"/>
              <a:sym typeface="Calibri"/>
            </a:endParaRPr>
          </a:p>
        </p:txBody>
      </p:sp>
      <p:sp>
        <p:nvSpPr>
          <p:cNvPr id="96" name="Google Shape;96;p7"/>
          <p:cNvSpPr/>
          <p:nvPr/>
        </p:nvSpPr>
        <p:spPr>
          <a:xfrm>
            <a:off x="4023360" y="2724912"/>
            <a:ext cx="329184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000"/>
              <a:buFont typeface="Calibri"/>
              <a:buNone/>
            </a:pPr>
            <a:r>
              <a:rPr lang="en-US" sz="1000" b="0" i="0" u="none" strike="noStrike" cap="none">
                <a:solidFill>
                  <a:srgbClr val="E6EDF3"/>
                </a:solidFill>
                <a:latin typeface="Calibri"/>
                <a:ea typeface="Calibri"/>
                <a:cs typeface="Calibri"/>
                <a:sym typeface="Calibri"/>
              </a:rPr>
              <a:t>500 names staged nightly; each ticker routed to its sector specialist</a:t>
            </a:r>
            <a:endParaRPr sz="1000" b="0" i="0" u="none" strike="noStrike" cap="none">
              <a:solidFill>
                <a:schemeClr val="dk1"/>
              </a:solidFill>
              <a:latin typeface="Calibri"/>
              <a:ea typeface="Calibri"/>
              <a:cs typeface="Calibri"/>
              <a:sym typeface="Calibri"/>
            </a:endParaRPr>
          </a:p>
        </p:txBody>
      </p:sp>
      <p:sp>
        <p:nvSpPr>
          <p:cNvPr id="97" name="Google Shape;97;p7"/>
          <p:cNvSpPr/>
          <p:nvPr/>
        </p:nvSpPr>
        <p:spPr>
          <a:xfrm>
            <a:off x="502920" y="3374136"/>
            <a:ext cx="3383280" cy="548640"/>
          </a:xfrm>
          <a:prstGeom prst="roundRect">
            <a:avLst>
              <a:gd name="adj" fmla="val 10000"/>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7"/>
          <p:cNvSpPr/>
          <p:nvPr/>
        </p:nvSpPr>
        <p:spPr>
          <a:xfrm>
            <a:off x="640080" y="3419856"/>
            <a:ext cx="31546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150"/>
              <a:buFont typeface="Calibri"/>
              <a:buNone/>
            </a:pPr>
            <a:r>
              <a:rPr lang="en-US" sz="1150" b="1" i="0" u="none" strike="noStrike" cap="none">
                <a:solidFill>
                  <a:srgbClr val="E6EDF3"/>
                </a:solidFill>
                <a:latin typeface="Calibri"/>
                <a:ea typeface="Calibri"/>
                <a:cs typeface="Calibri"/>
                <a:sym typeface="Calibri"/>
              </a:rPr>
              <a:t>RouterAgent + MemoryAgent</a:t>
            </a:r>
            <a:endParaRPr sz="1150" b="0" i="0" u="none" strike="noStrike" cap="none">
              <a:solidFill>
                <a:schemeClr val="dk1"/>
              </a:solidFill>
              <a:latin typeface="Calibri"/>
              <a:ea typeface="Calibri"/>
              <a:cs typeface="Calibri"/>
              <a:sym typeface="Calibri"/>
            </a:endParaRPr>
          </a:p>
        </p:txBody>
      </p:sp>
      <p:sp>
        <p:nvSpPr>
          <p:cNvPr id="99" name="Google Shape;99;p7"/>
          <p:cNvSpPr/>
          <p:nvPr/>
        </p:nvSpPr>
        <p:spPr>
          <a:xfrm>
            <a:off x="4023360" y="3392424"/>
            <a:ext cx="329184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000"/>
              <a:buFont typeface="Calibri"/>
              <a:buNone/>
            </a:pPr>
            <a:r>
              <a:rPr lang="en-US" sz="1000" b="0" i="0" u="none" strike="noStrike" cap="none">
                <a:solidFill>
                  <a:srgbClr val="E6EDF3"/>
                </a:solidFill>
                <a:latin typeface="Calibri"/>
                <a:ea typeface="Calibri"/>
                <a:cs typeface="Calibri"/>
                <a:sym typeface="Calibri"/>
              </a:rPr>
              <a:t>blends 8 strategy traditions; tilts toward what has WORKED (forward record)</a:t>
            </a:r>
            <a:endParaRPr sz="1000" b="0" i="0" u="none" strike="noStrike" cap="none">
              <a:solidFill>
                <a:schemeClr val="dk1"/>
              </a:solidFill>
              <a:latin typeface="Calibri"/>
              <a:ea typeface="Calibri"/>
              <a:cs typeface="Calibri"/>
              <a:sym typeface="Calibri"/>
            </a:endParaRPr>
          </a:p>
        </p:txBody>
      </p:sp>
      <p:sp>
        <p:nvSpPr>
          <p:cNvPr id="100" name="Google Shape;100;p7"/>
          <p:cNvSpPr/>
          <p:nvPr/>
        </p:nvSpPr>
        <p:spPr>
          <a:xfrm>
            <a:off x="502920" y="4041648"/>
            <a:ext cx="3383280" cy="548640"/>
          </a:xfrm>
          <a:prstGeom prst="roundRect">
            <a:avLst>
              <a:gd name="adj" fmla="val 10000"/>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7"/>
          <p:cNvSpPr/>
          <p:nvPr/>
        </p:nvSpPr>
        <p:spPr>
          <a:xfrm>
            <a:off x="640080" y="4087368"/>
            <a:ext cx="31546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3FB950"/>
              </a:buClr>
              <a:buSzPts val="1150"/>
              <a:buFont typeface="Calibri"/>
              <a:buNone/>
            </a:pPr>
            <a:r>
              <a:rPr lang="en-US" sz="1150" b="1" i="0" u="none" strike="noStrike" cap="none">
                <a:solidFill>
                  <a:srgbClr val="3FB950"/>
                </a:solidFill>
                <a:latin typeface="Calibri"/>
                <a:ea typeface="Calibri"/>
                <a:cs typeface="Calibri"/>
                <a:sym typeface="Calibri"/>
              </a:rPr>
              <a:t>ConstructionAgent</a:t>
            </a:r>
            <a:endParaRPr sz="1150" b="0" i="0" u="none" strike="noStrike" cap="none">
              <a:solidFill>
                <a:schemeClr val="dk1"/>
              </a:solidFill>
              <a:latin typeface="Calibri"/>
              <a:ea typeface="Calibri"/>
              <a:cs typeface="Calibri"/>
              <a:sym typeface="Calibri"/>
            </a:endParaRPr>
          </a:p>
        </p:txBody>
      </p:sp>
      <p:sp>
        <p:nvSpPr>
          <p:cNvPr id="102" name="Google Shape;102;p7"/>
          <p:cNvSpPr/>
          <p:nvPr/>
        </p:nvSpPr>
        <p:spPr>
          <a:xfrm>
            <a:off x="4023360" y="4059936"/>
            <a:ext cx="329184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000"/>
              <a:buFont typeface="Calibri"/>
              <a:buNone/>
            </a:pPr>
            <a:r>
              <a:rPr lang="en-US" sz="1000" b="0" i="0" u="none" strike="noStrike" cap="none">
                <a:solidFill>
                  <a:srgbClr val="E6EDF3"/>
                </a:solidFill>
                <a:latin typeface="Calibri"/>
                <a:ea typeface="Calibri"/>
                <a:cs typeface="Calibri"/>
                <a:sym typeface="Calibri"/>
              </a:rPr>
              <a:t>selects and risk-sizes one concentrated book</a:t>
            </a:r>
            <a:endParaRPr sz="1000" b="0" i="0" u="none" strike="noStrike" cap="none">
              <a:solidFill>
                <a:schemeClr val="dk1"/>
              </a:solidFill>
              <a:latin typeface="Calibri"/>
              <a:ea typeface="Calibri"/>
              <a:cs typeface="Calibri"/>
              <a:sym typeface="Calibri"/>
            </a:endParaRPr>
          </a:p>
        </p:txBody>
      </p:sp>
      <p:sp>
        <p:nvSpPr>
          <p:cNvPr id="103" name="Google Shape;103;p7"/>
          <p:cNvSpPr/>
          <p:nvPr/>
        </p:nvSpPr>
        <p:spPr>
          <a:xfrm>
            <a:off x="502920" y="4709160"/>
            <a:ext cx="3383280" cy="548640"/>
          </a:xfrm>
          <a:prstGeom prst="roundRect">
            <a:avLst>
              <a:gd name="adj" fmla="val 10000"/>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7"/>
          <p:cNvSpPr/>
          <p:nvPr/>
        </p:nvSpPr>
        <p:spPr>
          <a:xfrm>
            <a:off x="640080" y="4754880"/>
            <a:ext cx="31546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85149"/>
              </a:buClr>
              <a:buSzPts val="1150"/>
              <a:buFont typeface="Calibri"/>
              <a:buNone/>
            </a:pPr>
            <a:r>
              <a:rPr lang="en-US" sz="1150" b="1" i="0" u="none" strike="noStrike" cap="none">
                <a:solidFill>
                  <a:srgbClr val="F85149"/>
                </a:solidFill>
                <a:latin typeface="Calibri"/>
                <a:ea typeface="Calibri"/>
                <a:cs typeface="Calibri"/>
                <a:sym typeface="Calibri"/>
              </a:rPr>
              <a:t>RiskAgent — veto power</a:t>
            </a:r>
            <a:endParaRPr sz="1150" b="0" i="0" u="none" strike="noStrike" cap="none">
              <a:solidFill>
                <a:schemeClr val="dk1"/>
              </a:solidFill>
              <a:latin typeface="Calibri"/>
              <a:ea typeface="Calibri"/>
              <a:cs typeface="Calibri"/>
              <a:sym typeface="Calibri"/>
            </a:endParaRPr>
          </a:p>
        </p:txBody>
      </p:sp>
      <p:sp>
        <p:nvSpPr>
          <p:cNvPr id="105" name="Google Shape;105;p7"/>
          <p:cNvSpPr/>
          <p:nvPr/>
        </p:nvSpPr>
        <p:spPr>
          <a:xfrm>
            <a:off x="4023360" y="4727448"/>
            <a:ext cx="329184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000"/>
              <a:buFont typeface="Calibri"/>
              <a:buNone/>
            </a:pPr>
            <a:r>
              <a:rPr lang="en-US" sz="1000" b="0" i="0" u="none" strike="noStrike" cap="none">
                <a:solidFill>
                  <a:srgbClr val="E6EDF3"/>
                </a:solidFill>
                <a:latin typeface="Calibri"/>
                <a:ea typeface="Calibri"/>
                <a:cs typeface="Calibri"/>
                <a:sym typeface="Calibri"/>
              </a:rPr>
              <a:t>1.25%/name · 6% wallet · sector caps · earnings blackouts · throttle</a:t>
            </a:r>
            <a:endParaRPr sz="1000" b="0" i="0" u="none" strike="noStrike" cap="none">
              <a:solidFill>
                <a:schemeClr val="dk1"/>
              </a:solidFill>
              <a:latin typeface="Calibri"/>
              <a:ea typeface="Calibri"/>
              <a:cs typeface="Calibri"/>
              <a:sym typeface="Calibri"/>
            </a:endParaRPr>
          </a:p>
        </p:txBody>
      </p:sp>
      <p:sp>
        <p:nvSpPr>
          <p:cNvPr id="106" name="Google Shape;106;p7"/>
          <p:cNvSpPr/>
          <p:nvPr/>
        </p:nvSpPr>
        <p:spPr>
          <a:xfrm>
            <a:off x="502920" y="5376672"/>
            <a:ext cx="3383280" cy="548640"/>
          </a:xfrm>
          <a:prstGeom prst="roundRect">
            <a:avLst>
              <a:gd name="adj" fmla="val 10000"/>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7"/>
          <p:cNvSpPr/>
          <p:nvPr/>
        </p:nvSpPr>
        <p:spPr>
          <a:xfrm>
            <a:off x="640080" y="5422392"/>
            <a:ext cx="31546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The Desk</a:t>
            </a:r>
            <a:endParaRPr sz="1150" b="0" i="0" u="none" strike="noStrike" cap="none">
              <a:solidFill>
                <a:schemeClr val="dk1"/>
              </a:solidFill>
              <a:latin typeface="Calibri"/>
              <a:ea typeface="Calibri"/>
              <a:cs typeface="Calibri"/>
              <a:sym typeface="Calibri"/>
            </a:endParaRPr>
          </a:p>
        </p:txBody>
      </p:sp>
      <p:sp>
        <p:nvSpPr>
          <p:cNvPr id="108" name="Google Shape;108;p7"/>
          <p:cNvSpPr/>
          <p:nvPr/>
        </p:nvSpPr>
        <p:spPr>
          <a:xfrm>
            <a:off x="4023360" y="5394960"/>
            <a:ext cx="329184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000"/>
              <a:buFont typeface="Calibri"/>
              <a:buNone/>
            </a:pPr>
            <a:r>
              <a:rPr lang="en-US" sz="1000" b="0" i="0" u="none" strike="noStrike" cap="none">
                <a:solidFill>
                  <a:srgbClr val="E6EDF3"/>
                </a:solidFill>
                <a:latin typeface="Calibri"/>
                <a:ea typeface="Calibri"/>
                <a:cs typeface="Calibri"/>
                <a:sym typeface="Calibri"/>
              </a:rPr>
              <a:t>renders, voices, publishes, emails — then grades itself at the close</a:t>
            </a:r>
            <a:endParaRPr sz="1000" b="0" i="0" u="none" strike="noStrike" cap="none">
              <a:solidFill>
                <a:schemeClr val="dk1"/>
              </a:solidFill>
              <a:latin typeface="Calibri"/>
              <a:ea typeface="Calibri"/>
              <a:cs typeface="Calibri"/>
              <a:sym typeface="Calibri"/>
            </a:endParaRPr>
          </a:p>
        </p:txBody>
      </p:sp>
      <p:sp>
        <p:nvSpPr>
          <p:cNvPr id="109" name="Google Shape;109;p7"/>
          <p:cNvSpPr/>
          <p:nvPr/>
        </p:nvSpPr>
        <p:spPr>
          <a:xfrm>
            <a:off x="7543800" y="1371600"/>
            <a:ext cx="4160520" cy="3291840"/>
          </a:xfrm>
          <a:prstGeom prst="roundRect">
            <a:avLst>
              <a:gd name="adj" fmla="val 2222"/>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7"/>
          <p:cNvSpPr/>
          <p:nvPr/>
        </p:nvSpPr>
        <p:spPr>
          <a:xfrm>
            <a:off x="7726680" y="1481328"/>
            <a:ext cx="38404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1200"/>
              <a:buFont typeface="Calibri"/>
              <a:buNone/>
            </a:pPr>
            <a:r>
              <a:rPr lang="en-US" sz="1200" b="1" i="0" u="none" strike="noStrike" cap="none">
                <a:solidFill>
                  <a:srgbClr val="58A6FF"/>
                </a:solidFill>
                <a:latin typeface="Calibri"/>
                <a:ea typeface="Calibri"/>
                <a:cs typeface="Calibri"/>
                <a:sym typeface="Calibri"/>
              </a:rPr>
              <a:t>THE SPECIALIST BENCH — 18 sector agents</a:t>
            </a:r>
            <a:endParaRPr sz="1200" b="0" i="0" u="none" strike="noStrike" cap="none">
              <a:solidFill>
                <a:schemeClr val="dk1"/>
              </a:solidFill>
              <a:latin typeface="Calibri"/>
              <a:ea typeface="Calibri"/>
              <a:cs typeface="Calibri"/>
              <a:sym typeface="Calibri"/>
            </a:endParaRPr>
          </a:p>
        </p:txBody>
      </p:sp>
      <p:sp>
        <p:nvSpPr>
          <p:cNvPr id="111" name="Google Shape;111;p7"/>
          <p:cNvSpPr/>
          <p:nvPr/>
        </p:nvSpPr>
        <p:spPr>
          <a:xfrm>
            <a:off x="7726680" y="1810512"/>
            <a:ext cx="3840480" cy="1554480"/>
          </a:xfrm>
          <a:prstGeom prst="rect">
            <a:avLst/>
          </a:prstGeom>
          <a:noFill/>
          <a:ln>
            <a:noFill/>
          </a:ln>
        </p:spPr>
        <p:txBody>
          <a:bodyPr spcFirstLastPara="1" wrap="square" lIns="0" tIns="0" rIns="0" bIns="0" anchor="ctr" anchorCtr="0">
            <a:noAutofit/>
          </a:bodyPr>
          <a:lstStyle/>
          <a:p>
            <a:pPr marL="0" marR="0" lvl="0" indent="0" algn="l" rtl="0">
              <a:lnSpc>
                <a:spcPct val="120000"/>
              </a:lnSpc>
              <a:spcBef>
                <a:spcPts val="0"/>
              </a:spcBef>
              <a:spcAft>
                <a:spcPts val="0"/>
              </a:spcAft>
              <a:buClr>
                <a:srgbClr val="E6EDF3"/>
              </a:buClr>
              <a:buSzPts val="1050"/>
              <a:buFont typeface="Calibri"/>
              <a:buNone/>
            </a:pPr>
            <a:r>
              <a:rPr lang="en-US" sz="1050" b="0" i="0" u="none" strike="noStrike" cap="none">
                <a:solidFill>
                  <a:srgbClr val="E6EDF3"/>
                </a:solidFill>
                <a:latin typeface="Calibri"/>
                <a:ea typeface="Calibri"/>
                <a:cs typeface="Calibri"/>
                <a:sym typeface="Calibri"/>
              </a:rPr>
              <a:t>REIT · Bank · Insurance · Energy · Utilities · Industrials · Defense · Semiconductors · Software · Tech · AI-Compute · Consumer · Healthcare · Pharma &amp; MedDevice · Biotech · Infrastructure · Funds/ETF · Generic</a:t>
            </a:r>
            <a:endParaRPr sz="1050" b="0" i="0" u="none" strike="noStrike" cap="none">
              <a:solidFill>
                <a:schemeClr val="dk1"/>
              </a:solidFill>
              <a:latin typeface="Calibri"/>
              <a:ea typeface="Calibri"/>
              <a:cs typeface="Calibri"/>
              <a:sym typeface="Calibri"/>
            </a:endParaRPr>
          </a:p>
        </p:txBody>
      </p:sp>
      <p:sp>
        <p:nvSpPr>
          <p:cNvPr id="112" name="Google Shape;112;p7"/>
          <p:cNvSpPr/>
          <p:nvPr/>
        </p:nvSpPr>
        <p:spPr>
          <a:xfrm>
            <a:off x="7726680" y="3429000"/>
            <a:ext cx="3840480" cy="10972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950"/>
              <a:buFont typeface="Calibri"/>
              <a:buNone/>
            </a:pPr>
            <a:r>
              <a:rPr lang="en-US" sz="950" b="0" i="1" u="none" strike="noStrike" cap="none">
                <a:solidFill>
                  <a:srgbClr val="8B949E"/>
                </a:solidFill>
                <a:latin typeface="Calibri"/>
                <a:ea typeface="Calibri"/>
                <a:cs typeface="Calibri"/>
                <a:sym typeface="Calibri"/>
              </a:rPr>
              <a:t>Each reads its industry's own SEC filings with sector-specific tools — a REIT is graded on FFO, a bank on deposits, a biotech on its pipeline.</a:t>
            </a:r>
            <a:endParaRPr sz="950" b="0" i="0" u="none" strike="noStrike" cap="none">
              <a:solidFill>
                <a:schemeClr val="dk1"/>
              </a:solidFill>
              <a:latin typeface="Calibri"/>
              <a:ea typeface="Calibri"/>
              <a:cs typeface="Calibri"/>
              <a:sym typeface="Calibri"/>
            </a:endParaRPr>
          </a:p>
        </p:txBody>
      </p:sp>
      <p:sp>
        <p:nvSpPr>
          <p:cNvPr id="113" name="Google Shape;113;p7"/>
          <p:cNvSpPr/>
          <p:nvPr/>
        </p:nvSpPr>
        <p:spPr>
          <a:xfrm>
            <a:off x="7543800" y="4800600"/>
            <a:ext cx="4160520" cy="1234440"/>
          </a:xfrm>
          <a:prstGeom prst="roundRect">
            <a:avLst>
              <a:gd name="adj" fmla="val 5926"/>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7"/>
          <p:cNvSpPr/>
          <p:nvPr/>
        </p:nvSpPr>
        <p:spPr>
          <a:xfrm>
            <a:off x="7726680" y="4937760"/>
            <a:ext cx="3840480" cy="960120"/>
          </a:xfrm>
          <a:prstGeom prst="rect">
            <a:avLst/>
          </a:prstGeom>
          <a:noFill/>
          <a:ln>
            <a:noFill/>
          </a:ln>
        </p:spPr>
        <p:txBody>
          <a:bodyPr spcFirstLastPara="1" wrap="square" lIns="0" tIns="0" rIns="0" bIns="0" anchor="ctr" anchorCtr="0">
            <a:noAutofit/>
          </a:bodyPr>
          <a:lstStyle/>
          <a:p>
            <a:pPr marL="0" marR="0" lvl="0" indent="0" algn="l" rtl="0">
              <a:lnSpc>
                <a:spcPct val="130000"/>
              </a:lnSpc>
              <a:spcBef>
                <a:spcPts val="0"/>
              </a:spcBef>
              <a:spcAft>
                <a:spcPts val="0"/>
              </a:spcAft>
              <a:buClr>
                <a:srgbClr val="E6EDF3"/>
              </a:buClr>
              <a:buSzPts val="1050"/>
              <a:buFont typeface="Calibri"/>
              <a:buNone/>
            </a:pPr>
            <a:r>
              <a:rPr lang="en-US" sz="1050" b="0" i="0" u="none" strike="noStrike" cap="none">
                <a:solidFill>
                  <a:srgbClr val="E6EDF3"/>
                </a:solidFill>
                <a:latin typeface="Calibri"/>
                <a:ea typeface="Calibri"/>
                <a:cs typeface="Calibri"/>
                <a:sym typeface="Calibri"/>
              </a:rPr>
              <a:t>RESEARCH VOICES — Chartist Strategist · Sentiment Analyst</a:t>
            </a:r>
            <a:endParaRPr sz="1050" b="0" i="0" u="none" strike="noStrike" cap="none">
              <a:solidFill>
                <a:schemeClr val="dk1"/>
              </a:solidFill>
              <a:latin typeface="Calibri"/>
              <a:ea typeface="Calibri"/>
              <a:cs typeface="Calibri"/>
              <a:sym typeface="Calibri"/>
            </a:endParaRPr>
          </a:p>
          <a:p>
            <a:pPr marL="0" marR="0" lvl="0" indent="0" algn="l" rtl="0">
              <a:lnSpc>
                <a:spcPct val="130000"/>
              </a:lnSpc>
              <a:spcBef>
                <a:spcPts val="0"/>
              </a:spcBef>
              <a:spcAft>
                <a:spcPts val="0"/>
              </a:spcAft>
              <a:buClr>
                <a:srgbClr val="E6EDF3"/>
              </a:buClr>
              <a:buSzPts val="1050"/>
              <a:buFont typeface="Calibri"/>
              <a:buNone/>
            </a:pPr>
            <a:r>
              <a:rPr lang="en-US" sz="1050" b="0" i="0" u="none" strike="noStrike" cap="none">
                <a:solidFill>
                  <a:srgbClr val="E6EDF3"/>
                </a:solidFill>
                <a:latin typeface="Calibri"/>
                <a:ea typeface="Calibri"/>
                <a:cs typeface="Calibri"/>
                <a:sym typeface="Calibri"/>
              </a:rPr>
              <a:t>DIALOGUE — Ask OROS · Script Assistant · Claude Scout</a:t>
            </a:r>
            <a:endParaRPr sz="1050" b="0" i="0" u="none" strike="noStrike" cap="none">
              <a:solidFill>
                <a:schemeClr val="dk1"/>
              </a:solidFill>
              <a:latin typeface="Calibri"/>
              <a:ea typeface="Calibri"/>
              <a:cs typeface="Calibri"/>
              <a:sym typeface="Calibri"/>
            </a:endParaRPr>
          </a:p>
        </p:txBody>
      </p:sp>
      <p:sp>
        <p:nvSpPr>
          <p:cNvPr id="115" name="Google Shape;115;p7"/>
          <p:cNvSpPr/>
          <p:nvPr/>
        </p:nvSpPr>
        <p:spPr>
          <a:xfrm>
            <a:off x="502920" y="5870448"/>
            <a:ext cx="1120140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200"/>
              <a:buFont typeface="Calibri"/>
              <a:buNone/>
            </a:pPr>
            <a:r>
              <a:rPr lang="en-US" sz="1200" b="0" i="1" u="none" strike="noStrike" cap="none">
                <a:solidFill>
                  <a:srgbClr val="E8A020"/>
                </a:solidFill>
                <a:latin typeface="Calibri"/>
                <a:ea typeface="Calibri"/>
                <a:cs typeface="Calibri"/>
                <a:sym typeface="Calibri"/>
              </a:rPr>
              <a:t>The doctrine: agents nominate and narrate; deterministic arithmetic sizes every position. A hallucination cannot size a trade.</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120"/>
        <p:cNvGrpSpPr/>
        <p:nvPr/>
      </p:nvGrpSpPr>
      <p:grpSpPr>
        <a:xfrm>
          <a:off x="0" y="0"/>
          <a:ext cx="0" cy="0"/>
          <a:chOff x="0" y="0"/>
          <a:chExt cx="0" cy="0"/>
        </a:xfrm>
      </p:grpSpPr>
      <p:sp>
        <p:nvSpPr>
          <p:cNvPr id="121" name="Google Shape;121;p8"/>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122" name="Google Shape;122;p8"/>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6 · MVP — THE SCANNER</a:t>
            </a:r>
            <a:endParaRPr sz="1150" b="0" i="0" u="none" strike="noStrike" cap="none">
              <a:solidFill>
                <a:schemeClr val="dk1"/>
              </a:solidFill>
              <a:latin typeface="Calibri"/>
              <a:ea typeface="Calibri"/>
              <a:cs typeface="Calibri"/>
              <a:sym typeface="Calibri"/>
            </a:endParaRPr>
          </a:p>
        </p:txBody>
      </p:sp>
      <p:sp>
        <p:nvSpPr>
          <p:cNvPr id="123" name="Google Shape;123;p8"/>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dirty="0" err="1">
                <a:solidFill>
                  <a:srgbClr val="E6EDF3"/>
                </a:solidFill>
                <a:latin typeface="Calibri"/>
                <a:ea typeface="Calibri"/>
                <a:cs typeface="Calibri"/>
                <a:sym typeface="Calibri"/>
              </a:rPr>
              <a:t>ScannerAgent</a:t>
            </a:r>
            <a:r>
              <a:rPr lang="en-US" sz="2700" b="1" i="0" u="none" strike="noStrike" cap="none" dirty="0">
                <a:solidFill>
                  <a:srgbClr val="E6EDF3"/>
                </a:solidFill>
                <a:latin typeface="Calibri"/>
                <a:ea typeface="Calibri"/>
                <a:cs typeface="Calibri"/>
                <a:sym typeface="Calibri"/>
              </a:rPr>
              <a:t>: 494 Names Graded Overnight, Every Morning</a:t>
            </a:r>
          </a:p>
          <a:p>
            <a:pPr marL="0" marR="0" lvl="0" indent="0" algn="l" rtl="0">
              <a:spcBef>
                <a:spcPts val="0"/>
              </a:spcBef>
              <a:spcAft>
                <a:spcPts val="0"/>
              </a:spcAft>
              <a:buClr>
                <a:srgbClr val="E6EDF3"/>
              </a:buClr>
              <a:buSzPts val="2700"/>
              <a:buFont typeface="Calibri"/>
              <a:buNone/>
            </a:pPr>
            <a:r>
              <a:rPr lang="en-US" sz="2700" b="1" dirty="0">
                <a:solidFill>
                  <a:srgbClr val="E6EDF3"/>
                </a:solidFill>
                <a:latin typeface="Calibri"/>
                <a:ea typeface="Calibri"/>
                <a:cs typeface="Calibri"/>
                <a:sym typeface="Calibri"/>
              </a:rPr>
              <a:t>Rule Based Classification</a:t>
            </a:r>
            <a:endParaRPr lang="en-US" sz="2700" b="1" i="0" u="none" strike="noStrike" cap="none" dirty="0">
              <a:solidFill>
                <a:srgbClr val="E6EDF3"/>
              </a:solidFill>
              <a:latin typeface="Calibri"/>
              <a:ea typeface="Calibri"/>
              <a:cs typeface="Calibri"/>
              <a:sym typeface="Calibri"/>
            </a:endParaRPr>
          </a:p>
        </p:txBody>
      </p:sp>
      <p:pic>
        <p:nvPicPr>
          <p:cNvPr id="124" name="Google Shape;124;p8" descr="image1.png"/>
          <p:cNvPicPr preferRelativeResize="0"/>
          <p:nvPr/>
        </p:nvPicPr>
        <p:blipFill rotWithShape="1">
          <a:blip r:embed="rId3">
            <a:alphaModFix/>
          </a:blip>
          <a:srcRect/>
          <a:stretch/>
        </p:blipFill>
        <p:spPr>
          <a:xfrm>
            <a:off x="822960" y="1371600"/>
            <a:ext cx="10515600" cy="4617720"/>
          </a:xfrm>
          <a:prstGeom prst="rect">
            <a:avLst/>
          </a:prstGeom>
          <a:noFill/>
          <a:ln>
            <a:noFill/>
          </a:ln>
        </p:spPr>
      </p:pic>
      <p:sp>
        <p:nvSpPr>
          <p:cNvPr id="125" name="Google Shape;125;p8"/>
          <p:cNvSpPr/>
          <p:nvPr/>
        </p:nvSpPr>
        <p:spPr>
          <a:xfrm>
            <a:off x="822960" y="6044184"/>
            <a:ext cx="10515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The OROS 500 graded into four stages — clickable stage schematics, membership list, CSV export. Same figures the broadcast reports: one journal, three surfaces.</a:t>
            </a:r>
            <a:endParaRPr sz="105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130"/>
        <p:cNvGrpSpPr/>
        <p:nvPr/>
      </p:nvGrpSpPr>
      <p:grpSpPr>
        <a:xfrm>
          <a:off x="0" y="0"/>
          <a:ext cx="0" cy="0"/>
          <a:chOff x="0" y="0"/>
          <a:chExt cx="0" cy="0"/>
        </a:xfrm>
      </p:grpSpPr>
      <p:sp>
        <p:nvSpPr>
          <p:cNvPr id="131" name="Google Shape;131;p9"/>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132" name="Google Shape;132;p9"/>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6 · MVP — THE GATES</a:t>
            </a:r>
            <a:endParaRPr sz="1150" b="0" i="0" u="none" strike="noStrike" cap="none">
              <a:solidFill>
                <a:schemeClr val="dk1"/>
              </a:solidFill>
              <a:latin typeface="Calibri"/>
              <a:ea typeface="Calibri"/>
              <a:cs typeface="Calibri"/>
              <a:sym typeface="Calibri"/>
            </a:endParaRPr>
          </a:p>
        </p:txBody>
      </p:sp>
      <p:sp>
        <p:nvSpPr>
          <p:cNvPr id="133" name="Google Shape;133;p9"/>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dirty="0">
                <a:solidFill>
                  <a:srgbClr val="E6EDF3"/>
                </a:solidFill>
                <a:latin typeface="Calibri"/>
                <a:ea typeface="Calibri"/>
                <a:cs typeface="Calibri"/>
                <a:sym typeface="Calibri"/>
              </a:rPr>
              <a:t>Discipline You Can Point At: Both Gates Must Pass – RAG creating the rules</a:t>
            </a:r>
            <a:endParaRPr sz="2700" b="0" i="0" u="none" strike="noStrike" cap="none" dirty="0">
              <a:solidFill>
                <a:schemeClr val="dk1"/>
              </a:solidFill>
              <a:latin typeface="Calibri"/>
              <a:ea typeface="Calibri"/>
              <a:cs typeface="Calibri"/>
              <a:sym typeface="Calibri"/>
            </a:endParaRPr>
          </a:p>
        </p:txBody>
      </p:sp>
      <p:pic>
        <p:nvPicPr>
          <p:cNvPr id="134" name="Google Shape;134;p9" descr="image3.png"/>
          <p:cNvPicPr preferRelativeResize="0"/>
          <p:nvPr/>
        </p:nvPicPr>
        <p:blipFill rotWithShape="1">
          <a:blip r:embed="rId3">
            <a:alphaModFix/>
          </a:blip>
          <a:srcRect/>
          <a:stretch/>
        </p:blipFill>
        <p:spPr>
          <a:xfrm>
            <a:off x="822960" y="1371600"/>
            <a:ext cx="10515600" cy="4617720"/>
          </a:xfrm>
          <a:prstGeom prst="rect">
            <a:avLst/>
          </a:prstGeom>
          <a:noFill/>
          <a:ln>
            <a:noFill/>
          </a:ln>
        </p:spPr>
      </p:pic>
      <p:sp>
        <p:nvSpPr>
          <p:cNvPr id="135" name="Google Shape;135;p9"/>
          <p:cNvSpPr/>
          <p:nvPr/>
        </p:nvSpPr>
        <p:spPr>
          <a:xfrm>
            <a:off x="822960" y="6044184"/>
            <a:ext cx="10515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ABNB: Stage 2, bull probability 85% — and still not a BUY, because the volume gate failed. The system refuses good-looking names without proof of strength.</a:t>
            </a:r>
            <a:endParaRPr sz="105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140"/>
        <p:cNvGrpSpPr/>
        <p:nvPr/>
      </p:nvGrpSpPr>
      <p:grpSpPr>
        <a:xfrm>
          <a:off x="0" y="0"/>
          <a:ext cx="0" cy="0"/>
          <a:chOff x="0" y="0"/>
          <a:chExt cx="0" cy="0"/>
        </a:xfrm>
      </p:grpSpPr>
      <p:sp>
        <p:nvSpPr>
          <p:cNvPr id="141" name="Google Shape;141;p10"/>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142" name="Google Shape;142;p10"/>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6 · MVP — THE AGENTIC BUILD</a:t>
            </a:r>
            <a:endParaRPr sz="1150" b="0" i="0" u="none" strike="noStrike" cap="none">
              <a:solidFill>
                <a:schemeClr val="dk1"/>
              </a:solidFill>
              <a:latin typeface="Calibri"/>
              <a:ea typeface="Calibri"/>
              <a:cs typeface="Calibri"/>
              <a:sym typeface="Calibri"/>
            </a:endParaRPr>
          </a:p>
        </p:txBody>
      </p:sp>
      <p:sp>
        <p:nvSpPr>
          <p:cNvPr id="143" name="Google Shape;143;p10"/>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000" b="1" i="0" u="none" strike="noStrike" cap="none" dirty="0">
                <a:solidFill>
                  <a:srgbClr val="E6EDF3"/>
                </a:solidFill>
                <a:latin typeface="Calibri"/>
                <a:ea typeface="Calibri"/>
                <a:cs typeface="Calibri"/>
                <a:sym typeface="Calibri"/>
              </a:rPr>
              <a:t>Robo-Advisor · Regime-Aware, Multi-Strategy Construction –Agentic Orchestrator</a:t>
            </a:r>
            <a:endParaRPr sz="2000" b="0" i="0" u="none" strike="noStrike" cap="none" dirty="0">
              <a:solidFill>
                <a:schemeClr val="dk1"/>
              </a:solidFill>
              <a:latin typeface="Calibri"/>
              <a:ea typeface="Calibri"/>
              <a:cs typeface="Calibri"/>
              <a:sym typeface="Calibri"/>
            </a:endParaRPr>
          </a:p>
        </p:txBody>
      </p:sp>
      <p:pic>
        <p:nvPicPr>
          <p:cNvPr id="144" name="Google Shape;144;p10" descr="image7.png"/>
          <p:cNvPicPr preferRelativeResize="0"/>
          <p:nvPr/>
        </p:nvPicPr>
        <p:blipFill rotWithShape="1">
          <a:blip r:embed="rId3">
            <a:alphaModFix/>
          </a:blip>
          <a:srcRect/>
          <a:stretch/>
        </p:blipFill>
        <p:spPr>
          <a:xfrm>
            <a:off x="822960" y="1371600"/>
            <a:ext cx="10515600" cy="4617720"/>
          </a:xfrm>
          <a:prstGeom prst="rect">
            <a:avLst/>
          </a:prstGeom>
          <a:noFill/>
          <a:ln>
            <a:noFill/>
          </a:ln>
        </p:spPr>
      </p:pic>
      <p:sp>
        <p:nvSpPr>
          <p:cNvPr id="145" name="Google Shape;145;p10"/>
          <p:cNvSpPr/>
          <p:nvPr/>
        </p:nvSpPr>
        <p:spPr>
          <a:xfrm>
            <a:off x="822960" y="6044184"/>
            <a:ext cx="10515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One click: regime read, blend chosen, 12 positions selected and risk-sized, 33/100 risk score — journaled, with the bench (excluded names + reasons) underneath.</a:t>
            </a:r>
            <a:endParaRPr sz="105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150"/>
        <p:cNvGrpSpPr/>
        <p:nvPr/>
      </p:nvGrpSpPr>
      <p:grpSpPr>
        <a:xfrm>
          <a:off x="0" y="0"/>
          <a:ext cx="0" cy="0"/>
          <a:chOff x="0" y="0"/>
          <a:chExt cx="0" cy="0"/>
        </a:xfrm>
      </p:grpSpPr>
      <p:sp>
        <p:nvSpPr>
          <p:cNvPr id="151" name="Google Shape;151;p11"/>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152" name="Google Shape;152;p11"/>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6 · MVP — SAME MANDATE, TWO SCOUTS</a:t>
            </a:r>
            <a:endParaRPr sz="1150" b="0" i="0" u="none" strike="noStrike" cap="none">
              <a:solidFill>
                <a:schemeClr val="dk1"/>
              </a:solidFill>
              <a:latin typeface="Calibri"/>
              <a:ea typeface="Calibri"/>
              <a:cs typeface="Calibri"/>
              <a:sym typeface="Calibri"/>
            </a:endParaRPr>
          </a:p>
        </p:txBody>
      </p:sp>
      <p:sp>
        <p:nvSpPr>
          <p:cNvPr id="153" name="Google Shape;153;p11"/>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“Claude Asked for NVIDIA. The Arithmetic Said No.”</a:t>
            </a:r>
            <a:endParaRPr sz="2700" b="0" i="0" u="none" strike="noStrike" cap="none">
              <a:solidFill>
                <a:schemeClr val="dk1"/>
              </a:solidFill>
              <a:latin typeface="Calibri"/>
              <a:ea typeface="Calibri"/>
              <a:cs typeface="Calibri"/>
              <a:sym typeface="Calibri"/>
            </a:endParaRPr>
          </a:p>
        </p:txBody>
      </p:sp>
      <p:pic>
        <p:nvPicPr>
          <p:cNvPr id="154" name="Google Shape;154;p11" descr="quant_book.png"/>
          <p:cNvPicPr preferRelativeResize="0"/>
          <p:nvPr/>
        </p:nvPicPr>
        <p:blipFill rotWithShape="1">
          <a:blip r:embed="rId3">
            <a:alphaModFix/>
          </a:blip>
          <a:srcRect/>
          <a:stretch/>
        </p:blipFill>
        <p:spPr>
          <a:xfrm>
            <a:off x="502920" y="1371600"/>
            <a:ext cx="5532120" cy="3108960"/>
          </a:xfrm>
          <a:prstGeom prst="rect">
            <a:avLst/>
          </a:prstGeom>
          <a:noFill/>
          <a:ln>
            <a:noFill/>
          </a:ln>
        </p:spPr>
      </p:pic>
      <p:sp>
        <p:nvSpPr>
          <p:cNvPr id="155" name="Google Shape;155;p11"/>
          <p:cNvSpPr/>
          <p:nvPr/>
        </p:nvSpPr>
        <p:spPr>
          <a:xfrm>
            <a:off x="502920" y="4535424"/>
            <a:ext cx="55321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dirty="0">
                <a:solidFill>
                  <a:schemeClr val="bg1"/>
                </a:solidFill>
                <a:latin typeface="Calibri"/>
                <a:ea typeface="Calibri"/>
                <a:cs typeface="Calibri"/>
                <a:sym typeface="Calibri"/>
              </a:rPr>
              <a:t>RAG Based rules Tested</a:t>
            </a:r>
            <a:endParaRPr sz="1050" b="0" i="0" u="none" strike="noStrike" cap="none" dirty="0">
              <a:solidFill>
                <a:schemeClr val="bg1"/>
              </a:solidFill>
              <a:latin typeface="Calibri"/>
              <a:ea typeface="Calibri"/>
              <a:cs typeface="Calibri"/>
              <a:sym typeface="Calibri"/>
            </a:endParaRPr>
          </a:p>
        </p:txBody>
      </p:sp>
      <p:pic>
        <p:nvPicPr>
          <p:cNvPr id="156" name="Google Shape;156;p11" descr="claude_audition.png"/>
          <p:cNvPicPr preferRelativeResize="0"/>
          <p:nvPr/>
        </p:nvPicPr>
        <p:blipFill rotWithShape="1">
          <a:blip r:embed="rId4">
            <a:alphaModFix/>
          </a:blip>
          <a:srcRect/>
          <a:stretch/>
        </p:blipFill>
        <p:spPr>
          <a:xfrm>
            <a:off x="6172200" y="1371600"/>
            <a:ext cx="5532120" cy="3108960"/>
          </a:xfrm>
          <a:prstGeom prst="rect">
            <a:avLst/>
          </a:prstGeom>
          <a:noFill/>
          <a:ln>
            <a:noFill/>
          </a:ln>
        </p:spPr>
      </p:pic>
      <p:sp>
        <p:nvSpPr>
          <p:cNvPr id="157" name="Google Shape;157;p11"/>
          <p:cNvSpPr/>
          <p:nvPr/>
        </p:nvSpPr>
        <p:spPr>
          <a:xfrm>
            <a:off x="6172200" y="4535424"/>
            <a:ext cx="55321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Claude scout: 30 famous nominations — the gates elected 12, held 53% cash.</a:t>
            </a:r>
            <a:endParaRPr sz="1050" b="0" i="0" u="none" strike="noStrike" cap="none">
              <a:solidFill>
                <a:schemeClr val="dk1"/>
              </a:solidFill>
              <a:latin typeface="Calibri"/>
              <a:ea typeface="Calibri"/>
              <a:cs typeface="Calibri"/>
              <a:sym typeface="Calibri"/>
            </a:endParaRPr>
          </a:p>
        </p:txBody>
      </p:sp>
      <p:sp>
        <p:nvSpPr>
          <p:cNvPr id="158" name="Google Shape;158;p11"/>
          <p:cNvSpPr/>
          <p:nvPr/>
        </p:nvSpPr>
        <p:spPr>
          <a:xfrm>
            <a:off x="502920" y="4892040"/>
            <a:ext cx="1120140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250"/>
              <a:buFont typeface="Calibri"/>
              <a:buNone/>
            </a:pPr>
            <a:r>
              <a:rPr lang="en-US" sz="1250" b="0" i="1" u="none" strike="noStrike" cap="none">
                <a:solidFill>
                  <a:srgbClr val="E8A020"/>
                </a:solidFill>
                <a:latin typeface="Calibri"/>
                <a:ea typeface="Calibri"/>
                <a:cs typeface="Calibri"/>
                <a:sym typeface="Calibri"/>
              </a:rPr>
              <a:t>The LLM contributes salience — it knows what the world is excited about. The quant layer prices that excitement. The book is the intersection; the cash is the disagreement, quantified.</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163"/>
        <p:cNvGrpSpPr/>
        <p:nvPr/>
      </p:nvGrpSpPr>
      <p:grpSpPr>
        <a:xfrm>
          <a:off x="0" y="0"/>
          <a:ext cx="0" cy="0"/>
          <a:chOff x="0" y="0"/>
          <a:chExt cx="0" cy="0"/>
        </a:xfrm>
      </p:grpSpPr>
      <p:sp>
        <p:nvSpPr>
          <p:cNvPr id="164" name="Google Shape;164;p12"/>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165" name="Google Shape;165;p12"/>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6 · MVP — THE HISTORIAN</a:t>
            </a:r>
            <a:endParaRPr sz="1150" b="0" i="0" u="none" strike="noStrike" cap="none">
              <a:solidFill>
                <a:schemeClr val="dk1"/>
              </a:solidFill>
              <a:latin typeface="Calibri"/>
              <a:ea typeface="Calibri"/>
              <a:cs typeface="Calibri"/>
              <a:sym typeface="Calibri"/>
            </a:endParaRPr>
          </a:p>
        </p:txBody>
      </p:sp>
      <p:sp>
        <p:nvSpPr>
          <p:cNvPr id="166" name="Google Shape;166;p12"/>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Ten Years of Context Makes Strange Days Announce Themselves</a:t>
            </a:r>
            <a:endParaRPr sz="2700" b="0" i="0" u="none" strike="noStrike" cap="none">
              <a:solidFill>
                <a:schemeClr val="dk1"/>
              </a:solidFill>
              <a:latin typeface="Calibri"/>
              <a:ea typeface="Calibri"/>
              <a:cs typeface="Calibri"/>
              <a:sym typeface="Calibri"/>
            </a:endParaRPr>
          </a:p>
        </p:txBody>
      </p:sp>
      <p:pic>
        <p:nvPicPr>
          <p:cNvPr id="167" name="Google Shape;167;p12" descr="image10.png"/>
          <p:cNvPicPr preferRelativeResize="0"/>
          <p:nvPr/>
        </p:nvPicPr>
        <p:blipFill rotWithShape="1">
          <a:blip r:embed="rId3">
            <a:alphaModFix/>
          </a:blip>
          <a:srcRect/>
          <a:stretch/>
        </p:blipFill>
        <p:spPr>
          <a:xfrm>
            <a:off x="502920" y="1371600"/>
            <a:ext cx="6035040" cy="3383280"/>
          </a:xfrm>
          <a:prstGeom prst="rect">
            <a:avLst/>
          </a:prstGeom>
          <a:noFill/>
          <a:ln>
            <a:noFill/>
          </a:ln>
        </p:spPr>
      </p:pic>
      <p:sp>
        <p:nvSpPr>
          <p:cNvPr id="168" name="Google Shape;168;p12"/>
          <p:cNvSpPr/>
          <p:nvPr/>
        </p:nvSpPr>
        <p:spPr>
          <a:xfrm>
            <a:off x="502920" y="4809744"/>
            <a:ext cx="60350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Overhead resistance graded A+ — ten years of price history locate every ceiling of trapped supply.</a:t>
            </a:r>
            <a:endParaRPr sz="1050" b="0" i="0" u="none" strike="noStrike" cap="none">
              <a:solidFill>
                <a:schemeClr val="dk1"/>
              </a:solidFill>
              <a:latin typeface="Calibri"/>
              <a:ea typeface="Calibri"/>
              <a:cs typeface="Calibri"/>
              <a:sym typeface="Calibri"/>
            </a:endParaRPr>
          </a:p>
        </p:txBody>
      </p:sp>
      <p:pic>
        <p:nvPicPr>
          <p:cNvPr id="169" name="Google Shape;169;p12" descr="image11.png"/>
          <p:cNvPicPr preferRelativeResize="0"/>
          <p:nvPr/>
        </p:nvPicPr>
        <p:blipFill rotWithShape="1">
          <a:blip r:embed="rId4">
            <a:alphaModFix/>
          </a:blip>
          <a:srcRect/>
          <a:stretch/>
        </p:blipFill>
        <p:spPr>
          <a:xfrm>
            <a:off x="6675120" y="1371600"/>
            <a:ext cx="5029200" cy="3383280"/>
          </a:xfrm>
          <a:prstGeom prst="rect">
            <a:avLst/>
          </a:prstGeom>
          <a:noFill/>
          <a:ln>
            <a:noFill/>
          </a:ln>
        </p:spPr>
      </p:pic>
      <p:sp>
        <p:nvSpPr>
          <p:cNvPr id="170" name="Google Shape;170;p12"/>
          <p:cNvSpPr/>
          <p:nvPr/>
        </p:nvSpPr>
        <p:spPr>
          <a:xfrm>
            <a:off x="6675120" y="4809744"/>
            <a:ext cx="50292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Calendar context: 46 years of seasonality — including the presidential-cycle read for 2026.</a:t>
            </a:r>
            <a:endParaRPr sz="1050" b="0" i="0" u="none" strike="noStrike" cap="none">
              <a:solidFill>
                <a:schemeClr val="dk1"/>
              </a:solidFill>
              <a:latin typeface="Calibri"/>
              <a:ea typeface="Calibri"/>
              <a:cs typeface="Calibri"/>
              <a:sym typeface="Calibri"/>
            </a:endParaRPr>
          </a:p>
        </p:txBody>
      </p:sp>
      <p:sp>
        <p:nvSpPr>
          <p:cNvPr id="171" name="Google Shape;171;p12"/>
          <p:cNvSpPr/>
          <p:nvPr/>
        </p:nvSpPr>
        <p:spPr>
          <a:xfrm>
            <a:off x="502920" y="5120640"/>
            <a:ext cx="11201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250"/>
              <a:buFont typeface="Calibri"/>
              <a:buNone/>
            </a:pPr>
            <a:r>
              <a:rPr lang="en-US" sz="1250" b="0" i="1" u="none" strike="noStrike" cap="none">
                <a:solidFill>
                  <a:srgbClr val="E8A020"/>
                </a:solidFill>
                <a:latin typeface="Calibri"/>
                <a:ea typeface="Calibri"/>
                <a:cs typeface="Calibri"/>
                <a:sym typeface="Calibri"/>
              </a:rPr>
              <a:t>When today breaks from a decade of normal, the outlier is visible — the Historian is how a scanner earns the word 'research'.</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176"/>
        <p:cNvGrpSpPr/>
        <p:nvPr/>
      </p:nvGrpSpPr>
      <p:grpSpPr>
        <a:xfrm>
          <a:off x="0" y="0"/>
          <a:ext cx="0" cy="0"/>
          <a:chOff x="0" y="0"/>
          <a:chExt cx="0" cy="0"/>
        </a:xfrm>
      </p:grpSpPr>
      <p:sp>
        <p:nvSpPr>
          <p:cNvPr id="177" name="Google Shape;177;p13"/>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178" name="Google Shape;178;p13"/>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dirty="0">
                <a:solidFill>
                  <a:srgbClr val="E8A020"/>
                </a:solidFill>
                <a:latin typeface="Calibri"/>
                <a:ea typeface="Calibri"/>
                <a:cs typeface="Calibri"/>
                <a:sym typeface="Calibri"/>
              </a:rPr>
              <a:t>SECTION 5 · DATA SOURCES – Agentic Specialist RAG to scrape  SEC sources, Yahoo, Finance</a:t>
            </a:r>
            <a:endParaRPr sz="1150" b="0" i="0" u="none" strike="noStrike" cap="none" dirty="0">
              <a:solidFill>
                <a:schemeClr val="dk1"/>
              </a:solidFill>
              <a:latin typeface="Calibri"/>
              <a:ea typeface="Calibri"/>
              <a:cs typeface="Calibri"/>
              <a:sym typeface="Calibri"/>
            </a:endParaRPr>
          </a:p>
        </p:txBody>
      </p:sp>
      <p:sp>
        <p:nvSpPr>
          <p:cNvPr id="179" name="Google Shape;179;p13"/>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Where Every Number Comes From — and the System Cites It Itself</a:t>
            </a:r>
            <a:endParaRPr sz="2700" b="0" i="0" u="none" strike="noStrike" cap="none">
              <a:solidFill>
                <a:schemeClr val="dk1"/>
              </a:solidFill>
              <a:latin typeface="Calibri"/>
              <a:ea typeface="Calibri"/>
              <a:cs typeface="Calibri"/>
              <a:sym typeface="Calibri"/>
            </a:endParaRPr>
          </a:p>
        </p:txBody>
      </p:sp>
      <p:pic>
        <p:nvPicPr>
          <p:cNvPr id="180" name="Google Shape;180;p13" descr="shot_sources.png"/>
          <p:cNvPicPr preferRelativeResize="0"/>
          <p:nvPr/>
        </p:nvPicPr>
        <p:blipFill rotWithShape="1">
          <a:blip r:embed="rId3">
            <a:alphaModFix/>
          </a:blip>
          <a:srcRect/>
          <a:stretch/>
        </p:blipFill>
        <p:spPr>
          <a:xfrm>
            <a:off x="502920" y="1325880"/>
            <a:ext cx="6126480" cy="3456432"/>
          </a:xfrm>
          <a:prstGeom prst="rect">
            <a:avLst/>
          </a:prstGeom>
          <a:noFill/>
          <a:ln>
            <a:noFill/>
          </a:ln>
        </p:spPr>
      </p:pic>
      <p:sp>
        <p:nvSpPr>
          <p:cNvPr id="181" name="Google Shape;181;p13"/>
          <p:cNvSpPr/>
          <p:nvPr/>
        </p:nvSpPr>
        <p:spPr>
          <a:xfrm>
            <a:off x="502920" y="4837176"/>
            <a:ext cx="61264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Every research memo ends like this: numbered footnotes, source provenance, and live SEC EDGAR links — written by the agents, per claim.</a:t>
            </a:r>
            <a:endParaRPr sz="1050" b="0" i="0" u="none" strike="noStrike" cap="none">
              <a:solidFill>
                <a:schemeClr val="dk1"/>
              </a:solidFill>
              <a:latin typeface="Calibri"/>
              <a:ea typeface="Calibri"/>
              <a:cs typeface="Calibri"/>
              <a:sym typeface="Calibri"/>
            </a:endParaRPr>
          </a:p>
        </p:txBody>
      </p:sp>
      <p:sp>
        <p:nvSpPr>
          <p:cNvPr id="182" name="Google Shape;182;p13"/>
          <p:cNvSpPr/>
          <p:nvPr/>
        </p:nvSpPr>
        <p:spPr>
          <a:xfrm>
            <a:off x="6812280" y="1325880"/>
            <a:ext cx="4892040" cy="4023360"/>
          </a:xfrm>
          <a:prstGeom prst="roundRect">
            <a:avLst>
              <a:gd name="adj" fmla="val 1818"/>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13"/>
          <p:cNvSpPr/>
          <p:nvPr/>
        </p:nvSpPr>
        <p:spPr>
          <a:xfrm>
            <a:off x="6995160" y="1444752"/>
            <a:ext cx="457200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1150"/>
              <a:buFont typeface="Calibri"/>
              <a:buNone/>
            </a:pPr>
            <a:r>
              <a:rPr lang="en-US" sz="1150" b="1" i="0" u="none" strike="noStrike" cap="none">
                <a:solidFill>
                  <a:srgbClr val="58A6FF"/>
                </a:solidFill>
                <a:latin typeface="Calibri"/>
                <a:ea typeface="Calibri"/>
                <a:cs typeface="Calibri"/>
                <a:sym typeface="Calibri"/>
              </a:rPr>
              <a:t>STRUCTURED</a:t>
            </a:r>
            <a:endParaRPr sz="1150" b="0" i="0" u="none" strike="noStrike" cap="none">
              <a:solidFill>
                <a:schemeClr val="dk1"/>
              </a:solidFill>
              <a:latin typeface="Calibri"/>
              <a:ea typeface="Calibri"/>
              <a:cs typeface="Calibri"/>
              <a:sym typeface="Calibri"/>
            </a:endParaRPr>
          </a:p>
        </p:txBody>
      </p:sp>
      <p:sp>
        <p:nvSpPr>
          <p:cNvPr id="184" name="Google Shape;184;p13"/>
          <p:cNvSpPr/>
          <p:nvPr/>
        </p:nvSpPr>
        <p:spPr>
          <a:xfrm>
            <a:off x="6995160" y="1719072"/>
            <a:ext cx="4572000" cy="1051560"/>
          </a:xfrm>
          <a:prstGeom prst="rect">
            <a:avLst/>
          </a:prstGeom>
          <a:noFill/>
          <a:ln>
            <a:noFill/>
          </a:ln>
        </p:spPr>
        <p:txBody>
          <a:bodyPr spcFirstLastPara="1" wrap="square" lIns="0" tIns="0" rIns="0" bIns="0" anchor="ctr" anchorCtr="0">
            <a:noAutofit/>
          </a:bodyPr>
          <a:lstStyle/>
          <a:p>
            <a:pPr marL="0" marR="0" lvl="0" indent="0" algn="l" rtl="0">
              <a:lnSpc>
                <a:spcPct val="115000"/>
              </a:lnSpc>
              <a:spcBef>
                <a:spcPts val="0"/>
              </a:spcBef>
              <a:spcAft>
                <a:spcPts val="0"/>
              </a:spcAft>
              <a:buClr>
                <a:srgbClr val="E6EDF3"/>
              </a:buClr>
              <a:buSzPts val="1050"/>
              <a:buFont typeface="Calibri"/>
              <a:buNone/>
            </a:pPr>
            <a:r>
              <a:rPr lang="en-US" sz="1050" b="0" i="0" u="none" strike="noStrike" cap="none">
                <a:solidFill>
                  <a:srgbClr val="E6EDF3"/>
                </a:solidFill>
                <a:latin typeface="Calibri"/>
                <a:ea typeface="Calibri"/>
                <a:cs typeface="Calibri"/>
                <a:sym typeface="Calibri"/>
              </a:rPr>
              <a:t>SEC EDGAR — XBRL financial facts + 10-K filings (rate-limited, cached, compliant User-Agent) · Nasdaq Trader listings + SEC ticker map (~8,000 symbols → the OROS 500) · Yahoo Finance daily prices, whole universe, cached nightly · FRED macro series · VIX</a:t>
            </a:r>
            <a:endParaRPr sz="1050" b="0" i="0" u="none" strike="noStrike" cap="none">
              <a:solidFill>
                <a:schemeClr val="dk1"/>
              </a:solidFill>
              <a:latin typeface="Calibri"/>
              <a:ea typeface="Calibri"/>
              <a:cs typeface="Calibri"/>
              <a:sym typeface="Calibri"/>
            </a:endParaRPr>
          </a:p>
        </p:txBody>
      </p:sp>
      <p:sp>
        <p:nvSpPr>
          <p:cNvPr id="185" name="Google Shape;185;p13"/>
          <p:cNvSpPr/>
          <p:nvPr/>
        </p:nvSpPr>
        <p:spPr>
          <a:xfrm>
            <a:off x="6995160" y="2852928"/>
            <a:ext cx="457200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1150"/>
              <a:buFont typeface="Calibri"/>
              <a:buNone/>
            </a:pPr>
            <a:r>
              <a:rPr lang="en-US" sz="1150" b="1" i="0" u="none" strike="noStrike" cap="none">
                <a:solidFill>
                  <a:srgbClr val="58A6FF"/>
                </a:solidFill>
                <a:latin typeface="Calibri"/>
                <a:ea typeface="Calibri"/>
                <a:cs typeface="Calibri"/>
                <a:sym typeface="Calibri"/>
              </a:rPr>
              <a:t>UNSTRUCTURED</a:t>
            </a:r>
            <a:endParaRPr sz="1150" b="0" i="0" u="none" strike="noStrike" cap="none">
              <a:solidFill>
                <a:schemeClr val="dk1"/>
              </a:solidFill>
              <a:latin typeface="Calibri"/>
              <a:ea typeface="Calibri"/>
              <a:cs typeface="Calibri"/>
              <a:sym typeface="Calibri"/>
            </a:endParaRPr>
          </a:p>
        </p:txBody>
      </p:sp>
      <p:sp>
        <p:nvSpPr>
          <p:cNvPr id="186" name="Google Shape;186;p13"/>
          <p:cNvSpPr/>
          <p:nvPr/>
        </p:nvSpPr>
        <p:spPr>
          <a:xfrm>
            <a:off x="6995160" y="3127248"/>
            <a:ext cx="4572000" cy="868680"/>
          </a:xfrm>
          <a:prstGeom prst="rect">
            <a:avLst/>
          </a:prstGeom>
          <a:noFill/>
          <a:ln>
            <a:noFill/>
          </a:ln>
        </p:spPr>
        <p:txBody>
          <a:bodyPr spcFirstLastPara="1" wrap="square" lIns="0" tIns="0" rIns="0" bIns="0" anchor="ctr" anchorCtr="0">
            <a:noAutofit/>
          </a:bodyPr>
          <a:lstStyle/>
          <a:p>
            <a:pPr marL="0" marR="0" lvl="0" indent="0" algn="l" rtl="0">
              <a:lnSpc>
                <a:spcPct val="115000"/>
              </a:lnSpc>
              <a:spcBef>
                <a:spcPts val="0"/>
              </a:spcBef>
              <a:spcAft>
                <a:spcPts val="0"/>
              </a:spcAft>
              <a:buClr>
                <a:srgbClr val="E6EDF3"/>
              </a:buClr>
              <a:buSzPts val="1050"/>
              <a:buFont typeface="Calibri"/>
              <a:buNone/>
            </a:pPr>
            <a:r>
              <a:rPr lang="en-US" sz="1050" b="0" i="0" u="none" strike="noStrike" cap="none">
                <a:solidFill>
                  <a:srgbClr val="E6EDF3"/>
                </a:solidFill>
                <a:latin typeface="Calibri"/>
                <a:ea typeface="Calibri"/>
                <a:cs typeface="Calibri"/>
                <a:sym typeface="Calibri"/>
              </a:rPr>
              <a:t>10-K text, chunked section-aware into a ChromaDB vector store (RAG: Items 1, 1A, 7) · news headlines scored by VADER sentiment (Alpha Vantage optional, quota-gated) · StockTwits social attention — the 'crowded' flag</a:t>
            </a:r>
            <a:endParaRPr sz="1050" b="0" i="0" u="none" strike="noStrike" cap="none">
              <a:solidFill>
                <a:schemeClr val="dk1"/>
              </a:solidFill>
              <a:latin typeface="Calibri"/>
              <a:ea typeface="Calibri"/>
              <a:cs typeface="Calibri"/>
              <a:sym typeface="Calibri"/>
            </a:endParaRPr>
          </a:p>
        </p:txBody>
      </p:sp>
      <p:sp>
        <p:nvSpPr>
          <p:cNvPr id="187" name="Google Shape;187;p13"/>
          <p:cNvSpPr/>
          <p:nvPr/>
        </p:nvSpPr>
        <p:spPr>
          <a:xfrm>
            <a:off x="6995160" y="4069080"/>
            <a:ext cx="457200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STATED LIMITS</a:t>
            </a:r>
            <a:endParaRPr sz="1150" b="0" i="0" u="none" strike="noStrike" cap="none">
              <a:solidFill>
                <a:schemeClr val="dk1"/>
              </a:solidFill>
              <a:latin typeface="Calibri"/>
              <a:ea typeface="Calibri"/>
              <a:cs typeface="Calibri"/>
              <a:sym typeface="Calibri"/>
            </a:endParaRPr>
          </a:p>
        </p:txBody>
      </p:sp>
      <p:sp>
        <p:nvSpPr>
          <p:cNvPr id="188" name="Google Shape;188;p13"/>
          <p:cNvSpPr/>
          <p:nvPr/>
        </p:nvSpPr>
        <p:spPr>
          <a:xfrm>
            <a:off x="6995160" y="4343400"/>
            <a:ext cx="4572000" cy="868680"/>
          </a:xfrm>
          <a:prstGeom prst="rect">
            <a:avLst/>
          </a:prstGeom>
          <a:noFill/>
          <a:ln>
            <a:noFill/>
          </a:ln>
        </p:spPr>
        <p:txBody>
          <a:bodyPr spcFirstLastPara="1" wrap="square" lIns="0" tIns="0" rIns="0" bIns="0" anchor="ctr" anchorCtr="0">
            <a:noAutofit/>
          </a:bodyPr>
          <a:lstStyle/>
          <a:p>
            <a:pPr marL="0" marR="0" lvl="0" indent="0" algn="l" rtl="0">
              <a:lnSpc>
                <a:spcPct val="115000"/>
              </a:lnSpc>
              <a:spcBef>
                <a:spcPts val="0"/>
              </a:spcBef>
              <a:spcAft>
                <a:spcPts val="0"/>
              </a:spcAft>
              <a:buClr>
                <a:srgbClr val="E6EDF3"/>
              </a:buClr>
              <a:buSzPts val="1050"/>
              <a:buFont typeface="Calibri"/>
              <a:buNone/>
            </a:pPr>
            <a:r>
              <a:rPr lang="en-US" sz="1050" b="0" i="0" u="none" strike="noStrike" cap="none">
                <a:solidFill>
                  <a:srgbClr val="E6EDF3"/>
                </a:solidFill>
                <a:latin typeface="Calibri"/>
                <a:ea typeface="Calibri"/>
                <a:cs typeface="Calibri"/>
                <a:sym typeface="Calibri"/>
              </a:rPr>
              <a:t>Free-tier quotes can lag 15+ minutes · fundamentals arrive on filing lag · news quotas fall back to VADER · strategy books inform priors — attribution only, no text reproduced</a:t>
            </a:r>
            <a:endParaRPr sz="1050" b="0" i="0" u="none" strike="noStrike" cap="none">
              <a:solidFill>
                <a:schemeClr val="dk1"/>
              </a:solidFill>
              <a:latin typeface="Calibri"/>
              <a:ea typeface="Calibri"/>
              <a:cs typeface="Calibri"/>
              <a:sym typeface="Calibri"/>
            </a:endParaRPr>
          </a:p>
        </p:txBody>
      </p:sp>
      <p:sp>
        <p:nvSpPr>
          <p:cNvPr id="189" name="Google Shape;189;p13"/>
          <p:cNvSpPr/>
          <p:nvPr/>
        </p:nvSpPr>
        <p:spPr>
          <a:xfrm>
            <a:off x="502920" y="5532120"/>
            <a:ext cx="11201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250"/>
              <a:buFont typeface="Calibri"/>
              <a:buNone/>
            </a:pPr>
            <a:r>
              <a:rPr lang="en-US" sz="1250" b="1" i="1" u="none" strike="noStrike" cap="none">
                <a:solidFill>
                  <a:srgbClr val="E8A020"/>
                </a:solidFill>
                <a:latin typeface="Calibri"/>
                <a:ea typeface="Calibri"/>
                <a:cs typeface="Calibri"/>
                <a:sym typeface="Calibri"/>
              </a:rPr>
              <a:t>The provenance rule: no number is spoken on any surface that is not journaled first — and no claim appears in a memo without a footnote.</a:t>
            </a:r>
            <a:endParaRPr sz="1250" b="0" i="0" u="none" strike="noStrike" cap="none">
              <a:solidFill>
                <a:schemeClr val="dk1"/>
              </a:solidFill>
              <a:latin typeface="Calibri"/>
              <a:ea typeface="Calibri"/>
              <a:cs typeface="Calibri"/>
              <a:sym typeface="Calibri"/>
            </a:endParaRPr>
          </a:p>
        </p:txBody>
      </p:sp>
      <p:sp>
        <p:nvSpPr>
          <p:cNvPr id="190" name="Google Shape;190;p13"/>
          <p:cNvSpPr/>
          <p:nvPr/>
        </p:nvSpPr>
        <p:spPr>
          <a:xfrm>
            <a:off x="502920" y="6199632"/>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7681"/>
              </a:buClr>
              <a:buSzPts val="800"/>
              <a:buFont typeface="Calibri"/>
              <a:buNone/>
            </a:pPr>
            <a:r>
              <a:rPr lang="en-US" sz="800" b="0" i="1" u="none" strike="noStrike" cap="none">
                <a:solidFill>
                  <a:srgbClr val="6E7681"/>
                </a:solidFill>
                <a:latin typeface="Calibri"/>
                <a:ea typeface="Calibri"/>
                <a:cs typeface="Calibri"/>
                <a:sym typeface="Calibri"/>
              </a:rPr>
              <a:t>Primary sources: sec.gov/EDGAR · fred.stlouisfed.org · nasdaqtrader.com · Yahoo Finance · StockTwits · Alpha Vantage</a:t>
            </a:r>
            <a:endParaRPr sz="80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208"/>
        <p:cNvGrpSpPr/>
        <p:nvPr/>
      </p:nvGrpSpPr>
      <p:grpSpPr>
        <a:xfrm>
          <a:off x="0" y="0"/>
          <a:ext cx="0" cy="0"/>
          <a:chOff x="0" y="0"/>
          <a:chExt cx="0" cy="0"/>
        </a:xfrm>
      </p:grpSpPr>
      <p:sp>
        <p:nvSpPr>
          <p:cNvPr id="209" name="Google Shape;209;p15"/>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210" name="Google Shape;210;p15"/>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6 · MVP — THE CONVERSATION</a:t>
            </a:r>
            <a:endParaRPr sz="1150" b="0" i="0" u="none" strike="noStrike" cap="none">
              <a:solidFill>
                <a:schemeClr val="dk1"/>
              </a:solidFill>
              <a:latin typeface="Calibri"/>
              <a:ea typeface="Calibri"/>
              <a:cs typeface="Calibri"/>
              <a:sym typeface="Calibri"/>
            </a:endParaRPr>
          </a:p>
        </p:txBody>
      </p:sp>
      <p:sp>
        <p:nvSpPr>
          <p:cNvPr id="211" name="Google Shape;211;p15"/>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The Personalization Gap, Answered: An Advisor You Can Question</a:t>
            </a:r>
            <a:endParaRPr sz="2700" b="0" i="0" u="none" strike="noStrike" cap="none">
              <a:solidFill>
                <a:schemeClr val="dk1"/>
              </a:solidFill>
              <a:latin typeface="Calibri"/>
              <a:ea typeface="Calibri"/>
              <a:cs typeface="Calibri"/>
              <a:sym typeface="Calibri"/>
            </a:endParaRPr>
          </a:p>
        </p:txBody>
      </p:sp>
      <p:pic>
        <p:nvPicPr>
          <p:cNvPr id="212" name="Google Shape;212;p15" descr="image8.png"/>
          <p:cNvPicPr preferRelativeResize="0"/>
          <p:nvPr/>
        </p:nvPicPr>
        <p:blipFill rotWithShape="1">
          <a:blip r:embed="rId3">
            <a:alphaModFix/>
          </a:blip>
          <a:srcRect/>
          <a:stretch/>
        </p:blipFill>
        <p:spPr>
          <a:xfrm>
            <a:off x="822960" y="1325880"/>
            <a:ext cx="10515600" cy="4297680"/>
          </a:xfrm>
          <a:prstGeom prst="rect">
            <a:avLst/>
          </a:prstGeom>
          <a:noFill/>
          <a:ln>
            <a:noFill/>
          </a:ln>
        </p:spPr>
      </p:pic>
      <p:sp>
        <p:nvSpPr>
          <p:cNvPr id="213" name="Google Shape;213;p15"/>
          <p:cNvSpPr/>
          <p:nvPr/>
        </p:nvSpPr>
        <p:spPr>
          <a:xfrm>
            <a:off x="822960" y="5678424"/>
            <a:ext cx="10515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Ask OROS explains its own build — and draws its own line: 'What I Can't Say.'</a:t>
            </a:r>
            <a:endParaRPr sz="1050" b="0" i="0" u="none" strike="noStrike" cap="none">
              <a:solidFill>
                <a:schemeClr val="dk1"/>
              </a:solidFill>
              <a:latin typeface="Calibri"/>
              <a:ea typeface="Calibri"/>
              <a:cs typeface="Calibri"/>
              <a:sym typeface="Calibri"/>
            </a:endParaRPr>
          </a:p>
        </p:txBody>
      </p:sp>
      <p:sp>
        <p:nvSpPr>
          <p:cNvPr id="214" name="Google Shape;214;p15"/>
          <p:cNvSpPr/>
          <p:nvPr/>
        </p:nvSpPr>
        <p:spPr>
          <a:xfrm>
            <a:off x="822960" y="6053328"/>
            <a:ext cx="105156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250"/>
              <a:buFont typeface="Calibri"/>
              <a:buNone/>
            </a:pPr>
            <a:r>
              <a:rPr lang="en-US" sz="1250" b="0" i="1" u="none" strike="noStrike" cap="none">
                <a:solidFill>
                  <a:srgbClr val="E8A020"/>
                </a:solidFill>
                <a:latin typeface="Calibri"/>
                <a:ea typeface="Calibri"/>
                <a:cs typeface="Calibri"/>
                <a:sym typeface="Calibri"/>
              </a:rPr>
              <a:t>Robo-advisors ask you five questions once. OROS answers yours every day — and knows what it must not answer.</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195"/>
        <p:cNvGrpSpPr/>
        <p:nvPr/>
      </p:nvGrpSpPr>
      <p:grpSpPr>
        <a:xfrm>
          <a:off x="0" y="0"/>
          <a:ext cx="0" cy="0"/>
          <a:chOff x="0" y="0"/>
          <a:chExt cx="0" cy="0"/>
        </a:xfrm>
      </p:grpSpPr>
      <p:sp>
        <p:nvSpPr>
          <p:cNvPr id="196" name="Google Shape;196;p14"/>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197" name="Google Shape;197;p14"/>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4 · SOLUTION — TRANSPARENCY BY DESIGN</a:t>
            </a:r>
            <a:endParaRPr sz="1150" b="0" i="0" u="none" strike="noStrike" cap="none">
              <a:solidFill>
                <a:schemeClr val="dk1"/>
              </a:solidFill>
              <a:latin typeface="Calibri"/>
              <a:ea typeface="Calibri"/>
              <a:cs typeface="Calibri"/>
              <a:sym typeface="Calibri"/>
            </a:endParaRPr>
          </a:p>
        </p:txBody>
      </p:sp>
      <p:sp>
        <p:nvSpPr>
          <p:cNvPr id="198" name="Google Shape;198;p14"/>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lvl="0">
              <a:buClr>
                <a:srgbClr val="E6EDF3"/>
              </a:buClr>
              <a:buSzPts val="2700"/>
            </a:pPr>
            <a:r>
              <a:rPr lang="en-US" sz="2000" b="1" i="0" u="none" strike="noStrike" cap="none" dirty="0">
                <a:solidFill>
                  <a:srgbClr val="E6EDF3"/>
                </a:solidFill>
                <a:latin typeface="Calibri"/>
                <a:ea typeface="Calibri"/>
                <a:cs typeface="Calibri"/>
                <a:sym typeface="Calibri"/>
              </a:rPr>
              <a:t>The</a:t>
            </a:r>
            <a:r>
              <a:rPr lang="en-US" sz="2700" b="1" i="0" u="none" strike="noStrike" cap="none" dirty="0">
                <a:solidFill>
                  <a:srgbClr val="E6EDF3"/>
                </a:solidFill>
                <a:latin typeface="Calibri"/>
                <a:ea typeface="Calibri"/>
                <a:cs typeface="Calibri"/>
                <a:sym typeface="Calibri"/>
              </a:rPr>
              <a:t> </a:t>
            </a:r>
            <a:r>
              <a:rPr lang="en-US" b="1" i="0" u="none" strike="noStrike" cap="none" dirty="0">
                <a:solidFill>
                  <a:srgbClr val="E6EDF3"/>
                </a:solidFill>
                <a:latin typeface="Calibri"/>
                <a:ea typeface="Calibri"/>
                <a:cs typeface="Calibri"/>
                <a:sym typeface="Calibri"/>
              </a:rPr>
              <a:t>Agents Work With the Door Open</a:t>
            </a:r>
            <a:r>
              <a:rPr lang="en-US" b="1" i="0" u="none" strike="noStrike" cap="none" dirty="0">
                <a:solidFill>
                  <a:schemeClr val="bg1"/>
                </a:solidFill>
                <a:latin typeface="Calibri"/>
                <a:ea typeface="Calibri"/>
                <a:cs typeface="Calibri"/>
                <a:sym typeface="Calibri"/>
              </a:rPr>
              <a:t> – Robotic Process Automation</a:t>
            </a:r>
            <a:endParaRPr b="0" i="0" u="none" strike="noStrike" cap="none" dirty="0">
              <a:solidFill>
                <a:schemeClr val="bg1"/>
              </a:solidFill>
              <a:latin typeface="Calibri"/>
              <a:ea typeface="Calibri"/>
              <a:cs typeface="Calibri"/>
              <a:sym typeface="Calibri"/>
            </a:endParaRPr>
          </a:p>
        </p:txBody>
      </p:sp>
      <p:pic>
        <p:nvPicPr>
          <p:cNvPr id="199" name="Google Shape;199;p14" descr="image13.png"/>
          <p:cNvPicPr preferRelativeResize="0"/>
          <p:nvPr/>
        </p:nvPicPr>
        <p:blipFill rotWithShape="1">
          <a:blip r:embed="rId3">
            <a:alphaModFix/>
          </a:blip>
          <a:srcRect/>
          <a:stretch/>
        </p:blipFill>
        <p:spPr>
          <a:xfrm>
            <a:off x="548640" y="1371600"/>
            <a:ext cx="5532120" cy="3108960"/>
          </a:xfrm>
          <a:prstGeom prst="rect">
            <a:avLst/>
          </a:prstGeom>
          <a:noFill/>
          <a:ln>
            <a:noFill/>
          </a:ln>
        </p:spPr>
      </p:pic>
      <p:sp>
        <p:nvSpPr>
          <p:cNvPr id="200" name="Google Shape;200;p14"/>
          <p:cNvSpPr/>
          <p:nvPr/>
        </p:nvSpPr>
        <p:spPr>
          <a:xfrm>
            <a:off x="548640" y="4535424"/>
            <a:ext cx="55321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Inside the app: the Sector Specialist's tool calls render LIVE — every SEC lookup, every claim, visible as the agent works.</a:t>
            </a:r>
            <a:endParaRPr sz="1050" b="0" i="0" u="none" strike="noStrike" cap="none">
              <a:solidFill>
                <a:schemeClr val="dk1"/>
              </a:solidFill>
              <a:latin typeface="Calibri"/>
              <a:ea typeface="Calibri"/>
              <a:cs typeface="Calibri"/>
              <a:sym typeface="Calibri"/>
            </a:endParaRPr>
          </a:p>
        </p:txBody>
      </p:sp>
      <p:pic>
        <p:nvPicPr>
          <p:cNvPr id="201" name="Google Shape;201;p14" descr="yt_playlist.png"/>
          <p:cNvPicPr preferRelativeResize="0"/>
          <p:nvPr/>
        </p:nvPicPr>
        <p:blipFill rotWithShape="1">
          <a:blip r:embed="rId4">
            <a:alphaModFix/>
          </a:blip>
          <a:srcRect/>
          <a:stretch/>
        </p:blipFill>
        <p:spPr>
          <a:xfrm>
            <a:off x="6263640" y="1371600"/>
            <a:ext cx="5532120" cy="3108960"/>
          </a:xfrm>
          <a:prstGeom prst="rect">
            <a:avLst/>
          </a:prstGeom>
          <a:noFill/>
          <a:ln>
            <a:noFill/>
          </a:ln>
        </p:spPr>
      </p:pic>
      <p:sp>
        <p:nvSpPr>
          <p:cNvPr id="202" name="Google Shape;202;p14"/>
          <p:cNvSpPr/>
          <p:nvPr/>
        </p:nvSpPr>
        <p:spPr>
          <a:xfrm>
            <a:off x="6263640" y="4535424"/>
            <a:ext cx="55321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Outside the app: the public channel — every conclusion broadcast, timestamped, wins and quiet days alike, no edits, no deletions.</a:t>
            </a:r>
            <a:endParaRPr sz="1050" b="0" i="0" u="none" strike="noStrike" cap="none">
              <a:solidFill>
                <a:schemeClr val="dk1"/>
              </a:solidFill>
              <a:latin typeface="Calibri"/>
              <a:ea typeface="Calibri"/>
              <a:cs typeface="Calibri"/>
              <a:sym typeface="Calibri"/>
            </a:endParaRPr>
          </a:p>
        </p:txBody>
      </p:sp>
      <p:sp>
        <p:nvSpPr>
          <p:cNvPr id="203" name="Google Shape;203;p14"/>
          <p:cNvSpPr/>
          <p:nvPr/>
        </p:nvSpPr>
        <p:spPr>
          <a:xfrm>
            <a:off x="548640" y="5029200"/>
            <a:ext cx="11109960" cy="548640"/>
          </a:xfrm>
          <a:prstGeom prst="rect">
            <a:avLst/>
          </a:prstGeom>
          <a:noFill/>
          <a:ln>
            <a:noFill/>
          </a:ln>
        </p:spPr>
        <p:txBody>
          <a:bodyPr spcFirstLastPara="1" wrap="square" lIns="0" tIns="0" rIns="0" bIns="0" anchor="ctr" anchorCtr="0">
            <a:noAutofit/>
          </a:bodyPr>
          <a:lstStyle/>
          <a:p>
            <a:pPr marL="0" marR="0" lvl="0" indent="0" algn="l" rtl="0">
              <a:lnSpc>
                <a:spcPct val="120000"/>
              </a:lnSpc>
              <a:spcBef>
                <a:spcPts val="0"/>
              </a:spcBef>
              <a:spcAft>
                <a:spcPts val="0"/>
              </a:spcAft>
              <a:buClr>
                <a:srgbClr val="E8A020"/>
              </a:buClr>
              <a:buSzPts val="1300"/>
              <a:buFont typeface="Calibri"/>
              <a:buNone/>
            </a:pPr>
            <a:r>
              <a:rPr lang="en-US" sz="1300" b="1" i="1" u="none" strike="noStrike" cap="none">
                <a:solidFill>
                  <a:srgbClr val="E8A020"/>
                </a:solidFill>
                <a:latin typeface="Calibri"/>
                <a:ea typeface="Calibri"/>
                <a:cs typeface="Calibri"/>
                <a:sym typeface="Calibri"/>
              </a:rPr>
              <a:t>Openness is the product's trust engine: the workflow is watchable inside, the record is auditable outside. A robo-advisor asks for trust; OROS manufactures it by exposure.</a:t>
            </a:r>
            <a:endParaRPr sz="1300" b="0"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219"/>
        <p:cNvGrpSpPr/>
        <p:nvPr/>
      </p:nvGrpSpPr>
      <p:grpSpPr>
        <a:xfrm>
          <a:off x="0" y="0"/>
          <a:ext cx="0" cy="0"/>
          <a:chOff x="0" y="0"/>
          <a:chExt cx="0" cy="0"/>
        </a:xfrm>
      </p:grpSpPr>
      <p:sp>
        <p:nvSpPr>
          <p:cNvPr id="220" name="Google Shape;220;p16"/>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221" name="Google Shape;221;p16"/>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6 · MVP — THE DAILY REPORT</a:t>
            </a:r>
            <a:endParaRPr sz="1150" b="0" i="0" u="none" strike="noStrike" cap="none">
              <a:solidFill>
                <a:schemeClr val="dk1"/>
              </a:solidFill>
              <a:latin typeface="Calibri"/>
              <a:ea typeface="Calibri"/>
              <a:cs typeface="Calibri"/>
              <a:sym typeface="Calibri"/>
            </a:endParaRPr>
          </a:p>
        </p:txBody>
      </p:sp>
      <p:sp>
        <p:nvSpPr>
          <p:cNvPr id="222" name="Google Shape;222;p16"/>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One Email a Day: the Report the Video Must Match</a:t>
            </a:r>
            <a:endParaRPr sz="2700" b="0" i="0" u="none" strike="noStrike" cap="none">
              <a:solidFill>
                <a:schemeClr val="dk1"/>
              </a:solidFill>
              <a:latin typeface="Calibri"/>
              <a:ea typeface="Calibri"/>
              <a:cs typeface="Calibri"/>
              <a:sym typeface="Calibri"/>
            </a:endParaRPr>
          </a:p>
        </p:txBody>
      </p:sp>
      <p:pic>
        <p:nvPicPr>
          <p:cNvPr id="223" name="Google Shape;223;p16" descr="image2.png"/>
          <p:cNvPicPr preferRelativeResize="0"/>
          <p:nvPr/>
        </p:nvPicPr>
        <p:blipFill rotWithShape="1">
          <a:blip r:embed="rId3">
            <a:alphaModFix/>
          </a:blip>
          <a:srcRect/>
          <a:stretch/>
        </p:blipFill>
        <p:spPr>
          <a:xfrm>
            <a:off x="502920" y="1371600"/>
            <a:ext cx="6035040" cy="3246120"/>
          </a:xfrm>
          <a:prstGeom prst="rect">
            <a:avLst/>
          </a:prstGeom>
          <a:noFill/>
          <a:ln>
            <a:noFill/>
          </a:ln>
        </p:spPr>
      </p:pic>
      <p:sp>
        <p:nvSpPr>
          <p:cNvPr id="224" name="Google Shape;224;p16"/>
          <p:cNvSpPr/>
          <p:nvPr/>
        </p:nvSpPr>
        <p:spPr>
          <a:xfrm>
            <a:off x="502920" y="4672584"/>
            <a:ext cx="60350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The live scan panels — Confirmed BUYs, Watching, Late Stage 2 — feed the build…</a:t>
            </a:r>
            <a:endParaRPr sz="1050" b="0" i="0" u="none" strike="noStrike" cap="none">
              <a:solidFill>
                <a:schemeClr val="dk1"/>
              </a:solidFill>
              <a:latin typeface="Calibri"/>
              <a:ea typeface="Calibri"/>
              <a:cs typeface="Calibri"/>
              <a:sym typeface="Calibri"/>
            </a:endParaRPr>
          </a:p>
        </p:txBody>
      </p:sp>
      <p:pic>
        <p:nvPicPr>
          <p:cNvPr id="225" name="Google Shape;225;p16" descr="image16.png"/>
          <p:cNvPicPr preferRelativeResize="0"/>
          <p:nvPr/>
        </p:nvPicPr>
        <p:blipFill rotWithShape="1">
          <a:blip r:embed="rId4">
            <a:alphaModFix/>
          </a:blip>
          <a:srcRect/>
          <a:stretch/>
        </p:blipFill>
        <p:spPr>
          <a:xfrm>
            <a:off x="6675120" y="1371600"/>
            <a:ext cx="5029200" cy="3246120"/>
          </a:xfrm>
          <a:prstGeom prst="rect">
            <a:avLst/>
          </a:prstGeom>
          <a:noFill/>
          <a:ln>
            <a:noFill/>
          </a:ln>
        </p:spPr>
      </p:pic>
      <p:sp>
        <p:nvSpPr>
          <p:cNvPr id="226" name="Google Shape;226;p16"/>
          <p:cNvSpPr/>
          <p:nvPr/>
        </p:nvSpPr>
        <p:spPr>
          <a:xfrm>
            <a:off x="6675120" y="4672584"/>
            <a:ext cx="50292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…and the sign-off says the law: 'the same book, line for line, as this morning's emailed report.'</a:t>
            </a:r>
            <a:endParaRPr sz="1050" b="0" i="0" u="none" strike="noStrike" cap="none">
              <a:solidFill>
                <a:schemeClr val="dk1"/>
              </a:solidFill>
              <a:latin typeface="Calibri"/>
              <a:ea typeface="Calibri"/>
              <a:cs typeface="Calibri"/>
              <a:sym typeface="Calibri"/>
            </a:endParaRPr>
          </a:p>
        </p:txBody>
      </p:sp>
      <p:sp>
        <p:nvSpPr>
          <p:cNvPr id="227" name="Google Shape;227;p16"/>
          <p:cNvSpPr/>
          <p:nvPr/>
        </p:nvSpPr>
        <p:spPr>
          <a:xfrm>
            <a:off x="502920" y="4983480"/>
            <a:ext cx="1120140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250"/>
              <a:buFont typeface="Calibri"/>
              <a:buNone/>
            </a:pPr>
            <a:r>
              <a:rPr lang="en-US" sz="1250" b="0" i="1" u="none" strike="noStrike" cap="none">
                <a:solidFill>
                  <a:srgbClr val="E8A020"/>
                </a:solidFill>
                <a:latin typeface="Calibri"/>
                <a:ea typeface="Calibri"/>
                <a:cs typeface="Calibri"/>
                <a:sym typeface="Calibri"/>
              </a:rPr>
              <a:t>The uniformity rule, enforced in code: the diff is computed once and journaled; the report, the digest, the app, and the broadcast all read that one record. They cannot disagree.</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232"/>
        <p:cNvGrpSpPr/>
        <p:nvPr/>
      </p:nvGrpSpPr>
      <p:grpSpPr>
        <a:xfrm>
          <a:off x="0" y="0"/>
          <a:ext cx="0" cy="0"/>
          <a:chOff x="0" y="0"/>
          <a:chExt cx="0" cy="0"/>
        </a:xfrm>
      </p:grpSpPr>
      <p:sp>
        <p:nvSpPr>
          <p:cNvPr id="233" name="Google Shape;233;p17"/>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234" name="Google Shape;234;p17"/>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6 · MVP — THE BROADCAST</a:t>
            </a:r>
            <a:endParaRPr sz="1150" b="0" i="0" u="none" strike="noStrike" cap="none">
              <a:solidFill>
                <a:schemeClr val="dk1"/>
              </a:solidFill>
              <a:latin typeface="Calibri"/>
              <a:ea typeface="Calibri"/>
              <a:cs typeface="Calibri"/>
              <a:sym typeface="Calibri"/>
            </a:endParaRPr>
          </a:p>
        </p:txBody>
      </p:sp>
      <p:sp>
        <p:nvSpPr>
          <p:cNvPr id="235" name="Google Shape;235;p17"/>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Two Shows a Day, Fully Autonomous, Timestamped Forever</a:t>
            </a:r>
            <a:endParaRPr sz="2700" b="0" i="0" u="none" strike="noStrike" cap="none">
              <a:solidFill>
                <a:schemeClr val="dk1"/>
              </a:solidFill>
              <a:latin typeface="Calibri"/>
              <a:ea typeface="Calibri"/>
              <a:cs typeface="Calibri"/>
              <a:sym typeface="Calibri"/>
            </a:endParaRPr>
          </a:p>
        </p:txBody>
      </p:sp>
      <p:pic>
        <p:nvPicPr>
          <p:cNvPr id="236" name="Google Shape;236;p17" descr="toppick_scene.png"/>
          <p:cNvPicPr preferRelativeResize="0"/>
          <p:nvPr/>
        </p:nvPicPr>
        <p:blipFill rotWithShape="1">
          <a:blip r:embed="rId3">
            <a:alphaModFix/>
          </a:blip>
          <a:srcRect/>
          <a:stretch/>
        </p:blipFill>
        <p:spPr>
          <a:xfrm>
            <a:off x="502920" y="1371600"/>
            <a:ext cx="5806440" cy="3264408"/>
          </a:xfrm>
          <a:prstGeom prst="rect">
            <a:avLst/>
          </a:prstGeom>
          <a:noFill/>
          <a:ln>
            <a:noFill/>
          </a:ln>
        </p:spPr>
      </p:pic>
      <p:sp>
        <p:nvSpPr>
          <p:cNvPr id="237" name="Google Shape;237;p17"/>
          <p:cNvSpPr/>
          <p:nvPr/>
        </p:nvSpPr>
        <p:spPr>
          <a:xfrm>
            <a:off x="502920" y="4690872"/>
            <a:ext cx="58064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Morning Desk proposes: the Top Pick with its full trade plan in plain language…</a:t>
            </a:r>
            <a:endParaRPr sz="1050" b="0" i="0" u="none" strike="noStrike" cap="none">
              <a:solidFill>
                <a:schemeClr val="dk1"/>
              </a:solidFill>
              <a:latin typeface="Calibri"/>
              <a:ea typeface="Calibri"/>
              <a:cs typeface="Calibri"/>
              <a:sym typeface="Calibri"/>
            </a:endParaRPr>
          </a:p>
        </p:txBody>
      </p:sp>
      <p:pic>
        <p:nvPicPr>
          <p:cNvPr id="238" name="Google Shape;238;p17" descr="yt_analysis.png"/>
          <p:cNvPicPr preferRelativeResize="0"/>
          <p:nvPr/>
        </p:nvPicPr>
        <p:blipFill rotWithShape="1">
          <a:blip r:embed="rId4">
            <a:alphaModFix/>
          </a:blip>
          <a:srcRect/>
          <a:stretch/>
        </p:blipFill>
        <p:spPr>
          <a:xfrm>
            <a:off x="6492240" y="1371600"/>
            <a:ext cx="5212080" cy="2926080"/>
          </a:xfrm>
          <a:prstGeom prst="rect">
            <a:avLst/>
          </a:prstGeom>
          <a:noFill/>
          <a:ln>
            <a:noFill/>
          </a:ln>
        </p:spPr>
      </p:pic>
      <p:sp>
        <p:nvSpPr>
          <p:cNvPr id="239" name="Google Shape;239;p17"/>
          <p:cNvSpPr/>
          <p:nvPr/>
        </p:nvSpPr>
        <p:spPr>
          <a:xfrm>
            <a:off x="6492240" y="4352544"/>
            <a:ext cx="52120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…published to YouTube by the pipeline itself: three AI voices, captions, chapters.</a:t>
            </a:r>
            <a:endParaRPr sz="1050" b="0" i="0" u="none" strike="noStrike" cap="none">
              <a:solidFill>
                <a:schemeClr val="dk1"/>
              </a:solidFill>
              <a:latin typeface="Calibri"/>
              <a:ea typeface="Calibri"/>
              <a:cs typeface="Calibri"/>
              <a:sym typeface="Calibri"/>
            </a:endParaRPr>
          </a:p>
        </p:txBody>
      </p:sp>
      <p:sp>
        <p:nvSpPr>
          <p:cNvPr id="240" name="Google Shape;240;p17"/>
          <p:cNvSpPr/>
          <p:nvPr/>
        </p:nvSpPr>
        <p:spPr>
          <a:xfrm>
            <a:off x="502920" y="5349240"/>
            <a:ext cx="11201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250"/>
              <a:buFont typeface="Calibri"/>
              <a:buNone/>
            </a:pPr>
            <a:r>
              <a:rPr lang="en-US" sz="1250" b="0" i="1" u="none" strike="noStrike" cap="none">
                <a:solidFill>
                  <a:srgbClr val="E8A020"/>
                </a:solidFill>
                <a:latin typeface="Calibri"/>
                <a:ea typeface="Calibri"/>
                <a:cs typeface="Calibri"/>
                <a:sym typeface="Calibri"/>
              </a:rPr>
              <a:t>The channel is a lab notebook the public can audit: wins, losses, and 'no pick today' — all in the same voice, no edits, no deletions.</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245"/>
        <p:cNvGrpSpPr/>
        <p:nvPr/>
      </p:nvGrpSpPr>
      <p:grpSpPr>
        <a:xfrm>
          <a:off x="0" y="0"/>
          <a:ext cx="0" cy="0"/>
          <a:chOff x="0" y="0"/>
          <a:chExt cx="0" cy="0"/>
        </a:xfrm>
      </p:grpSpPr>
      <p:sp>
        <p:nvSpPr>
          <p:cNvPr id="246" name="Google Shape;246;p18"/>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247" name="Google Shape;247;p18"/>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6 · MVP — PERFORMANCE, JOURNALED</a:t>
            </a:r>
            <a:endParaRPr sz="1150" b="0" i="0" u="none" strike="noStrike" cap="none">
              <a:solidFill>
                <a:schemeClr val="dk1"/>
              </a:solidFill>
              <a:latin typeface="Calibri"/>
              <a:ea typeface="Calibri"/>
              <a:cs typeface="Calibri"/>
              <a:sym typeface="Calibri"/>
            </a:endParaRPr>
          </a:p>
        </p:txBody>
      </p:sp>
      <p:sp>
        <p:nvSpPr>
          <p:cNvPr id="248" name="Google Shape;248;p18"/>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The Race to July 29 — Append-Only, Nothing Restated</a:t>
            </a:r>
            <a:endParaRPr sz="2700" b="0" i="0" u="none" strike="noStrike" cap="none">
              <a:solidFill>
                <a:schemeClr val="dk1"/>
              </a:solidFill>
              <a:latin typeface="Calibri"/>
              <a:ea typeface="Calibri"/>
              <a:cs typeface="Calibri"/>
              <a:sym typeface="Calibri"/>
            </a:endParaRPr>
          </a:p>
        </p:txBody>
      </p:sp>
      <p:pic>
        <p:nvPicPr>
          <p:cNvPr id="249" name="Google Shape;249;p18" descr="race.png"/>
          <p:cNvPicPr preferRelativeResize="0"/>
          <p:nvPr/>
        </p:nvPicPr>
        <p:blipFill rotWithShape="1">
          <a:blip r:embed="rId3">
            <a:alphaModFix/>
          </a:blip>
          <a:srcRect/>
          <a:stretch/>
        </p:blipFill>
        <p:spPr>
          <a:xfrm>
            <a:off x="502920" y="1298448"/>
            <a:ext cx="8138160" cy="4572000"/>
          </a:xfrm>
          <a:prstGeom prst="rect">
            <a:avLst/>
          </a:prstGeom>
          <a:noFill/>
          <a:ln>
            <a:noFill/>
          </a:ln>
        </p:spPr>
      </p:pic>
      <p:sp>
        <p:nvSpPr>
          <p:cNvPr id="250" name="Google Shape;250;p18"/>
          <p:cNvSpPr/>
          <p:nvPr/>
        </p:nvSpPr>
        <p:spPr>
          <a:xfrm>
            <a:off x="8915400" y="1554480"/>
            <a:ext cx="36576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3FB950"/>
              </a:buClr>
              <a:buSzPts val="3600"/>
              <a:buFont typeface="Calibri"/>
              <a:buNone/>
            </a:pPr>
            <a:r>
              <a:rPr lang="en-US" sz="3600" b="1" i="0" u="none" strike="noStrike" cap="none">
                <a:solidFill>
                  <a:srgbClr val="3FB950"/>
                </a:solidFill>
                <a:latin typeface="Calibri"/>
                <a:ea typeface="Calibri"/>
                <a:cs typeface="Calibri"/>
                <a:sym typeface="Calibri"/>
              </a:rPr>
              <a:t>+3.98%</a:t>
            </a:r>
            <a:endParaRPr sz="3600" b="0" i="0" u="none" strike="noStrike" cap="none">
              <a:solidFill>
                <a:schemeClr val="dk1"/>
              </a:solidFill>
              <a:latin typeface="Calibri"/>
              <a:ea typeface="Calibri"/>
              <a:cs typeface="Calibri"/>
              <a:sym typeface="Calibri"/>
            </a:endParaRPr>
          </a:p>
        </p:txBody>
      </p:sp>
      <p:sp>
        <p:nvSpPr>
          <p:cNvPr id="251" name="Google Shape;251;p18"/>
          <p:cNvSpPr/>
          <p:nvPr/>
        </p:nvSpPr>
        <p:spPr>
          <a:xfrm>
            <a:off x="8915400" y="2240280"/>
            <a:ext cx="365760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Live OROS book — $103,977 (7/29 report)</a:t>
            </a:r>
            <a:endParaRPr sz="1050" b="0" i="0" u="none" strike="noStrike" cap="none">
              <a:solidFill>
                <a:schemeClr val="dk1"/>
              </a:solidFill>
              <a:latin typeface="Calibri"/>
              <a:ea typeface="Calibri"/>
              <a:cs typeface="Calibri"/>
              <a:sym typeface="Calibri"/>
            </a:endParaRPr>
          </a:p>
        </p:txBody>
      </p:sp>
      <p:sp>
        <p:nvSpPr>
          <p:cNvPr id="252" name="Google Shape;252;p18"/>
          <p:cNvSpPr/>
          <p:nvPr/>
        </p:nvSpPr>
        <p:spPr>
          <a:xfrm>
            <a:off x="8915400" y="2834640"/>
            <a:ext cx="36576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3600"/>
              <a:buFont typeface="Calibri"/>
              <a:buNone/>
            </a:pPr>
            <a:r>
              <a:rPr lang="en-US" sz="3600" b="1" i="0" u="none" strike="noStrike" cap="none">
                <a:solidFill>
                  <a:srgbClr val="58A6FF"/>
                </a:solidFill>
                <a:latin typeface="Calibri"/>
                <a:ea typeface="Calibri"/>
                <a:cs typeface="Calibri"/>
                <a:sym typeface="Calibri"/>
              </a:rPr>
              <a:t>+0.60%</a:t>
            </a:r>
            <a:endParaRPr sz="3600" b="0" i="0" u="none" strike="noStrike" cap="none">
              <a:solidFill>
                <a:schemeClr val="dk1"/>
              </a:solidFill>
              <a:latin typeface="Calibri"/>
              <a:ea typeface="Calibri"/>
              <a:cs typeface="Calibri"/>
              <a:sym typeface="Calibri"/>
            </a:endParaRPr>
          </a:p>
        </p:txBody>
      </p:sp>
      <p:sp>
        <p:nvSpPr>
          <p:cNvPr id="253" name="Google Shape;253;p18"/>
          <p:cNvSpPr/>
          <p:nvPr/>
        </p:nvSpPr>
        <p:spPr>
          <a:xfrm>
            <a:off x="8915400" y="3520440"/>
            <a:ext cx="365760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First Portfolio, frozen — $100,602</a:t>
            </a:r>
            <a:endParaRPr sz="1050" b="0" i="0" u="none" strike="noStrike" cap="none">
              <a:solidFill>
                <a:schemeClr val="dk1"/>
              </a:solidFill>
              <a:latin typeface="Calibri"/>
              <a:ea typeface="Calibri"/>
              <a:cs typeface="Calibri"/>
              <a:sym typeface="Calibri"/>
            </a:endParaRPr>
          </a:p>
        </p:txBody>
      </p:sp>
      <p:sp>
        <p:nvSpPr>
          <p:cNvPr id="254" name="Google Shape;254;p18"/>
          <p:cNvSpPr/>
          <p:nvPr/>
        </p:nvSpPr>
        <p:spPr>
          <a:xfrm>
            <a:off x="8915400" y="4114800"/>
            <a:ext cx="36576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85149"/>
              </a:buClr>
              <a:buSzPts val="3600"/>
              <a:buFont typeface="Calibri"/>
              <a:buNone/>
            </a:pPr>
            <a:r>
              <a:rPr lang="en-US" sz="3600" b="1" i="0" u="none" strike="noStrike" cap="none">
                <a:solidFill>
                  <a:srgbClr val="F85149"/>
                </a:solidFill>
                <a:latin typeface="Calibri"/>
                <a:ea typeface="Calibri"/>
                <a:cs typeface="Calibri"/>
                <a:sym typeface="Calibri"/>
              </a:rPr>
              <a:t>−1.39%</a:t>
            </a:r>
            <a:endParaRPr sz="3600" b="0" i="0" u="none" strike="noStrike" cap="none">
              <a:solidFill>
                <a:schemeClr val="dk1"/>
              </a:solidFill>
              <a:latin typeface="Calibri"/>
              <a:ea typeface="Calibri"/>
              <a:cs typeface="Calibri"/>
              <a:sym typeface="Calibri"/>
            </a:endParaRPr>
          </a:p>
        </p:txBody>
      </p:sp>
      <p:sp>
        <p:nvSpPr>
          <p:cNvPr id="255" name="Google Shape;255;p18"/>
          <p:cNvSpPr/>
          <p:nvPr/>
        </p:nvSpPr>
        <p:spPr>
          <a:xfrm>
            <a:off x="8915400" y="4800600"/>
            <a:ext cx="365760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SPY, same $100,000 — $98,613</a:t>
            </a:r>
            <a:endParaRPr sz="1050" b="0" i="0" u="none" strike="noStrike" cap="none">
              <a:solidFill>
                <a:schemeClr val="dk1"/>
              </a:solidFill>
              <a:latin typeface="Calibri"/>
              <a:ea typeface="Calibri"/>
              <a:cs typeface="Calibri"/>
              <a:sym typeface="Calibri"/>
            </a:endParaRPr>
          </a:p>
        </p:txBody>
      </p:sp>
      <p:sp>
        <p:nvSpPr>
          <p:cNvPr id="256" name="Google Shape;256;p18"/>
          <p:cNvSpPr/>
          <p:nvPr/>
        </p:nvSpPr>
        <p:spPr>
          <a:xfrm>
            <a:off x="502920" y="5852160"/>
            <a:ext cx="1120140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00"/>
              <a:buFont typeface="Calibri"/>
              <a:buNone/>
            </a:pPr>
            <a:r>
              <a:rPr lang="en-US" sz="1100" b="0" i="1" u="none" strike="noStrike" cap="none">
                <a:solidFill>
                  <a:srgbClr val="E8A020"/>
                </a:solidFill>
                <a:latin typeface="Calibri"/>
                <a:ea typeface="Calibri"/>
                <a:cs typeface="Calibri"/>
                <a:sym typeface="Calibri"/>
              </a:rPr>
              <a:t>17 sessions, one bull regime — this claims process integrity, not alpha. And the audit story: we found our own diff bug (48 phantom mentions), quantified it, fixed it, journaled it.</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261"/>
        <p:cNvGrpSpPr/>
        <p:nvPr/>
      </p:nvGrpSpPr>
      <p:grpSpPr>
        <a:xfrm>
          <a:off x="0" y="0"/>
          <a:ext cx="0" cy="0"/>
          <a:chOff x="0" y="0"/>
          <a:chExt cx="0" cy="0"/>
        </a:xfrm>
      </p:grpSpPr>
      <p:sp>
        <p:nvSpPr>
          <p:cNvPr id="262" name="Google Shape;262;p19"/>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263" name="Google Shape;263;p19"/>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7 · MARKET &amp; PROJECTED VALUE</a:t>
            </a:r>
            <a:endParaRPr sz="1150" b="0" i="0" u="none" strike="noStrike" cap="none">
              <a:solidFill>
                <a:schemeClr val="dk1"/>
              </a:solidFill>
              <a:latin typeface="Calibri"/>
              <a:ea typeface="Calibri"/>
              <a:cs typeface="Calibri"/>
              <a:sym typeface="Calibri"/>
            </a:endParaRPr>
          </a:p>
        </p:txBody>
      </p:sp>
      <p:sp>
        <p:nvSpPr>
          <p:cNvPr id="264" name="Google Shape;264;p19"/>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A Small Player in a $49 Billion Ocean</a:t>
            </a:r>
            <a:endParaRPr sz="2700" b="0" i="0" u="none" strike="noStrike" cap="none">
              <a:solidFill>
                <a:schemeClr val="dk1"/>
              </a:solidFill>
              <a:latin typeface="Calibri"/>
              <a:ea typeface="Calibri"/>
              <a:cs typeface="Calibri"/>
              <a:sym typeface="Calibri"/>
            </a:endParaRPr>
          </a:p>
        </p:txBody>
      </p:sp>
      <p:sp>
        <p:nvSpPr>
          <p:cNvPr id="265" name="Google Shape;265;p19"/>
          <p:cNvSpPr/>
          <p:nvPr/>
        </p:nvSpPr>
        <p:spPr>
          <a:xfrm>
            <a:off x="640080" y="1417320"/>
            <a:ext cx="36576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3FB950"/>
              </a:buClr>
              <a:buSzPts val="3600"/>
              <a:buFont typeface="Calibri"/>
              <a:buNone/>
            </a:pPr>
            <a:r>
              <a:rPr lang="en-US" sz="3600" b="1" i="0" u="none" strike="noStrike" cap="none">
                <a:solidFill>
                  <a:srgbClr val="3FB950"/>
                </a:solidFill>
                <a:latin typeface="Calibri"/>
                <a:ea typeface="Calibri"/>
                <a:cs typeface="Calibri"/>
                <a:sym typeface="Calibri"/>
              </a:rPr>
              <a:t>$0.70</a:t>
            </a:r>
            <a:endParaRPr sz="3600" b="0" i="0" u="none" strike="noStrike" cap="none">
              <a:solidFill>
                <a:schemeClr val="dk1"/>
              </a:solidFill>
              <a:latin typeface="Calibri"/>
              <a:ea typeface="Calibri"/>
              <a:cs typeface="Calibri"/>
              <a:sym typeface="Calibri"/>
            </a:endParaRPr>
          </a:p>
        </p:txBody>
      </p:sp>
      <p:sp>
        <p:nvSpPr>
          <p:cNvPr id="266" name="Google Shape;266;p19"/>
          <p:cNvSpPr/>
          <p:nvPr/>
        </p:nvSpPr>
        <p:spPr>
          <a:xfrm>
            <a:off x="640080" y="2103120"/>
            <a:ext cx="365760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July's journaled LLM spend — the system tracks its own bill (~$23/mo all-in)</a:t>
            </a:r>
            <a:endParaRPr sz="1050" b="0" i="0" u="none" strike="noStrike" cap="none">
              <a:solidFill>
                <a:schemeClr val="dk1"/>
              </a:solidFill>
              <a:latin typeface="Calibri"/>
              <a:ea typeface="Calibri"/>
              <a:cs typeface="Calibri"/>
              <a:sym typeface="Calibri"/>
            </a:endParaRPr>
          </a:p>
        </p:txBody>
      </p:sp>
      <p:sp>
        <p:nvSpPr>
          <p:cNvPr id="267" name="Google Shape;267;p19"/>
          <p:cNvSpPr/>
          <p:nvPr/>
        </p:nvSpPr>
        <p:spPr>
          <a:xfrm>
            <a:off x="4572000" y="1417320"/>
            <a:ext cx="36576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3600"/>
              <a:buFont typeface="Calibri"/>
              <a:buNone/>
            </a:pPr>
            <a:r>
              <a:rPr lang="en-US" sz="3600" b="1" i="0" u="none" strike="noStrike" cap="none">
                <a:solidFill>
                  <a:srgbClr val="E8A020"/>
                </a:solidFill>
                <a:latin typeface="Calibri"/>
                <a:ea typeface="Calibri"/>
                <a:cs typeface="Calibri"/>
                <a:sym typeface="Calibri"/>
              </a:rPr>
              <a:t>$27,660</a:t>
            </a:r>
            <a:endParaRPr sz="3600" b="0" i="0" u="none" strike="noStrike" cap="none">
              <a:solidFill>
                <a:schemeClr val="dk1"/>
              </a:solidFill>
              <a:latin typeface="Calibri"/>
              <a:ea typeface="Calibri"/>
              <a:cs typeface="Calibri"/>
              <a:sym typeface="Calibri"/>
            </a:endParaRPr>
          </a:p>
        </p:txBody>
      </p:sp>
      <p:sp>
        <p:nvSpPr>
          <p:cNvPr id="268" name="Google Shape;268;p19"/>
          <p:cNvSpPr/>
          <p:nvPr/>
        </p:nvSpPr>
        <p:spPr>
          <a:xfrm>
            <a:off x="4572000" y="2103120"/>
            <a:ext cx="365760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one Bloomberg seat/yr — OROS runs a year for ~1% of that</a:t>
            </a:r>
            <a:endParaRPr sz="1050" b="0" i="0" u="none" strike="noStrike" cap="none">
              <a:solidFill>
                <a:schemeClr val="dk1"/>
              </a:solidFill>
              <a:latin typeface="Calibri"/>
              <a:ea typeface="Calibri"/>
              <a:cs typeface="Calibri"/>
              <a:sym typeface="Calibri"/>
            </a:endParaRPr>
          </a:p>
        </p:txBody>
      </p:sp>
      <p:sp>
        <p:nvSpPr>
          <p:cNvPr id="269" name="Google Shape;269;p19"/>
          <p:cNvSpPr/>
          <p:nvPr/>
        </p:nvSpPr>
        <p:spPr>
          <a:xfrm>
            <a:off x="8549640" y="1417320"/>
            <a:ext cx="36576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3600"/>
              <a:buFont typeface="Calibri"/>
              <a:buNone/>
            </a:pPr>
            <a:r>
              <a:rPr lang="en-US" sz="3600" b="1" i="0" u="none" strike="noStrike" cap="none">
                <a:solidFill>
                  <a:srgbClr val="58A6FF"/>
                </a:solidFill>
                <a:latin typeface="Calibri"/>
                <a:ea typeface="Calibri"/>
                <a:cs typeface="Calibri"/>
                <a:sym typeface="Calibri"/>
              </a:rPr>
              <a:t>$49.2B</a:t>
            </a:r>
            <a:endParaRPr sz="3600" b="0" i="0" u="none" strike="noStrike" cap="none">
              <a:solidFill>
                <a:schemeClr val="dk1"/>
              </a:solidFill>
              <a:latin typeface="Calibri"/>
              <a:ea typeface="Calibri"/>
              <a:cs typeface="Calibri"/>
              <a:sym typeface="Calibri"/>
            </a:endParaRPr>
          </a:p>
        </p:txBody>
      </p:sp>
      <p:sp>
        <p:nvSpPr>
          <p:cNvPr id="270" name="Google Shape;270;p19"/>
          <p:cNvSpPr/>
          <p:nvPr/>
        </p:nvSpPr>
        <p:spPr>
          <a:xfrm>
            <a:off x="8549640" y="2103120"/>
            <a:ext cx="365760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2025 market-data spend (Burton-Taylor) + robo growing 29.6%/yr</a:t>
            </a:r>
            <a:endParaRPr sz="1050" b="0" i="0" u="none" strike="noStrike" cap="none">
              <a:solidFill>
                <a:schemeClr val="dk1"/>
              </a:solidFill>
              <a:latin typeface="Calibri"/>
              <a:ea typeface="Calibri"/>
              <a:cs typeface="Calibri"/>
              <a:sym typeface="Calibri"/>
            </a:endParaRPr>
          </a:p>
        </p:txBody>
      </p:sp>
      <p:sp>
        <p:nvSpPr>
          <p:cNvPr id="271" name="Google Shape;271;p19"/>
          <p:cNvSpPr/>
          <p:nvPr/>
        </p:nvSpPr>
        <p:spPr>
          <a:xfrm>
            <a:off x="640080" y="2880360"/>
            <a:ext cx="11018520" cy="1371600"/>
          </a:xfrm>
          <a:prstGeom prst="roundRect">
            <a:avLst>
              <a:gd name="adj" fmla="val 5333"/>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19"/>
          <p:cNvSpPr/>
          <p:nvPr/>
        </p:nvSpPr>
        <p:spPr>
          <a:xfrm>
            <a:off x="868680" y="3063240"/>
            <a:ext cx="1060704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300"/>
              <a:buFont typeface="Calibri"/>
              <a:buNone/>
            </a:pPr>
            <a:r>
              <a:rPr lang="en-US" sz="1300" b="0" i="0" u="none" strike="noStrike" cap="none">
                <a:solidFill>
                  <a:srgbClr val="E6EDF3"/>
                </a:solidFill>
                <a:latin typeface="Calibri"/>
                <a:ea typeface="Calibri"/>
                <a:cs typeface="Calibri"/>
                <a:sym typeface="Calibri"/>
              </a:rPr>
              <a:t>Scenario, not forecast: at TradingView-style $24/mo — 1,000 subscribers = $288K ARR at 90%+ margins; 10,000 (~1% of TradingView's paying base) = $2.9M ARR. TradingView's ~$173M revenue proves retail pays for analysis tools.</a:t>
            </a:r>
            <a:endParaRPr sz="1300" b="0" i="0" u="none" strike="noStrike" cap="none">
              <a:solidFill>
                <a:schemeClr val="dk1"/>
              </a:solidFill>
              <a:latin typeface="Calibri"/>
              <a:ea typeface="Calibri"/>
              <a:cs typeface="Calibri"/>
              <a:sym typeface="Calibri"/>
            </a:endParaRPr>
          </a:p>
        </p:txBody>
      </p:sp>
      <p:sp>
        <p:nvSpPr>
          <p:cNvPr id="273" name="Google Shape;273;p19"/>
          <p:cNvSpPr/>
          <p:nvPr/>
        </p:nvSpPr>
        <p:spPr>
          <a:xfrm>
            <a:off x="640080" y="4572000"/>
            <a:ext cx="1101852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300"/>
              <a:buFont typeface="Calibri"/>
              <a:buNone/>
            </a:pPr>
            <a:r>
              <a:rPr lang="en-US" sz="1300" b="0" i="0" u="none" strike="noStrike" cap="none">
                <a:solidFill>
                  <a:srgbClr val="E6EDF3"/>
                </a:solidFill>
                <a:latin typeface="Calibri"/>
                <a:ea typeface="Calibri"/>
                <a:cs typeface="Calibri"/>
                <a:sym typeface="Calibri"/>
              </a:rPr>
              <a:t>Positioning: not Bloomberg's 325,000 seats — the tens of millions Bloomberg ignores. In that wedge the differentiator is trust: a public, timestamped, self-graded record. Closest category: robo-advisory — OROS is its agentic, transparent next generation.</a:t>
            </a:r>
            <a:endParaRPr sz="1300" b="0" i="0" u="none" strike="noStrike" cap="none">
              <a:solidFill>
                <a:schemeClr val="dk1"/>
              </a:solidFill>
              <a:latin typeface="Calibri"/>
              <a:ea typeface="Calibri"/>
              <a:cs typeface="Calibri"/>
              <a:sym typeface="Calibri"/>
            </a:endParaRPr>
          </a:p>
        </p:txBody>
      </p:sp>
      <p:sp>
        <p:nvSpPr>
          <p:cNvPr id="274" name="Google Shape;274;p19"/>
          <p:cNvSpPr/>
          <p:nvPr/>
        </p:nvSpPr>
        <p:spPr>
          <a:xfrm>
            <a:off x="502920" y="6199632"/>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E7681"/>
              </a:buClr>
              <a:buSzPts val="800"/>
              <a:buFont typeface="Calibri"/>
              <a:buNone/>
            </a:pPr>
            <a:r>
              <a:rPr lang="en-US" sz="800" b="0" i="1" u="none" strike="noStrike" cap="none">
                <a:solidFill>
                  <a:srgbClr val="6E7681"/>
                </a:solidFill>
                <a:latin typeface="Calibri"/>
                <a:ea typeface="Calibri"/>
                <a:cs typeface="Calibri"/>
                <a:sym typeface="Calibri"/>
              </a:rPr>
              <a:t>Sources: marketsmedia.com (Burton-Taylor) · wallstreetprep.com terminal pricing · getlatka.com/tradingview · mordorintelligence.com · fortunebusinessinsights.com</a:t>
            </a:r>
            <a:endParaRPr sz="800" b="0" i="0" u="none" strike="noStrike" cap="non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279"/>
        <p:cNvGrpSpPr/>
        <p:nvPr/>
      </p:nvGrpSpPr>
      <p:grpSpPr>
        <a:xfrm>
          <a:off x="0" y="0"/>
          <a:ext cx="0" cy="0"/>
          <a:chOff x="0" y="0"/>
          <a:chExt cx="0" cy="0"/>
        </a:xfrm>
      </p:grpSpPr>
      <p:sp>
        <p:nvSpPr>
          <p:cNvPr id="280" name="Google Shape;280;p20"/>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281" name="Google Shape;281;p20"/>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8 · LIMITATIONS &amp; ONGOING RESEARCH</a:t>
            </a:r>
            <a:endParaRPr sz="1150" b="0" i="0" u="none" strike="noStrike" cap="none">
              <a:solidFill>
                <a:schemeClr val="dk1"/>
              </a:solidFill>
              <a:latin typeface="Calibri"/>
              <a:ea typeface="Calibri"/>
              <a:cs typeface="Calibri"/>
              <a:sym typeface="Calibri"/>
            </a:endParaRPr>
          </a:p>
        </p:txBody>
      </p:sp>
      <p:sp>
        <p:nvSpPr>
          <p:cNvPr id="282" name="Google Shape;282;p20"/>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Four Open Questions, Researched in Public</a:t>
            </a:r>
            <a:endParaRPr sz="2700" b="0" i="0" u="none" strike="noStrike" cap="none">
              <a:solidFill>
                <a:schemeClr val="dk1"/>
              </a:solidFill>
              <a:latin typeface="Calibri"/>
              <a:ea typeface="Calibri"/>
              <a:cs typeface="Calibri"/>
              <a:sym typeface="Calibri"/>
            </a:endParaRPr>
          </a:p>
        </p:txBody>
      </p:sp>
      <p:sp>
        <p:nvSpPr>
          <p:cNvPr id="283" name="Google Shape;283;p20"/>
          <p:cNvSpPr/>
          <p:nvPr/>
        </p:nvSpPr>
        <p:spPr>
          <a:xfrm>
            <a:off x="640080" y="1371600"/>
            <a:ext cx="11018520" cy="1060704"/>
          </a:xfrm>
          <a:prstGeom prst="roundRect">
            <a:avLst>
              <a:gd name="adj" fmla="val 6034"/>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0"/>
          <p:cNvSpPr/>
          <p:nvPr/>
        </p:nvSpPr>
        <p:spPr>
          <a:xfrm>
            <a:off x="822960" y="1444752"/>
            <a:ext cx="329184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85149"/>
              </a:buClr>
              <a:buSzPts val="1300"/>
              <a:buFont typeface="Calibri"/>
              <a:buNone/>
            </a:pPr>
            <a:r>
              <a:rPr lang="en-US" sz="1300" b="1" i="0" u="none" strike="noStrike" cap="none">
                <a:solidFill>
                  <a:srgbClr val="F85149"/>
                </a:solidFill>
                <a:latin typeface="Calibri"/>
                <a:ea typeface="Calibri"/>
                <a:cs typeface="Calibri"/>
                <a:sym typeface="Calibri"/>
              </a:rPr>
              <a:t>1 · Statistical significance</a:t>
            </a:r>
            <a:endParaRPr sz="1300" b="0" i="0" u="none" strike="noStrike" cap="none">
              <a:solidFill>
                <a:schemeClr val="dk1"/>
              </a:solidFill>
              <a:latin typeface="Calibri"/>
              <a:ea typeface="Calibri"/>
              <a:cs typeface="Calibri"/>
              <a:sym typeface="Calibri"/>
            </a:endParaRPr>
          </a:p>
        </p:txBody>
      </p:sp>
      <p:sp>
        <p:nvSpPr>
          <p:cNvPr id="285" name="Google Shape;285;p20"/>
          <p:cNvSpPr/>
          <p:nvPr/>
        </p:nvSpPr>
        <p:spPr>
          <a:xfrm>
            <a:off x="4297680" y="1444752"/>
            <a:ext cx="722376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150"/>
              <a:buFont typeface="Calibri"/>
              <a:buNone/>
            </a:pPr>
            <a:r>
              <a:rPr lang="en-US" sz="1150" b="0" i="0" u="none" strike="noStrike" cap="none">
                <a:solidFill>
                  <a:srgbClr val="E6EDF3"/>
                </a:solidFill>
                <a:latin typeface="Calibri"/>
                <a:ea typeface="Calibri"/>
                <a:cs typeface="Calibri"/>
                <a:sym typeface="Calibri"/>
              </a:rPr>
              <a:t>17 sessions, one regime — no inference claimed. The record accumulates daily by design.</a:t>
            </a:r>
            <a:endParaRPr sz="1150" b="0" i="0" u="none" strike="noStrike" cap="none">
              <a:solidFill>
                <a:schemeClr val="dk1"/>
              </a:solidFill>
              <a:latin typeface="Calibri"/>
              <a:ea typeface="Calibri"/>
              <a:cs typeface="Calibri"/>
              <a:sym typeface="Calibri"/>
            </a:endParaRPr>
          </a:p>
        </p:txBody>
      </p:sp>
      <p:sp>
        <p:nvSpPr>
          <p:cNvPr id="286" name="Google Shape;286;p20"/>
          <p:cNvSpPr/>
          <p:nvPr/>
        </p:nvSpPr>
        <p:spPr>
          <a:xfrm>
            <a:off x="640080" y="2560320"/>
            <a:ext cx="11018520" cy="1060704"/>
          </a:xfrm>
          <a:prstGeom prst="roundRect">
            <a:avLst>
              <a:gd name="adj" fmla="val 6034"/>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0"/>
          <p:cNvSpPr/>
          <p:nvPr/>
        </p:nvSpPr>
        <p:spPr>
          <a:xfrm>
            <a:off x="822960" y="2633472"/>
            <a:ext cx="329184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1300"/>
              <a:buFont typeface="Calibri"/>
              <a:buNone/>
            </a:pPr>
            <a:r>
              <a:rPr lang="en-US" sz="1300" b="1" i="0" u="none" strike="noStrike" cap="none">
                <a:solidFill>
                  <a:srgbClr val="58A6FF"/>
                </a:solidFill>
                <a:latin typeface="Calibri"/>
                <a:ea typeface="Calibri"/>
                <a:cs typeface="Calibri"/>
                <a:sym typeface="Calibri"/>
              </a:rPr>
              <a:t>2 · No backtest — deliberately</a:t>
            </a:r>
            <a:endParaRPr sz="1300" b="0" i="0" u="none" strike="noStrike" cap="none">
              <a:solidFill>
                <a:schemeClr val="dk1"/>
              </a:solidFill>
              <a:latin typeface="Calibri"/>
              <a:ea typeface="Calibri"/>
              <a:cs typeface="Calibri"/>
              <a:sym typeface="Calibri"/>
            </a:endParaRPr>
          </a:p>
        </p:txBody>
      </p:sp>
      <p:sp>
        <p:nvSpPr>
          <p:cNvPr id="288" name="Google Shape;288;p20"/>
          <p:cNvSpPr/>
          <p:nvPr/>
        </p:nvSpPr>
        <p:spPr>
          <a:xfrm>
            <a:off x="4297680" y="2633472"/>
            <a:ext cx="722376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150"/>
              <a:buFont typeface="Calibri"/>
              <a:buNone/>
            </a:pPr>
            <a:r>
              <a:rPr lang="en-US" sz="1150" b="0" i="0" u="none" strike="noStrike" cap="none">
                <a:solidFill>
                  <a:srgbClr val="E6EDF3"/>
                </a:solidFill>
                <a:latin typeface="Calibri"/>
                <a:ea typeface="Calibri"/>
                <a:cs typeface="Calibri"/>
                <a:sym typeface="Calibri"/>
              </a:rPr>
              <a:t>Forward-only avoids look-ahead and survivorship bias. Journaled before the open, graded at the close.</a:t>
            </a:r>
            <a:endParaRPr sz="1150" b="0" i="0" u="none" strike="noStrike" cap="none">
              <a:solidFill>
                <a:schemeClr val="dk1"/>
              </a:solidFill>
              <a:latin typeface="Calibri"/>
              <a:ea typeface="Calibri"/>
              <a:cs typeface="Calibri"/>
              <a:sym typeface="Calibri"/>
            </a:endParaRPr>
          </a:p>
        </p:txBody>
      </p:sp>
      <p:sp>
        <p:nvSpPr>
          <p:cNvPr id="289" name="Google Shape;289;p20"/>
          <p:cNvSpPr/>
          <p:nvPr/>
        </p:nvSpPr>
        <p:spPr>
          <a:xfrm>
            <a:off x="640080" y="3749040"/>
            <a:ext cx="11018520" cy="1060704"/>
          </a:xfrm>
          <a:prstGeom prst="roundRect">
            <a:avLst>
              <a:gd name="adj" fmla="val 6034"/>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0"/>
          <p:cNvSpPr/>
          <p:nvPr/>
        </p:nvSpPr>
        <p:spPr>
          <a:xfrm>
            <a:off x="822960" y="3822192"/>
            <a:ext cx="329184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300"/>
              <a:buFont typeface="Calibri"/>
              <a:buNone/>
            </a:pPr>
            <a:r>
              <a:rPr lang="en-US" sz="1300" b="1" i="0" u="none" strike="noStrike" cap="none">
                <a:solidFill>
                  <a:srgbClr val="E8A020"/>
                </a:solidFill>
                <a:latin typeface="Calibri"/>
                <a:ea typeface="Calibri"/>
                <a:cs typeface="Calibri"/>
                <a:sym typeface="Calibri"/>
              </a:rPr>
              <a:t>3 · Ablation &amp; classifier study</a:t>
            </a:r>
            <a:endParaRPr sz="1300" b="0" i="0" u="none" strike="noStrike" cap="none">
              <a:solidFill>
                <a:schemeClr val="dk1"/>
              </a:solidFill>
              <a:latin typeface="Calibri"/>
              <a:ea typeface="Calibri"/>
              <a:cs typeface="Calibri"/>
              <a:sym typeface="Calibri"/>
            </a:endParaRPr>
          </a:p>
        </p:txBody>
      </p:sp>
      <p:sp>
        <p:nvSpPr>
          <p:cNvPr id="291" name="Google Shape;291;p20"/>
          <p:cNvSpPr/>
          <p:nvPr/>
        </p:nvSpPr>
        <p:spPr>
          <a:xfrm>
            <a:off x="4297680" y="3822192"/>
            <a:ext cx="722376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150"/>
              <a:buFont typeface="Calibri"/>
              <a:buNone/>
            </a:pPr>
            <a:r>
              <a:rPr lang="en-US" sz="1150" b="0" i="0" u="none" strike="noStrike" cap="none">
                <a:solidFill>
                  <a:srgbClr val="E6EDF3"/>
                </a:solidFill>
                <a:latin typeface="Calibri"/>
                <a:ea typeface="Calibri"/>
                <a:cs typeface="Calibri"/>
                <a:sym typeface="Calibri"/>
              </a:rPr>
              <a:t>Which agent earns its keep? Two classifier fixes came from human review THIS WEEK — encoded within hours. The meta-model is this study.</a:t>
            </a:r>
            <a:endParaRPr sz="1150" b="0" i="0" u="none" strike="noStrike" cap="none">
              <a:solidFill>
                <a:schemeClr val="dk1"/>
              </a:solidFill>
              <a:latin typeface="Calibri"/>
              <a:ea typeface="Calibri"/>
              <a:cs typeface="Calibri"/>
              <a:sym typeface="Calibri"/>
            </a:endParaRPr>
          </a:p>
        </p:txBody>
      </p:sp>
      <p:sp>
        <p:nvSpPr>
          <p:cNvPr id="292" name="Google Shape;292;p20"/>
          <p:cNvSpPr/>
          <p:nvPr/>
        </p:nvSpPr>
        <p:spPr>
          <a:xfrm>
            <a:off x="640080" y="4937760"/>
            <a:ext cx="11018520" cy="1060704"/>
          </a:xfrm>
          <a:prstGeom prst="roundRect">
            <a:avLst>
              <a:gd name="adj" fmla="val 6034"/>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20"/>
          <p:cNvSpPr/>
          <p:nvPr/>
        </p:nvSpPr>
        <p:spPr>
          <a:xfrm>
            <a:off x="822960" y="5010912"/>
            <a:ext cx="329184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300"/>
              <a:buFont typeface="Calibri"/>
              <a:buNone/>
            </a:pPr>
            <a:r>
              <a:rPr lang="en-US" sz="1300" b="1" i="0" u="none" strike="noStrike" cap="none">
                <a:solidFill>
                  <a:srgbClr val="E8A020"/>
                </a:solidFill>
                <a:latin typeface="Calibri"/>
                <a:ea typeface="Calibri"/>
                <a:cs typeface="Calibri"/>
                <a:sym typeface="Calibri"/>
              </a:rPr>
              <a:t>4 · Cost realism</a:t>
            </a:r>
            <a:endParaRPr sz="1300" b="0" i="0" u="none" strike="noStrike" cap="none">
              <a:solidFill>
                <a:schemeClr val="dk1"/>
              </a:solidFill>
              <a:latin typeface="Calibri"/>
              <a:ea typeface="Calibri"/>
              <a:cs typeface="Calibri"/>
              <a:sym typeface="Calibri"/>
            </a:endParaRPr>
          </a:p>
        </p:txBody>
      </p:sp>
      <p:sp>
        <p:nvSpPr>
          <p:cNvPr id="294" name="Google Shape;294;p20"/>
          <p:cNvSpPr/>
          <p:nvPr/>
        </p:nvSpPr>
        <p:spPr>
          <a:xfrm>
            <a:off x="4297680" y="5010912"/>
            <a:ext cx="7223760" cy="914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150"/>
              <a:buFont typeface="Calibri"/>
              <a:buNone/>
            </a:pPr>
            <a:r>
              <a:rPr lang="en-US" sz="1150" b="0" i="0" u="none" strike="noStrike" cap="none">
                <a:solidFill>
                  <a:srgbClr val="E6EDF3"/>
                </a:solidFill>
                <a:latin typeface="Calibri"/>
                <a:ea typeface="Calibri"/>
                <a:cs typeface="Calibri"/>
                <a:sym typeface="Calibri"/>
              </a:rPr>
              <a:t>Paper fills flatter results. Broker-verified paper (Alpaca) is roadmap item one. Real robo-advisers are SEC/FINRA-regulated; OROS deliberately is not — it proposes, journals, and never trades.</a:t>
            </a:r>
            <a:endParaRPr sz="1150" b="0" i="0" u="none" strike="noStrike" cap="non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299"/>
        <p:cNvGrpSpPr/>
        <p:nvPr/>
      </p:nvGrpSpPr>
      <p:grpSpPr>
        <a:xfrm>
          <a:off x="0" y="0"/>
          <a:ext cx="0" cy="0"/>
          <a:chOff x="0" y="0"/>
          <a:chExt cx="0" cy="0"/>
        </a:xfrm>
      </p:grpSpPr>
      <p:sp>
        <p:nvSpPr>
          <p:cNvPr id="300" name="Google Shape;300;p21"/>
          <p:cNvSpPr/>
          <p:nvPr/>
        </p:nvSpPr>
        <p:spPr>
          <a:xfrm>
            <a:off x="457200" y="6519672"/>
            <a:ext cx="8778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850"/>
              <a:buFont typeface="Calibri"/>
              <a:buNone/>
            </a:pPr>
            <a:r>
              <a:rPr lang="en-US" sz="850" b="0" i="0" u="none" strike="noStrike" cap="none">
                <a:solidFill>
                  <a:srgbClr val="8B949E"/>
                </a:solidFill>
                <a:latin typeface="Calibri"/>
                <a:ea typeface="Calibri"/>
                <a:cs typeface="Calibri"/>
                <a:sym typeface="Calibri"/>
              </a:rPr>
              <a:t>OROS · Fordham MSAIB Capstone · simulated paper trading · educational, not financial advice</a:t>
            </a:r>
            <a:endParaRPr sz="850" b="0" i="0" u="none" strike="noStrike" cap="none">
              <a:solidFill>
                <a:schemeClr val="dk1"/>
              </a:solidFill>
              <a:latin typeface="Calibri"/>
              <a:ea typeface="Calibri"/>
              <a:cs typeface="Calibri"/>
              <a:sym typeface="Calibri"/>
            </a:endParaRPr>
          </a:p>
        </p:txBody>
      </p:sp>
      <p:sp>
        <p:nvSpPr>
          <p:cNvPr id="301" name="Google Shape;301;p21"/>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9 · FUTURE ENHANCEMENTS</a:t>
            </a:r>
            <a:endParaRPr sz="1150" b="0" i="0" u="none" strike="noStrike" cap="none">
              <a:solidFill>
                <a:schemeClr val="dk1"/>
              </a:solidFill>
              <a:latin typeface="Calibri"/>
              <a:ea typeface="Calibri"/>
              <a:cs typeface="Calibri"/>
              <a:sym typeface="Calibri"/>
            </a:endParaRPr>
          </a:p>
        </p:txBody>
      </p:sp>
      <p:sp>
        <p:nvSpPr>
          <p:cNvPr id="302" name="Google Shape;302;p21"/>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dirty="0">
                <a:solidFill>
                  <a:srgbClr val="E6EDF3"/>
                </a:solidFill>
                <a:latin typeface="Calibri"/>
                <a:ea typeface="Calibri"/>
                <a:cs typeface="Calibri"/>
                <a:sym typeface="Calibri"/>
              </a:rPr>
              <a:t>Transparency </a:t>
            </a:r>
            <a:r>
              <a:rPr lang="en-US" sz="2700" b="1" i="0" u="none" strike="noStrike" cap="none" dirty="0">
                <a:solidFill>
                  <a:srgbClr val="E6EDF3"/>
                </a:solidFill>
                <a:latin typeface="Calibri"/>
                <a:ea typeface="Calibri"/>
                <a:cs typeface="Calibri"/>
                <a:sym typeface="Calibri"/>
              </a:rPr>
              <a:t>Builds </a:t>
            </a:r>
            <a:r>
              <a:rPr lang="en-US" sz="2700" b="1" dirty="0">
                <a:solidFill>
                  <a:srgbClr val="E6EDF3"/>
                </a:solidFill>
                <a:latin typeface="Calibri"/>
                <a:ea typeface="Calibri"/>
                <a:cs typeface="Calibri"/>
                <a:sym typeface="Calibri"/>
              </a:rPr>
              <a:t>a</a:t>
            </a:r>
            <a:r>
              <a:rPr lang="en-US" sz="2700" b="1" i="0" u="none" strike="noStrike" cap="none" dirty="0">
                <a:solidFill>
                  <a:srgbClr val="E6EDF3"/>
                </a:solidFill>
                <a:latin typeface="Calibri"/>
                <a:ea typeface="Calibri"/>
                <a:cs typeface="Calibri"/>
                <a:sym typeface="Calibri"/>
              </a:rPr>
              <a:t> Trust</a:t>
            </a:r>
            <a:endParaRPr sz="2700" b="0" i="0" u="none" strike="noStrike" cap="none" dirty="0">
              <a:solidFill>
                <a:schemeClr val="dk1"/>
              </a:solidFill>
              <a:latin typeface="Calibri"/>
              <a:ea typeface="Calibri"/>
              <a:cs typeface="Calibri"/>
              <a:sym typeface="Calibri"/>
            </a:endParaRPr>
          </a:p>
        </p:txBody>
      </p:sp>
      <p:pic>
        <p:nvPicPr>
          <p:cNvPr id="303" name="Google Shape;303;p21" descr="future_4.png"/>
          <p:cNvPicPr preferRelativeResize="0"/>
          <p:nvPr/>
        </p:nvPicPr>
        <p:blipFill rotWithShape="1">
          <a:blip r:embed="rId3">
            <a:alphaModFix/>
          </a:blip>
          <a:srcRect/>
          <a:stretch/>
        </p:blipFill>
        <p:spPr>
          <a:xfrm>
            <a:off x="548640" y="1298448"/>
            <a:ext cx="5486400" cy="2167128"/>
          </a:xfrm>
          <a:prstGeom prst="rect">
            <a:avLst/>
          </a:prstGeom>
          <a:noFill/>
          <a:ln>
            <a:noFill/>
          </a:ln>
        </p:spPr>
      </p:pic>
      <p:sp>
        <p:nvSpPr>
          <p:cNvPr id="304" name="Google Shape;304;p21"/>
          <p:cNvSpPr/>
          <p:nvPr/>
        </p:nvSpPr>
        <p:spPr>
          <a:xfrm>
            <a:off x="548640" y="3520440"/>
            <a:ext cx="54864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Robinhood: 'Let your agent trade' — market access for AI agents via an MCP server</a:t>
            </a:r>
            <a:endParaRPr sz="1050" b="0" i="0" u="none" strike="noStrike" cap="none">
              <a:solidFill>
                <a:schemeClr val="dk1"/>
              </a:solidFill>
              <a:latin typeface="Calibri"/>
              <a:ea typeface="Calibri"/>
              <a:cs typeface="Calibri"/>
              <a:sym typeface="Calibri"/>
            </a:endParaRPr>
          </a:p>
        </p:txBody>
      </p:sp>
      <p:pic>
        <p:nvPicPr>
          <p:cNvPr id="305" name="Google Shape;305;p21" descr="future_2.png"/>
          <p:cNvPicPr preferRelativeResize="0"/>
          <p:nvPr/>
        </p:nvPicPr>
        <p:blipFill rotWithShape="1">
          <a:blip r:embed="rId4">
            <a:alphaModFix/>
          </a:blip>
          <a:srcRect/>
          <a:stretch/>
        </p:blipFill>
        <p:spPr>
          <a:xfrm>
            <a:off x="6263640" y="1298448"/>
            <a:ext cx="3465576" cy="2167128"/>
          </a:xfrm>
          <a:prstGeom prst="rect">
            <a:avLst/>
          </a:prstGeom>
          <a:noFill/>
          <a:ln>
            <a:noFill/>
          </a:ln>
        </p:spPr>
      </p:pic>
      <p:sp>
        <p:nvSpPr>
          <p:cNvPr id="306" name="Google Shape;306;p21"/>
          <p:cNvSpPr/>
          <p:nvPr/>
        </p:nvSpPr>
        <p:spPr>
          <a:xfrm>
            <a:off x="6263640" y="3520440"/>
            <a:ext cx="3465576"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Coinbase for Agents — agent-native access</a:t>
            </a:r>
            <a:endParaRPr sz="1050" b="0" i="0" u="none" strike="noStrike" cap="none">
              <a:solidFill>
                <a:schemeClr val="dk1"/>
              </a:solidFill>
              <a:latin typeface="Calibri"/>
              <a:ea typeface="Calibri"/>
              <a:cs typeface="Calibri"/>
              <a:sym typeface="Calibri"/>
            </a:endParaRPr>
          </a:p>
        </p:txBody>
      </p:sp>
      <p:pic>
        <p:nvPicPr>
          <p:cNvPr id="307" name="Google Shape;307;p21" descr="future_1.png"/>
          <p:cNvPicPr preferRelativeResize="0"/>
          <p:nvPr/>
        </p:nvPicPr>
        <p:blipFill rotWithShape="1">
          <a:blip r:embed="rId5">
            <a:alphaModFix/>
          </a:blip>
          <a:srcRect/>
          <a:stretch/>
        </p:blipFill>
        <p:spPr>
          <a:xfrm>
            <a:off x="548640" y="3913632"/>
            <a:ext cx="3182112" cy="1965960"/>
          </a:xfrm>
          <a:prstGeom prst="rect">
            <a:avLst/>
          </a:prstGeom>
          <a:noFill/>
          <a:ln>
            <a:noFill/>
          </a:ln>
        </p:spPr>
      </p:pic>
      <p:sp>
        <p:nvSpPr>
          <p:cNvPr id="308" name="Google Shape;308;p21"/>
          <p:cNvSpPr/>
          <p:nvPr/>
        </p:nvSpPr>
        <p:spPr>
          <a:xfrm>
            <a:off x="548640" y="5934456"/>
            <a:ext cx="3182112"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Bloomberg: JPMorgan's agents beat the 60/40 (Jul 2026)</a:t>
            </a:r>
            <a:endParaRPr sz="1050" b="0" i="0" u="none" strike="noStrike" cap="none">
              <a:solidFill>
                <a:schemeClr val="dk1"/>
              </a:solidFill>
              <a:latin typeface="Calibri"/>
              <a:ea typeface="Calibri"/>
              <a:cs typeface="Calibri"/>
              <a:sym typeface="Calibri"/>
            </a:endParaRPr>
          </a:p>
        </p:txBody>
      </p:sp>
      <p:pic>
        <p:nvPicPr>
          <p:cNvPr id="309" name="Google Shape;309;p21" descr="future_3.png"/>
          <p:cNvPicPr preferRelativeResize="0"/>
          <p:nvPr/>
        </p:nvPicPr>
        <p:blipFill rotWithShape="1">
          <a:blip r:embed="rId6">
            <a:alphaModFix/>
          </a:blip>
          <a:srcRect/>
          <a:stretch/>
        </p:blipFill>
        <p:spPr>
          <a:xfrm>
            <a:off x="3977640" y="3913632"/>
            <a:ext cx="2359152" cy="1965960"/>
          </a:xfrm>
          <a:prstGeom prst="rect">
            <a:avLst/>
          </a:prstGeom>
          <a:noFill/>
          <a:ln>
            <a:noFill/>
          </a:ln>
        </p:spPr>
      </p:pic>
      <p:sp>
        <p:nvSpPr>
          <p:cNvPr id="310" name="Google Shape;310;p21"/>
          <p:cNvSpPr/>
          <p:nvPr/>
        </p:nvSpPr>
        <p:spPr>
          <a:xfrm>
            <a:off x="3977640" y="5934456"/>
            <a:ext cx="2359152"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B949E"/>
              </a:buClr>
              <a:buSzPts val="1050"/>
              <a:buFont typeface="Calibri"/>
              <a:buNone/>
            </a:pPr>
            <a:r>
              <a:rPr lang="en-US" sz="1050" b="0" i="0" u="none" strike="noStrike" cap="none">
                <a:solidFill>
                  <a:srgbClr val="8B949E"/>
                </a:solidFill>
                <a:latin typeface="Calibri"/>
                <a:ea typeface="Calibri"/>
                <a:cs typeface="Calibri"/>
                <a:sym typeface="Calibri"/>
              </a:rPr>
              <a:t>Vanguard — robo at giant scale</a:t>
            </a:r>
            <a:endParaRPr sz="1050" b="0" i="0" u="none" strike="noStrike" cap="none">
              <a:solidFill>
                <a:schemeClr val="dk1"/>
              </a:solidFill>
              <a:latin typeface="Calibri"/>
              <a:ea typeface="Calibri"/>
              <a:cs typeface="Calibri"/>
              <a:sym typeface="Calibri"/>
            </a:endParaRPr>
          </a:p>
        </p:txBody>
      </p:sp>
      <p:sp>
        <p:nvSpPr>
          <p:cNvPr id="311" name="Google Shape;311;p21"/>
          <p:cNvSpPr/>
          <p:nvPr/>
        </p:nvSpPr>
        <p:spPr>
          <a:xfrm>
            <a:off x="6583690" y="3909070"/>
            <a:ext cx="4526400" cy="2167200"/>
          </a:xfrm>
          <a:prstGeom prst="roundRect">
            <a:avLst>
              <a:gd name="adj" fmla="val 3376"/>
            </a:avLst>
          </a:prstGeom>
          <a:solidFill>
            <a:srgbClr val="161B22"/>
          </a:solidFill>
          <a:ln w="15225" cap="flat" cmpd="sng">
            <a:solidFill>
              <a:srgbClr val="E8A0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21"/>
          <p:cNvSpPr/>
          <p:nvPr/>
        </p:nvSpPr>
        <p:spPr>
          <a:xfrm>
            <a:off x="7360920" y="4023360"/>
            <a:ext cx="42062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OROS'S NEXT STEPS</a:t>
            </a:r>
            <a:endParaRPr sz="1150" b="0" i="0" u="none" strike="noStrike" cap="none">
              <a:solidFill>
                <a:schemeClr val="dk1"/>
              </a:solidFill>
              <a:latin typeface="Calibri"/>
              <a:ea typeface="Calibri"/>
              <a:cs typeface="Calibri"/>
              <a:sym typeface="Calibri"/>
            </a:endParaRPr>
          </a:p>
        </p:txBody>
      </p:sp>
      <p:sp>
        <p:nvSpPr>
          <p:cNvPr id="313" name="Google Shape;313;p21"/>
          <p:cNvSpPr/>
          <p:nvPr/>
        </p:nvSpPr>
        <p:spPr>
          <a:xfrm>
            <a:off x="548640" y="6236208"/>
            <a:ext cx="111099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050"/>
              <a:buFont typeface="Calibri"/>
              <a:buNone/>
            </a:pPr>
            <a:r>
              <a:rPr lang="en-US" sz="1050" b="1" i="1" u="none" strike="noStrike" cap="none">
                <a:solidFill>
                  <a:srgbClr val="E8A020"/>
                </a:solidFill>
                <a:latin typeface="Calibri"/>
                <a:ea typeface="Calibri"/>
                <a:cs typeface="Calibri"/>
                <a:sym typeface="Calibri"/>
              </a:rPr>
              <a:t>When Robinhood ships agent market access and JPMorgan's agents beat the 60/40, the category is no longer speculative — the differentiator left is trust, and community is how trust compounds.</a:t>
            </a:r>
            <a:endParaRPr sz="1050" b="0" i="0" u="none" strike="noStrike" cap="none">
              <a:solidFill>
                <a:schemeClr val="dk1"/>
              </a:solidFill>
              <a:latin typeface="Calibri"/>
              <a:ea typeface="Calibri"/>
              <a:cs typeface="Calibri"/>
              <a:sym typeface="Calibri"/>
            </a:endParaRPr>
          </a:p>
        </p:txBody>
      </p:sp>
      <p:pic>
        <p:nvPicPr>
          <p:cNvPr id="314" name="Google Shape;314;p21"/>
          <p:cNvPicPr preferRelativeResize="0"/>
          <p:nvPr/>
        </p:nvPicPr>
        <p:blipFill>
          <a:blip r:embed="rId7">
            <a:alphaModFix/>
          </a:blip>
          <a:stretch>
            <a:fillRect/>
          </a:stretch>
        </p:blipFill>
        <p:spPr>
          <a:xfrm>
            <a:off x="6483875" y="3913625"/>
            <a:ext cx="5174725" cy="2313425"/>
          </a:xfrm>
          <a:prstGeom prst="rect">
            <a:avLst/>
          </a:prstGeom>
          <a:solidFill>
            <a:srgbClr val="161B22"/>
          </a:solidFill>
          <a:ln w="15225" cap="flat" cmpd="sng">
            <a:solidFill>
              <a:srgbClr val="E8A02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Shape 319"/>
        <p:cNvGrpSpPr/>
        <p:nvPr/>
      </p:nvGrpSpPr>
      <p:grpSpPr>
        <a:xfrm>
          <a:off x="0" y="0"/>
          <a:ext cx="0" cy="0"/>
          <a:chOff x="0" y="0"/>
          <a:chExt cx="0" cy="0"/>
        </a:xfrm>
      </p:grpSpPr>
      <p:sp>
        <p:nvSpPr>
          <p:cNvPr id="320" name="Google Shape;320;p22"/>
          <p:cNvSpPr/>
          <p:nvPr/>
        </p:nvSpPr>
        <p:spPr>
          <a:xfrm>
            <a:off x="502920" y="274320"/>
            <a:ext cx="11155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150"/>
              <a:buFont typeface="Calibri"/>
              <a:buNone/>
            </a:pPr>
            <a:r>
              <a:rPr lang="en-US" sz="1150" b="1" i="0" u="none" strike="noStrike" cap="none">
                <a:solidFill>
                  <a:srgbClr val="E8A020"/>
                </a:solidFill>
                <a:latin typeface="Calibri"/>
                <a:ea typeface="Calibri"/>
                <a:cs typeface="Calibri"/>
                <a:sym typeface="Calibri"/>
              </a:rPr>
              <a:t>SECTION 10 · CONCLUSIONS &amp; TAKEAWAY</a:t>
            </a:r>
            <a:endParaRPr sz="1150" b="0" i="0" u="none" strike="noStrike" cap="none">
              <a:solidFill>
                <a:schemeClr val="dk1"/>
              </a:solidFill>
              <a:latin typeface="Calibri"/>
              <a:ea typeface="Calibri"/>
              <a:cs typeface="Calibri"/>
              <a:sym typeface="Calibri"/>
            </a:endParaRPr>
          </a:p>
        </p:txBody>
      </p:sp>
      <p:sp>
        <p:nvSpPr>
          <p:cNvPr id="321" name="Google Shape;321;p22"/>
          <p:cNvSpPr/>
          <p:nvPr/>
        </p:nvSpPr>
        <p:spPr>
          <a:xfrm>
            <a:off x="475488" y="530352"/>
            <a:ext cx="1124712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2700"/>
              <a:buFont typeface="Calibri"/>
              <a:buNone/>
            </a:pPr>
            <a:r>
              <a:rPr lang="en-US" sz="2700" b="1" i="0" u="none" strike="noStrike" cap="none">
                <a:solidFill>
                  <a:srgbClr val="E6EDF3"/>
                </a:solidFill>
                <a:latin typeface="Calibri"/>
                <a:ea typeface="Calibri"/>
                <a:cs typeface="Calibri"/>
                <a:sym typeface="Calibri"/>
              </a:rPr>
              <a:t>What This Capstone Demonstrates</a:t>
            </a:r>
            <a:endParaRPr sz="2700" b="0" i="0" u="none" strike="noStrike" cap="none">
              <a:solidFill>
                <a:schemeClr val="dk1"/>
              </a:solidFill>
              <a:latin typeface="Calibri"/>
              <a:ea typeface="Calibri"/>
              <a:cs typeface="Calibri"/>
              <a:sym typeface="Calibri"/>
            </a:endParaRPr>
          </a:p>
        </p:txBody>
      </p:sp>
      <p:sp>
        <p:nvSpPr>
          <p:cNvPr id="322" name="Google Shape;322;p22"/>
          <p:cNvSpPr/>
          <p:nvPr/>
        </p:nvSpPr>
        <p:spPr>
          <a:xfrm>
            <a:off x="640080" y="1371600"/>
            <a:ext cx="11018520" cy="841248"/>
          </a:xfrm>
          <a:prstGeom prst="roundRect">
            <a:avLst>
              <a:gd name="adj" fmla="val 7609"/>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22"/>
          <p:cNvSpPr/>
          <p:nvPr/>
        </p:nvSpPr>
        <p:spPr>
          <a:xfrm>
            <a:off x="822960" y="1435608"/>
            <a:ext cx="379476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1250"/>
              <a:buFont typeface="Calibri"/>
              <a:buNone/>
            </a:pPr>
            <a:r>
              <a:rPr lang="en-US" sz="1250" b="1" i="0" u="none" strike="noStrike" cap="none">
                <a:solidFill>
                  <a:srgbClr val="58A6FF"/>
                </a:solidFill>
                <a:latin typeface="Calibri"/>
                <a:ea typeface="Calibri"/>
                <a:cs typeface="Calibri"/>
                <a:sym typeface="Calibri"/>
              </a:rPr>
              <a:t>1 · Navigating Extreme Market Volatility</a:t>
            </a:r>
            <a:endParaRPr sz="1250" b="0" i="0" u="none" strike="noStrike" cap="none">
              <a:solidFill>
                <a:schemeClr val="dk1"/>
              </a:solidFill>
              <a:latin typeface="Calibri"/>
              <a:ea typeface="Calibri"/>
              <a:cs typeface="Calibri"/>
              <a:sym typeface="Calibri"/>
            </a:endParaRPr>
          </a:p>
        </p:txBody>
      </p:sp>
      <p:sp>
        <p:nvSpPr>
          <p:cNvPr id="324" name="Google Shape;324;p22"/>
          <p:cNvSpPr/>
          <p:nvPr/>
        </p:nvSpPr>
        <p:spPr>
          <a:xfrm>
            <a:off x="4754880" y="1435608"/>
            <a:ext cx="676656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100"/>
              <a:buFont typeface="Calibri"/>
              <a:buNone/>
            </a:pPr>
            <a:r>
              <a:rPr lang="en-US" sz="1100" b="0" i="0" u="none" strike="noStrike" cap="none">
                <a:solidFill>
                  <a:srgbClr val="E6EDF3"/>
                </a:solidFill>
                <a:latin typeface="Calibri"/>
                <a:ea typeface="Calibri"/>
                <a:cs typeface="Calibri"/>
                <a:sym typeface="Calibri"/>
              </a:rPr>
              <a:t>Regime-aware exposure and journaled exits kept the live book nearly flat on SPY's worst days — cash treated as a decision, never leftovers.</a:t>
            </a:r>
            <a:endParaRPr sz="1100" b="0" i="0" u="none" strike="noStrike" cap="none">
              <a:solidFill>
                <a:schemeClr val="dk1"/>
              </a:solidFill>
              <a:latin typeface="Calibri"/>
              <a:ea typeface="Calibri"/>
              <a:cs typeface="Calibri"/>
              <a:sym typeface="Calibri"/>
            </a:endParaRPr>
          </a:p>
        </p:txBody>
      </p:sp>
      <p:sp>
        <p:nvSpPr>
          <p:cNvPr id="325" name="Google Shape;325;p22"/>
          <p:cNvSpPr/>
          <p:nvPr/>
        </p:nvSpPr>
        <p:spPr>
          <a:xfrm>
            <a:off x="640080" y="2340864"/>
            <a:ext cx="11018520" cy="841248"/>
          </a:xfrm>
          <a:prstGeom prst="roundRect">
            <a:avLst>
              <a:gd name="adj" fmla="val 7609"/>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22"/>
          <p:cNvSpPr/>
          <p:nvPr/>
        </p:nvSpPr>
        <p:spPr>
          <a:xfrm>
            <a:off x="822960" y="2404872"/>
            <a:ext cx="379476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250"/>
              <a:buFont typeface="Calibri"/>
              <a:buNone/>
            </a:pPr>
            <a:r>
              <a:rPr lang="en-US" sz="1250" b="1" i="0" u="none" strike="noStrike" cap="none">
                <a:solidFill>
                  <a:srgbClr val="E8A020"/>
                </a:solidFill>
                <a:latin typeface="Calibri"/>
                <a:ea typeface="Calibri"/>
                <a:cs typeface="Calibri"/>
                <a:sym typeface="Calibri"/>
              </a:rPr>
              <a:t>2 · Democratizing Institutional-Grade Strategies</a:t>
            </a:r>
            <a:endParaRPr sz="1250" b="0" i="0" u="none" strike="noStrike" cap="none">
              <a:solidFill>
                <a:schemeClr val="dk1"/>
              </a:solidFill>
              <a:latin typeface="Calibri"/>
              <a:ea typeface="Calibri"/>
              <a:cs typeface="Calibri"/>
              <a:sym typeface="Calibri"/>
            </a:endParaRPr>
          </a:p>
        </p:txBody>
      </p:sp>
      <p:sp>
        <p:nvSpPr>
          <p:cNvPr id="327" name="Google Shape;327;p22"/>
          <p:cNvSpPr/>
          <p:nvPr/>
        </p:nvSpPr>
        <p:spPr>
          <a:xfrm>
            <a:off x="4754880" y="2404872"/>
            <a:ext cx="676656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100"/>
              <a:buFont typeface="Calibri"/>
              <a:buNone/>
            </a:pPr>
            <a:r>
              <a:rPr lang="en-US" sz="1100" b="0" i="0" u="none" strike="noStrike" cap="none">
                <a:solidFill>
                  <a:srgbClr val="E6EDF3"/>
                </a:solidFill>
                <a:latin typeface="Calibri"/>
                <a:ea typeface="Calibri"/>
                <a:cs typeface="Calibri"/>
                <a:sym typeface="Calibri"/>
              </a:rPr>
              <a:t>A 31-agent research desk running published, peer-reviewed strategy families — for roughly $23 a month instead of a $27,660 terminal seat.</a:t>
            </a:r>
            <a:endParaRPr sz="1100" b="0" i="0" u="none" strike="noStrike" cap="none">
              <a:solidFill>
                <a:schemeClr val="dk1"/>
              </a:solidFill>
              <a:latin typeface="Calibri"/>
              <a:ea typeface="Calibri"/>
              <a:cs typeface="Calibri"/>
              <a:sym typeface="Calibri"/>
            </a:endParaRPr>
          </a:p>
        </p:txBody>
      </p:sp>
      <p:sp>
        <p:nvSpPr>
          <p:cNvPr id="328" name="Google Shape;328;p22"/>
          <p:cNvSpPr/>
          <p:nvPr/>
        </p:nvSpPr>
        <p:spPr>
          <a:xfrm>
            <a:off x="640080" y="3310128"/>
            <a:ext cx="11018520" cy="841248"/>
          </a:xfrm>
          <a:prstGeom prst="roundRect">
            <a:avLst>
              <a:gd name="adj" fmla="val 7609"/>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22"/>
          <p:cNvSpPr/>
          <p:nvPr/>
        </p:nvSpPr>
        <p:spPr>
          <a:xfrm>
            <a:off x="822960" y="3374136"/>
            <a:ext cx="379476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8A6FF"/>
              </a:buClr>
              <a:buSzPts val="1250"/>
              <a:buFont typeface="Calibri"/>
              <a:buNone/>
            </a:pPr>
            <a:r>
              <a:rPr lang="en-US" sz="1250" b="1" i="0" u="none" strike="noStrike" cap="none">
                <a:solidFill>
                  <a:srgbClr val="58A6FF"/>
                </a:solidFill>
                <a:latin typeface="Calibri"/>
                <a:ea typeface="Calibri"/>
                <a:cs typeface="Calibri"/>
                <a:sym typeface="Calibri"/>
              </a:rPr>
              <a:t>3 · Scaling Operational Efficiency</a:t>
            </a:r>
            <a:endParaRPr sz="1250" b="0" i="0" u="none" strike="noStrike" cap="none">
              <a:solidFill>
                <a:schemeClr val="dk1"/>
              </a:solidFill>
              <a:latin typeface="Calibri"/>
              <a:ea typeface="Calibri"/>
              <a:cs typeface="Calibri"/>
              <a:sym typeface="Calibri"/>
            </a:endParaRPr>
          </a:p>
        </p:txBody>
      </p:sp>
      <p:sp>
        <p:nvSpPr>
          <p:cNvPr id="330" name="Google Shape;330;p22"/>
          <p:cNvSpPr/>
          <p:nvPr/>
        </p:nvSpPr>
        <p:spPr>
          <a:xfrm>
            <a:off x="4754880" y="3374136"/>
            <a:ext cx="676656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100"/>
              <a:buFont typeface="Calibri"/>
              <a:buNone/>
            </a:pPr>
            <a:r>
              <a:rPr lang="en-US" sz="1100" b="0" i="0" u="none" strike="noStrike" cap="none">
                <a:solidFill>
                  <a:srgbClr val="E6EDF3"/>
                </a:solidFill>
                <a:latin typeface="Calibri"/>
                <a:ea typeface="Calibri"/>
                <a:cs typeface="Calibri"/>
                <a:sym typeface="Calibri"/>
              </a:rPr>
              <a:t>One student, zero hands on the keyboard: 45 autonomous builds, two broadcasts a day, and one journaled record that every surface must match.</a:t>
            </a:r>
            <a:endParaRPr sz="1100" b="0" i="0" u="none" strike="noStrike" cap="none">
              <a:solidFill>
                <a:schemeClr val="dk1"/>
              </a:solidFill>
              <a:latin typeface="Calibri"/>
              <a:ea typeface="Calibri"/>
              <a:cs typeface="Calibri"/>
              <a:sym typeface="Calibri"/>
            </a:endParaRPr>
          </a:p>
        </p:txBody>
      </p:sp>
      <p:sp>
        <p:nvSpPr>
          <p:cNvPr id="331" name="Google Shape;331;p22"/>
          <p:cNvSpPr/>
          <p:nvPr/>
        </p:nvSpPr>
        <p:spPr>
          <a:xfrm>
            <a:off x="640080" y="4279392"/>
            <a:ext cx="11018520" cy="841248"/>
          </a:xfrm>
          <a:prstGeom prst="roundRect">
            <a:avLst>
              <a:gd name="adj" fmla="val 7609"/>
            </a:avLst>
          </a:prstGeom>
          <a:solidFill>
            <a:srgbClr val="161B22"/>
          </a:solidFill>
          <a:ln w="12700" cap="flat" cmpd="sng">
            <a:solidFill>
              <a:srgbClr val="3036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22"/>
          <p:cNvSpPr/>
          <p:nvPr/>
        </p:nvSpPr>
        <p:spPr>
          <a:xfrm>
            <a:off x="822960" y="4343400"/>
            <a:ext cx="379476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8A020"/>
              </a:buClr>
              <a:buSzPts val="1250"/>
              <a:buFont typeface="Calibri"/>
              <a:buNone/>
            </a:pPr>
            <a:r>
              <a:rPr lang="en-US" sz="1250" b="1" i="0" u="none" strike="noStrike" cap="none">
                <a:solidFill>
                  <a:srgbClr val="E8A020"/>
                </a:solidFill>
                <a:latin typeface="Calibri"/>
                <a:ea typeface="Calibri"/>
                <a:cs typeface="Calibri"/>
                <a:sym typeface="Calibri"/>
              </a:rPr>
              <a:t>4 · Overcoming Legacy Software Limitations</a:t>
            </a:r>
            <a:endParaRPr sz="1250" b="0" i="0" u="none" strike="noStrike" cap="none">
              <a:solidFill>
                <a:schemeClr val="dk1"/>
              </a:solidFill>
              <a:latin typeface="Calibri"/>
              <a:ea typeface="Calibri"/>
              <a:cs typeface="Calibri"/>
              <a:sym typeface="Calibri"/>
            </a:endParaRPr>
          </a:p>
        </p:txBody>
      </p:sp>
      <p:sp>
        <p:nvSpPr>
          <p:cNvPr id="333" name="Google Shape;333;p22"/>
          <p:cNvSpPr/>
          <p:nvPr/>
        </p:nvSpPr>
        <p:spPr>
          <a:xfrm>
            <a:off x="4754880" y="4343400"/>
            <a:ext cx="676656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EDF3"/>
              </a:buClr>
              <a:buSzPts val="1100"/>
              <a:buFont typeface="Calibri"/>
              <a:buNone/>
            </a:pPr>
            <a:r>
              <a:rPr lang="en-US" sz="1100" b="0" i="0" u="none" strike="noStrike" cap="none">
                <a:solidFill>
                  <a:srgbClr val="E6EDF3"/>
                </a:solidFill>
                <a:latin typeface="Calibri"/>
                <a:ea typeface="Calibri"/>
                <a:cs typeface="Calibri"/>
                <a:sym typeface="Calibri"/>
              </a:rPr>
              <a:t>Where robo-advisors are static questionnaires, OROS converses, explains, grades itself — and encodes a human correction within hours.</a:t>
            </a:r>
            <a:endParaRPr sz="1100" b="0" i="0" u="none" strike="noStrike" cap="none">
              <a:solidFill>
                <a:schemeClr val="dk1"/>
              </a:solidFill>
              <a:latin typeface="Calibri"/>
              <a:ea typeface="Calibri"/>
              <a:cs typeface="Calibri"/>
              <a:sym typeface="Calibri"/>
            </a:endParaRPr>
          </a:p>
        </p:txBody>
      </p:sp>
      <p:sp>
        <p:nvSpPr>
          <p:cNvPr id="334" name="Google Shape;334;p22"/>
          <p:cNvSpPr/>
          <p:nvPr/>
        </p:nvSpPr>
        <p:spPr>
          <a:xfrm>
            <a:off x="1005840" y="5349240"/>
            <a:ext cx="10149840" cy="6400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A020"/>
              </a:buClr>
              <a:buSzPts val="1600"/>
              <a:buFont typeface="Calibri"/>
              <a:buNone/>
            </a:pPr>
            <a:r>
              <a:rPr lang="en-US" sz="1600" b="1" i="1" u="none" strike="noStrike" cap="none">
                <a:solidFill>
                  <a:srgbClr val="E8A020"/>
                </a:solidFill>
                <a:latin typeface="Calibri"/>
                <a:ea typeface="Calibri"/>
                <a:cs typeface="Calibri"/>
                <a:sym typeface="Calibri"/>
              </a:rPr>
              <a:t>“I see a future where everyone has a financial advisor — and public markets earn the trust we grant gold and oil. OROS is one student-sized step toward that.”</a:t>
            </a:r>
            <a:endParaRPr sz="1600" b="0" i="0" u="none" strike="noStrike" cap="none">
              <a:solidFill>
                <a:schemeClr val="dk1"/>
              </a:solidFill>
              <a:latin typeface="Calibri"/>
              <a:ea typeface="Calibri"/>
              <a:cs typeface="Calibri"/>
              <a:sym typeface="Calibri"/>
            </a:endParaRPr>
          </a:p>
        </p:txBody>
      </p:sp>
      <p:sp>
        <p:nvSpPr>
          <p:cNvPr id="335" name="Google Shape;335;p22"/>
          <p:cNvSpPr/>
          <p:nvPr/>
        </p:nvSpPr>
        <p:spPr>
          <a:xfrm>
            <a:off x="1005840" y="6172200"/>
            <a:ext cx="1014984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6EDF3"/>
              </a:buClr>
              <a:buSzPts val="1200"/>
              <a:buFont typeface="Calibri"/>
              <a:buNone/>
            </a:pPr>
            <a:r>
              <a:rPr lang="en-US" sz="1200" b="0" i="1" u="none" strike="noStrike" cap="none">
                <a:solidFill>
                  <a:srgbClr val="E6EDF3"/>
                </a:solidFill>
                <a:latin typeface="Calibri"/>
                <a:ea typeface="Calibri"/>
                <a:cs typeface="Calibri"/>
                <a:sym typeface="Calibri"/>
              </a:rPr>
              <a:t>“The system proposes; it never trades. The record is public — win or lose.”   — thank you · OROS Market Desk on YouTube · journals open for review</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85</TotalTime>
  <Words>4356</Words>
  <Application>Microsoft Macintosh PowerPoint</Application>
  <PresentationFormat>Widescreen</PresentationFormat>
  <Paragraphs>218</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Romero, Jp P</cp:lastModifiedBy>
  <cp:revision>5</cp:revision>
  <dcterms:modified xsi:type="dcterms:W3CDTF">2026-07-30T01:03:14Z</dcterms:modified>
</cp:coreProperties>
</file>