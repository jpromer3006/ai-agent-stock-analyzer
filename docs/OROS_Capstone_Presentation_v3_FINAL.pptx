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22" Type="http://schemas.openxmlformats.org/officeDocument/2006/relationships/slide" Target="slides/slide18.xml"/><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24" Type="http://schemas.openxmlformats.org/officeDocument/2006/relationships/slide" Target="slides/slide20.xml"/><Relationship Id="rId12" Type="http://schemas.openxmlformats.org/officeDocument/2006/relationships/slide" Target="slides/slide8.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seconds. Open with the show of hands: who has a financial advisor? Almost nobody. Who has a brokerage app? Everyone. That gap is where this capstone lives. Then the one-liner: an AI agent team that runs a research desk by itself and publishes its record, win or lose. Frame as research: journaled, auditable, simulated money only.</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 name="Shape 20"/>
        <p:cNvGrpSpPr/>
        <p:nvPr/>
      </p:nvGrpSpPr>
      <p:grpSpPr>
        <a:xfrm>
          <a:off x="0" y="0"/>
          <a:ext cx="0" cy="0"/>
          <a:chOff x="0" y="0"/>
          <a:chExt cx="0" cy="0"/>
        </a:xfrm>
      </p:grpSpPr>
      <p:sp>
        <p:nvSpPr>
          <p:cNvPr id="21" name="Google Shape;2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 name="Google Shape;2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90 seconds. Read the room the flow diagram first, then speak the paragraph naturally — it is written to be said aloud: minimums, fees, emotion, speed, and the mass-customization paradox, then automation's answer to all five. Land the gold line: a trillion dollars proves cost is solved — nobody shows their reasoning, so conversation is not. And OROS's own position in this industry is deliberate: it proposes and journals; it never executes.</a:t>
            </a:r>
            <a:endParaRPr/>
          </a:p>
        </p:txBody>
      </p:sp>
      <p:sp>
        <p:nvSpPr>
          <p:cNvPr id="23" name="Google Shape;2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 name="Google Shape;4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45 seconds. All pictures, minimal reading. Left: the burnout — one human, thousands of charts, 3 AM; reviewing 500 charts manually is a 33-hour night. Center: the behavior gap — emotion buys the euphoric top and sells the panic bottom, and the market recovers without them; misaligned incentives and emotional cycles are exactly why governance and journaled rules matter. Right: the punchline stats — 60 to 73 percent of ALL U.S. equity volume is already algorithmic, and the industry is racing to build more bots. The machines already run the market; the question is whether anyone shows their reasoning. That is the governance gap OROS answers with journals.</a:t>
            </a:r>
            <a:endParaRPr/>
          </a:p>
        </p:txBody>
      </p:sp>
      <p:sp>
        <p:nvSpPr>
          <p:cNvPr id="42" name="Google Shape;4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60 seconds. Walk the diagram: regulators above, three pillars below — capital, service, machinery. Then the paragraph, naturally. Two nuances for the committee: traditional advisors are not eliminated — their role shifts to coaching and complex planning; and the governance tier is not decoration — the SEC/UBS YES-strategy case shows what happens when complex products lack transparency. Land the gold line: OROS gives investors four doors in, builders auditable journals, and regulators a system that logs everything and never executes. That is why 'proposes, never trades' is a design principle, not a limitation.</a:t>
            </a:r>
            <a:endParaRPr/>
          </a:p>
        </p:txBody>
      </p:sp>
      <p:sp>
        <p:nvSpPr>
          <p:cNvPr id="57" name="Google Shape;5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75 seconds. Correct count, three tiers: seven pipeline roles on the left run the daily loop; the right panel is the bench — EIGHTEEN sector specialists, each reading its industry's own SEC filings with sector-specific tools (a REIT graded on funds-from-operations, a bank on deposits, a biotech on its trial pipeline), routed by the Classifier; plus the research voices and the three dialogue agents. Thirty-one agents, one journaled truth. Close on the doctrine — the answer to the LLM-in-finance objection.</a:t>
            </a:r>
            <a:endParaRPr/>
          </a:p>
        </p:txBody>
      </p:sp>
      <p:sp>
        <p:nvSpPr>
          <p:cNvPr id="83" name="Google Shape;8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45 seconds. This is the landing screen: the whole market's weather, then your list's scan. Stage cards double as navigation. Emphasize the timestamped provenance — these figures came from the overnight autonomous run and match the video and the email.</a:t>
            </a:r>
            <a:endParaRPr/>
          </a:p>
        </p:txBody>
      </p:sp>
      <p:sp>
        <p:nvSpPr>
          <p:cNvPr id="119" name="Google Shape;11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45 seconds. The money moment: an 85% bull-probability name REFUSED because volume hasn't confirmed. Read the two gate cards aloud — pass and fail. No entry without proof of strength; a WATCH label is the system practicing patience in public.</a:t>
            </a:r>
            <a:endParaRPr/>
          </a:p>
        </p:txBody>
      </p:sp>
      <p:sp>
        <p:nvSpPr>
          <p:cNvPr id="129" name="Google Shape;12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seconds. Agentic Autonomous Mode: the system chose mandate, risk, and universe from data. Point at the blend banner (the Playbook), the risk score, and mention the bench — the journal of names it REFUSED, with reasons. Customization: check different Playbooks — sprinter, swing, patient growth, value — same rules, different personality.</a:t>
            </a:r>
            <a:endParaRPr/>
          </a:p>
        </p:txBody>
      </p:sp>
      <p:sp>
        <p:nvSpPr>
          <p:cNvPr id="139" name="Google Shape;13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55 seconds. Built live the night before this presentation, and it reruns live in the demo. Claude nominated NVIDIA, Tesla, AMD; the deterministic gates refused all three and sized the 12 survivors so cautiously the book held 53% cash. The audition sheet shows every nomination with its verdict — the safety architecture made visible.</a:t>
            </a:r>
            <a:endParaRPr/>
          </a:p>
        </p:txBody>
      </p:sp>
      <p:sp>
        <p:nvSpPr>
          <p:cNvPr id="149" name="Google Shape;14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 name="Google Shape;16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40 seconds. The Research tab's Historian: overhead supply zones from ten years of price, seasonality from 46 years of calendar. This is the EDA layer — anomaly detection by context. Mention: every claim in the memo cites SEC filings.</a:t>
            </a:r>
            <a:endParaRPr/>
          </a:p>
        </p:txBody>
      </p:sp>
      <p:sp>
        <p:nvSpPr>
          <p:cNvPr id="162" name="Google Shape;16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seconds. Be factual and specific: structured financials come from SEC EDGAR's XBRL — never scraped PDFs — with a compliant User-Agent and rate limiting; the universe comes from Nasdaq Trader's own listing files; prices from Yahoo Finance cached nightly for all 500; macro from FRED. Unstructured: the 10-K text itself, chunked into a vector store respecting Item boundaries, plus VADER-scored headlines and StockTwits attention. Then point at the screenshot: the system writes its own bibliography — numbered footnotes and a live EDGAR link by CIK in every memo. State the limits before they ask: delayed quotes, filing lag, quota fallbacks.</a:t>
            </a:r>
            <a:endParaRPr/>
          </a:p>
        </p:txBody>
      </p:sp>
      <p:sp>
        <p:nvSpPr>
          <p:cNvPr id="175" name="Google Shape;17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40 seconds. Two windows into the same honesty. Left: the agent workflow itself — when the Sector Specialist analyzes a company, its tool calls stream onto the screen: which SEC filing it pulled, which metric it computed, in order. Nothing happens behind a curtain. Right: the public channel — the same agents' conclusions broadcast twice a day, timestamped forever, including the days with nothing to say. Say the gold line slowly: a robo-advisor asks for trust; OROS manufactures it by exposure. Then hand off: now let me show you what those agents actually produce — the scanner.</a:t>
            </a:r>
            <a:endParaRPr/>
          </a:p>
        </p:txBody>
      </p:sp>
      <p:sp>
        <p:nvSpPr>
          <p:cNvPr id="194" name="Google Shape;19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seconds. The direct answer to Investopedia's 'lack of human touch.' Read the three headers aloud — What the Build Shows, Why It's Included, What I Can't Say. The refusal is the feature: educational conversation with enforced limits, in the Portfolio tab, the Historian, and the YouTube desk.</a:t>
            </a:r>
            <a:endParaRPr/>
          </a:p>
        </p:txBody>
      </p:sp>
      <p:sp>
        <p:nvSpPr>
          <p:cNvPr id="207" name="Google Shape;207;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 name="Google Shape;21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45 seconds. Every surface derives from one journaled record — the report PDF, Nathan's glance digest, the app landing view, and both broadcasts. Say it as the trust property: they cannot disagree, by construction. Mention the research memo of the day rides along, SEC-cited.</a:t>
            </a:r>
            <a:endParaRPr/>
          </a:p>
        </p:txBody>
      </p:sp>
      <p:sp>
        <p:nvSpPr>
          <p:cNvPr id="218" name="Google Shape;218;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 name="Google Shape;230;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45 seconds. GitHub Actions runs the desk twice daily: scan, build, render, voice, publish, email, journal — laptop closed. Tonight's episode aired the corrected classifier and the holdings scene. Play 20 seconds of today's episode here if time allows.</a:t>
            </a:r>
            <a:endParaRPr/>
          </a:p>
        </p:txBody>
      </p:sp>
      <p:sp>
        <p:nvSpPr>
          <p:cNvPr id="231" name="Google Shape;231;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60 seconds. The honest forward chart — every point journaled, finish line on presentation day. Say the caveat before they do: 17 sessions in one regime proves process, not alpha. Then the audit: we read our own reports skeptically, found phantom drops, fixed and published. Self-grading includes the plumbing.</a:t>
            </a:r>
            <a:endParaRPr/>
          </a:p>
        </p:txBody>
      </p:sp>
      <p:sp>
        <p:nvSpPr>
          <p:cNvPr id="244" name="Google Shape;244;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9" name="Google Shape;259;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55 seconds. Lead with the seventy cents — the number nobody expects, and it is journaled, not estimated. One Bloomberg seat costs 100x OROS's whole year. The scenario is labeled scenario; the margins are evidence because the cost line is real.</a:t>
            </a:r>
            <a:endParaRPr/>
          </a:p>
        </p:txBody>
      </p:sp>
      <p:sp>
        <p:nvSpPr>
          <p:cNvPr id="260" name="Google Shape;260;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 name="Google Shape;277;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60 seconds. Say each limitation before they can — every one ships with its study design. Number 3 is the pride point: BND and HOOD were both re-classified this week because a human questioned the label and the framework's own logic settled it. That is how an autonomous system improves.</a:t>
            </a:r>
            <a:endParaRPr/>
          </a:p>
        </p:txBody>
      </p:sp>
      <p:sp>
        <p:nvSpPr>
          <p:cNvPr id="278" name="Google Shape;278;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7" name="Google Shape;297;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60 seconds. Walk the evidence: Robinhood is shipping 'Let your agent trade' through an MCP server — the exact rail a system like OROS would plug into for broker-verified execution; Coinbase built agent-native access; JPMorgan — the same bank from our course case — has agents beating the 60/40 in backtests as of July 2026; Vanguard runs robo at giant scale. The rails exist. OROS's roadmap rides them — bring-your-own portfolio first, then agent-API paper fills — and adds the thing none of these ship: a community that learns in public, open journals, a channel that grades itself. Trust compounds socially; that is section nine.</a:t>
            </a:r>
            <a:endParaRPr/>
          </a:p>
        </p:txBody>
      </p:sp>
      <p:sp>
        <p:nvSpPr>
          <p:cNvPr id="298" name="Google Shape;298;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7" name="Google Shape;317;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60 seconds, slow. Four conclusions, one line of evidence each: volatility — the flat book on SPY's worst days; democratization — institutional discipline at 1% of a terminal seat; efficiency — 45 autonomous builds and two daily shows with no hands; legacy — the advisor that converses and self-corrects within hours. Then your statement, slowly — it is the emotional center. End on the end-card quote, thank Professors Zhou, Ettl, and Tang, and invite the quant review: the journals are open.</a:t>
            </a:r>
            <a:endParaRPr/>
          </a:p>
        </p:txBody>
      </p:sp>
      <p:sp>
        <p:nvSpPr>
          <p:cNvPr id="318" name="Google Shape;318;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2.png"/><Relationship Id="rId5" Type="http://schemas.openxmlformats.org/officeDocument/2006/relationships/image" Target="../media/image22.png"/><Relationship Id="rId6"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1.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8.png"/><Relationship Id="rId4" Type="http://schemas.openxmlformats.org/officeDocument/2006/relationships/image" Target="../media/image6.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15" name="Shape 15"/>
        <p:cNvGrpSpPr/>
        <p:nvPr/>
      </p:nvGrpSpPr>
      <p:grpSpPr>
        <a:xfrm>
          <a:off x="0" y="0"/>
          <a:ext cx="0" cy="0"/>
          <a:chOff x="0" y="0"/>
          <a:chExt cx="0" cy="0"/>
        </a:xfrm>
      </p:grpSpPr>
      <p:sp>
        <p:nvSpPr>
          <p:cNvPr id="16" name="Google Shape;16;p3"/>
          <p:cNvSpPr/>
          <p:nvPr/>
        </p:nvSpPr>
        <p:spPr>
          <a:xfrm>
            <a:off x="457200" y="1554480"/>
            <a:ext cx="11274552"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6EDF3"/>
              </a:buClr>
              <a:buSzPts val="5400"/>
              <a:buFont typeface="Calibri"/>
              <a:buNone/>
            </a:pPr>
            <a:r>
              <a:rPr b="1" i="0" lang="en-US" sz="5400" u="none" cap="none" strike="noStrike">
                <a:solidFill>
                  <a:srgbClr val="E6EDF3"/>
                </a:solidFill>
                <a:latin typeface="Calibri"/>
                <a:ea typeface="Calibri"/>
                <a:cs typeface="Calibri"/>
                <a:sym typeface="Calibri"/>
              </a:rPr>
              <a:t>OROS</a:t>
            </a:r>
            <a:endParaRPr b="0" i="0" sz="5400" u="none" cap="none" strike="noStrike">
              <a:solidFill>
                <a:schemeClr val="dk1"/>
              </a:solidFill>
              <a:latin typeface="Calibri"/>
              <a:ea typeface="Calibri"/>
              <a:cs typeface="Calibri"/>
              <a:sym typeface="Calibri"/>
            </a:endParaRPr>
          </a:p>
        </p:txBody>
      </p:sp>
      <p:sp>
        <p:nvSpPr>
          <p:cNvPr id="17" name="Google Shape;17;p3"/>
          <p:cNvSpPr/>
          <p:nvPr/>
        </p:nvSpPr>
        <p:spPr>
          <a:xfrm>
            <a:off x="822960" y="2560320"/>
            <a:ext cx="105156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A020"/>
              </a:buClr>
              <a:buSzPts val="1800"/>
              <a:buFont typeface="Calibri"/>
              <a:buNone/>
            </a:pPr>
            <a:r>
              <a:rPr b="0" i="0" lang="en-US" sz="1800" u="none" cap="none" strike="noStrike">
                <a:solidFill>
                  <a:srgbClr val="E8A020"/>
                </a:solidFill>
                <a:latin typeface="Calibri"/>
                <a:ea typeface="Calibri"/>
                <a:cs typeface="Calibri"/>
                <a:sym typeface="Calibri"/>
              </a:rPr>
              <a:t>An Autonomous Agentic Market Analyst — a research prototype of robo-advisory's next generation</a:t>
            </a:r>
            <a:endParaRPr b="0" i="0" sz="1800" u="none" cap="none" strike="noStrike">
              <a:solidFill>
                <a:schemeClr val="dk1"/>
              </a:solidFill>
              <a:latin typeface="Calibri"/>
              <a:ea typeface="Calibri"/>
              <a:cs typeface="Calibri"/>
              <a:sym typeface="Calibri"/>
            </a:endParaRPr>
          </a:p>
        </p:txBody>
      </p:sp>
      <p:sp>
        <p:nvSpPr>
          <p:cNvPr id="18" name="Google Shape;18;p3"/>
          <p:cNvSpPr/>
          <p:nvPr/>
        </p:nvSpPr>
        <p:spPr>
          <a:xfrm>
            <a:off x="1554480" y="3200400"/>
            <a:ext cx="905256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6EDF3"/>
              </a:buClr>
              <a:buSzPts val="1400"/>
              <a:buFont typeface="Calibri"/>
              <a:buNone/>
            </a:pPr>
            <a:r>
              <a:rPr b="0" i="1" lang="en-US" sz="1400" u="none" cap="none" strike="noStrike">
                <a:solidFill>
                  <a:srgbClr val="E6EDF3"/>
                </a:solidFill>
                <a:latin typeface="Calibri"/>
                <a:ea typeface="Calibri"/>
                <a:cs typeface="Calibri"/>
                <a:sym typeface="Calibri"/>
              </a:rPr>
              <a:t>It scans 500 stocks nightly, builds risk-sized simulated portfolios, explains every decision on YouTube twice a day, and grades its own record in public — the advisor that shows its work.</a:t>
            </a:r>
            <a:endParaRPr b="0" i="0" sz="1400" u="none" cap="none" strike="noStrike">
              <a:solidFill>
                <a:schemeClr val="dk1"/>
              </a:solidFill>
              <a:latin typeface="Calibri"/>
              <a:ea typeface="Calibri"/>
              <a:cs typeface="Calibri"/>
              <a:sym typeface="Calibri"/>
            </a:endParaRPr>
          </a:p>
        </p:txBody>
      </p:sp>
      <p:sp>
        <p:nvSpPr>
          <p:cNvPr id="19" name="Google Shape;19;p3"/>
          <p:cNvSpPr/>
          <p:nvPr/>
        </p:nvSpPr>
        <p:spPr>
          <a:xfrm>
            <a:off x="1280160" y="4206240"/>
            <a:ext cx="9601200" cy="10972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949E"/>
              </a:buClr>
              <a:buSzPts val="1200"/>
              <a:buFont typeface="Calibri"/>
              <a:buNone/>
            </a:pPr>
            <a:r>
              <a:rPr b="0" i="0" lang="en-US" sz="1200" u="none" cap="none" strike="noStrike">
                <a:solidFill>
                  <a:srgbClr val="8B949E"/>
                </a:solidFill>
                <a:latin typeface="Calibri"/>
                <a:ea typeface="Calibri"/>
                <a:cs typeface="Calibri"/>
                <a:sym typeface="Calibri"/>
              </a:rPr>
              <a:t>JP Romero · Fordham MSAIB · July 29, 2026</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8B949E"/>
              </a:buClr>
              <a:buSzPts val="1200"/>
              <a:buFont typeface="Calibri"/>
              <a:buNone/>
            </a:pPr>
            <a:r>
              <a:rPr b="0" i="0" lang="en-US" sz="1200" u="none" cap="none" strike="noStrike">
                <a:solidFill>
                  <a:srgbClr val="8B949E"/>
                </a:solidFill>
                <a:latin typeface="Calibri"/>
                <a:ea typeface="Calibri"/>
                <a:cs typeface="Calibri"/>
                <a:sym typeface="Calibri"/>
              </a:rPr>
              <a:t>Research under Prof. Yi Tang's Stock Prediction initiative — methods and results open to review by finance quant faculty and students</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8B949E"/>
              </a:buClr>
              <a:buSzPts val="1200"/>
              <a:buFont typeface="Calibri"/>
              <a:buNone/>
            </a:pPr>
            <a:r>
              <a:rPr b="0" i="0" lang="en-US" sz="1200" u="none" cap="none" strike="noStrike">
                <a:solidFill>
                  <a:srgbClr val="8B949E"/>
                </a:solidFill>
                <a:latin typeface="Calibri"/>
                <a:ea typeface="Calibri"/>
                <a:cs typeface="Calibri"/>
                <a:sym typeface="Calibri"/>
              </a:rPr>
              <a:t>Advisors: Dr. Yilu Zhou · Prof. Markus Ettl · Prof. Yi Tang</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24" name="Shape 24"/>
        <p:cNvGrpSpPr/>
        <p:nvPr/>
      </p:nvGrpSpPr>
      <p:grpSpPr>
        <a:xfrm>
          <a:off x="0" y="0"/>
          <a:ext cx="0" cy="0"/>
          <a:chOff x="0" y="0"/>
          <a:chExt cx="0" cy="0"/>
        </a:xfrm>
      </p:grpSpPr>
      <p:sp>
        <p:nvSpPr>
          <p:cNvPr id="25" name="Google Shape;25;p4"/>
          <p:cNvSpPr/>
          <p:nvPr/>
        </p:nvSpPr>
        <p:spPr>
          <a:xfrm>
            <a:off x="457200" y="6519672"/>
            <a:ext cx="8778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850"/>
              <a:buFont typeface="Calibri"/>
              <a:buNone/>
            </a:pPr>
            <a:r>
              <a:rPr b="0" i="0" lang="en-US" sz="850" u="none" cap="none" strike="noStrike">
                <a:solidFill>
                  <a:srgbClr val="8B949E"/>
                </a:solidFill>
                <a:latin typeface="Calibri"/>
                <a:ea typeface="Calibri"/>
                <a:cs typeface="Calibri"/>
                <a:sym typeface="Calibri"/>
              </a:rPr>
              <a:t>OROS · Fordham MSAIB Capstone · simulated paper trading · educational, not financial advice</a:t>
            </a:r>
            <a:endParaRPr b="0" i="0" sz="850" u="none" cap="none" strike="noStrike">
              <a:solidFill>
                <a:schemeClr val="dk1"/>
              </a:solidFill>
              <a:latin typeface="Calibri"/>
              <a:ea typeface="Calibri"/>
              <a:cs typeface="Calibri"/>
              <a:sym typeface="Calibri"/>
            </a:endParaRPr>
          </a:p>
        </p:txBody>
      </p:sp>
      <p:sp>
        <p:nvSpPr>
          <p:cNvPr id="26" name="Google Shape;26;p4"/>
          <p:cNvSpPr/>
          <p:nvPr/>
        </p:nvSpPr>
        <p:spPr>
          <a:xfrm>
            <a:off x="502920" y="274320"/>
            <a:ext cx="11155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020"/>
              </a:buClr>
              <a:buSzPts val="1150"/>
              <a:buFont typeface="Calibri"/>
              <a:buNone/>
            </a:pPr>
            <a:r>
              <a:rPr b="1" i="0" lang="en-US" sz="1150" u="none" cap="none" strike="noStrike">
                <a:solidFill>
                  <a:srgbClr val="E8A020"/>
                </a:solidFill>
                <a:latin typeface="Calibri"/>
                <a:ea typeface="Calibri"/>
                <a:cs typeface="Calibri"/>
                <a:sym typeface="Calibri"/>
              </a:rPr>
              <a:t>SECTIONS 1–2 · THE CORE BUSINESS PROBLEM</a:t>
            </a:r>
            <a:endParaRPr b="0" i="0" sz="1150" u="none" cap="none" strike="noStrike">
              <a:solidFill>
                <a:schemeClr val="dk1"/>
              </a:solidFill>
              <a:latin typeface="Calibri"/>
              <a:ea typeface="Calibri"/>
              <a:cs typeface="Calibri"/>
              <a:sym typeface="Calibri"/>
            </a:endParaRPr>
          </a:p>
        </p:txBody>
      </p:sp>
      <p:sp>
        <p:nvSpPr>
          <p:cNvPr id="27" name="Google Shape;27;p4"/>
          <p:cNvSpPr/>
          <p:nvPr/>
        </p:nvSpPr>
        <p:spPr>
          <a:xfrm>
            <a:off x="475488" y="530352"/>
            <a:ext cx="112471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2700"/>
              <a:buFont typeface="Calibri"/>
              <a:buNone/>
            </a:pPr>
            <a:r>
              <a:rPr b="1" i="0" lang="en-US" sz="2700" u="none" cap="none" strike="noStrike">
                <a:solidFill>
                  <a:srgbClr val="E6EDF3"/>
                </a:solidFill>
                <a:latin typeface="Calibri"/>
                <a:ea typeface="Calibri"/>
                <a:cs typeface="Calibri"/>
                <a:sym typeface="Calibri"/>
              </a:rPr>
              <a:t>Human-Led Financial Decision-Making Is Expensive, Slow, and Emotional</a:t>
            </a:r>
            <a:endParaRPr b="0" i="0" sz="2700" u="none" cap="none" strike="noStrike">
              <a:solidFill>
                <a:schemeClr val="dk1"/>
              </a:solidFill>
              <a:latin typeface="Calibri"/>
              <a:ea typeface="Calibri"/>
              <a:cs typeface="Calibri"/>
              <a:sym typeface="Calibri"/>
            </a:endParaRPr>
          </a:p>
        </p:txBody>
      </p:sp>
      <p:sp>
        <p:nvSpPr>
          <p:cNvPr id="28" name="Google Shape;28;p4"/>
          <p:cNvSpPr/>
          <p:nvPr/>
        </p:nvSpPr>
        <p:spPr>
          <a:xfrm>
            <a:off x="1280160" y="1371600"/>
            <a:ext cx="4023360" cy="868680"/>
          </a:xfrm>
          <a:prstGeom prst="roundRect">
            <a:avLst>
              <a:gd fmla="val 8421" name="adj"/>
            </a:avLst>
          </a:prstGeom>
          <a:solidFill>
            <a:srgbClr val="161B22"/>
          </a:solidFill>
          <a:ln cap="flat" cmpd="sng" w="19050">
            <a:solidFill>
              <a:srgbClr val="58A6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4"/>
          <p:cNvSpPr/>
          <p:nvPr/>
        </p:nvSpPr>
        <p:spPr>
          <a:xfrm>
            <a:off x="1417320" y="1444752"/>
            <a:ext cx="3749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A6FF"/>
              </a:buClr>
              <a:buSzPts val="1100"/>
              <a:buFont typeface="Calibri"/>
              <a:buNone/>
            </a:pPr>
            <a:r>
              <a:rPr b="1" i="0" lang="en-US" sz="1100" u="none" cap="none" strike="noStrike">
                <a:solidFill>
                  <a:srgbClr val="58A6FF"/>
                </a:solidFill>
                <a:latin typeface="Calibri"/>
                <a:ea typeface="Calibri"/>
                <a:cs typeface="Calibri"/>
                <a:sym typeface="Calibri"/>
              </a:rPr>
              <a:t>TRADITIONAL WEALTH MANAGEMENT</a:t>
            </a:r>
            <a:endParaRPr b="0" i="0" sz="1100" u="none" cap="none" strike="noStrike">
              <a:solidFill>
                <a:schemeClr val="dk1"/>
              </a:solidFill>
              <a:latin typeface="Calibri"/>
              <a:ea typeface="Calibri"/>
              <a:cs typeface="Calibri"/>
              <a:sym typeface="Calibri"/>
            </a:endParaRPr>
          </a:p>
        </p:txBody>
      </p:sp>
      <p:sp>
        <p:nvSpPr>
          <p:cNvPr id="30" name="Google Shape;30;p4"/>
          <p:cNvSpPr/>
          <p:nvPr/>
        </p:nvSpPr>
        <p:spPr>
          <a:xfrm>
            <a:off x="1417320" y="1737360"/>
            <a:ext cx="37490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1150"/>
              <a:buFont typeface="Calibri"/>
              <a:buNone/>
            </a:pPr>
            <a:r>
              <a:rPr b="0" i="0" lang="en-US" sz="1150" u="none" cap="none" strike="noStrike">
                <a:solidFill>
                  <a:srgbClr val="E6EDF3"/>
                </a:solidFill>
                <a:latin typeface="Calibri"/>
                <a:ea typeface="Calibri"/>
                <a:cs typeface="Calibri"/>
                <a:sym typeface="Calibri"/>
              </a:rPr>
              <a:t>high fees · human bias · slow execution</a:t>
            </a:r>
            <a:endParaRPr b="0" i="0" sz="1150" u="none" cap="none" strike="noStrike">
              <a:solidFill>
                <a:schemeClr val="dk1"/>
              </a:solidFill>
              <a:latin typeface="Calibri"/>
              <a:ea typeface="Calibri"/>
              <a:cs typeface="Calibri"/>
              <a:sym typeface="Calibri"/>
            </a:endParaRPr>
          </a:p>
        </p:txBody>
      </p:sp>
      <p:sp>
        <p:nvSpPr>
          <p:cNvPr id="31" name="Google Shape;31;p4"/>
          <p:cNvSpPr/>
          <p:nvPr/>
        </p:nvSpPr>
        <p:spPr>
          <a:xfrm>
            <a:off x="5349240" y="1572768"/>
            <a:ext cx="173736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A020"/>
              </a:buClr>
              <a:buSzPts val="1250"/>
              <a:buFont typeface="Calibri"/>
              <a:buNone/>
            </a:pPr>
            <a:r>
              <a:rPr b="1" i="0" lang="en-US" sz="1250" u="none" cap="none" strike="noStrike">
                <a:solidFill>
                  <a:srgbClr val="E8A020"/>
                </a:solidFill>
                <a:latin typeface="Calibri"/>
                <a:ea typeface="Calibri"/>
                <a:cs typeface="Calibri"/>
                <a:sym typeface="Calibri"/>
              </a:rPr>
              <a:t>→  solved by  →</a:t>
            </a:r>
            <a:endParaRPr b="0" i="0" sz="1250" u="none" cap="none" strike="noStrike">
              <a:solidFill>
                <a:schemeClr val="dk1"/>
              </a:solidFill>
              <a:latin typeface="Calibri"/>
              <a:ea typeface="Calibri"/>
              <a:cs typeface="Calibri"/>
              <a:sym typeface="Calibri"/>
            </a:endParaRPr>
          </a:p>
        </p:txBody>
      </p:sp>
      <p:sp>
        <p:nvSpPr>
          <p:cNvPr id="32" name="Google Shape;32;p4"/>
          <p:cNvSpPr/>
          <p:nvPr/>
        </p:nvSpPr>
        <p:spPr>
          <a:xfrm>
            <a:off x="7132320" y="1371600"/>
            <a:ext cx="4023360" cy="868680"/>
          </a:xfrm>
          <a:prstGeom prst="roundRect">
            <a:avLst>
              <a:gd fmla="val 8421" name="adj"/>
            </a:avLst>
          </a:prstGeom>
          <a:solidFill>
            <a:srgbClr val="161B22"/>
          </a:solidFill>
          <a:ln cap="flat" cmpd="sng" w="19050">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a:off x="7269480" y="1444752"/>
            <a:ext cx="3749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020"/>
              </a:buClr>
              <a:buSzPts val="1100"/>
              <a:buFont typeface="Calibri"/>
              <a:buNone/>
            </a:pPr>
            <a:r>
              <a:rPr b="1" i="0" lang="en-US" sz="1100" u="none" cap="none" strike="noStrike">
                <a:solidFill>
                  <a:srgbClr val="E8A020"/>
                </a:solidFill>
                <a:latin typeface="Calibri"/>
                <a:ea typeface="Calibri"/>
                <a:cs typeface="Calibri"/>
                <a:sym typeface="Calibri"/>
              </a:rPr>
              <a:t>ROBO-ADVISORS &amp; AGENTIC AI</a:t>
            </a:r>
            <a:endParaRPr b="0" i="0" sz="1100" u="none" cap="none" strike="noStrike">
              <a:solidFill>
                <a:schemeClr val="dk1"/>
              </a:solidFill>
              <a:latin typeface="Calibri"/>
              <a:ea typeface="Calibri"/>
              <a:cs typeface="Calibri"/>
              <a:sym typeface="Calibri"/>
            </a:endParaRPr>
          </a:p>
        </p:txBody>
      </p:sp>
      <p:sp>
        <p:nvSpPr>
          <p:cNvPr id="34" name="Google Shape;34;p4"/>
          <p:cNvSpPr/>
          <p:nvPr/>
        </p:nvSpPr>
        <p:spPr>
          <a:xfrm>
            <a:off x="7269480" y="1737360"/>
            <a:ext cx="37490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1150"/>
              <a:buFont typeface="Calibri"/>
              <a:buNone/>
            </a:pPr>
            <a:r>
              <a:rPr b="0" i="0" lang="en-US" sz="1150" u="none" cap="none" strike="noStrike">
                <a:solidFill>
                  <a:srgbClr val="E6EDF3"/>
                </a:solidFill>
                <a:latin typeface="Calibri"/>
                <a:ea typeface="Calibri"/>
                <a:cs typeface="Calibri"/>
                <a:sym typeface="Calibri"/>
              </a:rPr>
              <a:t>low cost · algorithmic logic · real-time autonomy</a:t>
            </a:r>
            <a:endParaRPr b="0" i="0" sz="1150" u="none" cap="none" strike="noStrike">
              <a:solidFill>
                <a:schemeClr val="dk1"/>
              </a:solidFill>
              <a:latin typeface="Calibri"/>
              <a:ea typeface="Calibri"/>
              <a:cs typeface="Calibri"/>
              <a:sym typeface="Calibri"/>
            </a:endParaRPr>
          </a:p>
        </p:txBody>
      </p:sp>
      <p:sp>
        <p:nvSpPr>
          <p:cNvPr id="35" name="Google Shape;35;p4"/>
          <p:cNvSpPr/>
          <p:nvPr/>
        </p:nvSpPr>
        <p:spPr>
          <a:xfrm>
            <a:off x="1280160" y="2606040"/>
            <a:ext cx="9875520" cy="173736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E6EDF3"/>
              </a:buClr>
              <a:buSzPts val="1350"/>
              <a:buFont typeface="Calibri"/>
              <a:buNone/>
            </a:pPr>
            <a:r>
              <a:rPr b="0" i="0" lang="en-US" sz="1350" u="none" cap="none" strike="noStrike">
                <a:solidFill>
                  <a:srgbClr val="E6EDF3"/>
                </a:solidFill>
                <a:latin typeface="Calibri"/>
                <a:ea typeface="Calibri"/>
                <a:cs typeface="Calibri"/>
                <a:sym typeface="Calibri"/>
              </a:rPr>
              <a:t>The fundamental problem that robo-advisors and agentic trading exist to solve is the inefficiency, cost, and emotional bias of human-led financial decision-making. Traditional wealth management needs $100,000-plus minimums to justify an advisor's time, and passes a 1–2% annual fee down to the client. Human investors panic-sell crashes, overbuy hype, and can process only a fraction of the market's data before fatigue sets in — while markets themselves move in milliseconds, far faster than human analysis and manual order routing. And hand-tailoring rebalancing, risk profiles, and tax optimization for thousands of individual accounts is humanly impossible: the mass-customization paradox.</a:t>
            </a:r>
            <a:endParaRPr b="0" i="0" sz="1350" u="none" cap="none" strike="noStrike">
              <a:solidFill>
                <a:schemeClr val="dk1"/>
              </a:solidFill>
              <a:latin typeface="Calibri"/>
              <a:ea typeface="Calibri"/>
              <a:cs typeface="Calibri"/>
              <a:sym typeface="Calibri"/>
            </a:endParaRPr>
          </a:p>
        </p:txBody>
      </p:sp>
      <p:sp>
        <p:nvSpPr>
          <p:cNvPr id="36" name="Google Shape;36;p4"/>
          <p:cNvSpPr/>
          <p:nvPr/>
        </p:nvSpPr>
        <p:spPr>
          <a:xfrm>
            <a:off x="1280160" y="4434840"/>
            <a:ext cx="9875520" cy="9144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E6EDF3"/>
              </a:buClr>
              <a:buSzPts val="1350"/>
              <a:buFont typeface="Calibri"/>
              <a:buNone/>
            </a:pPr>
            <a:r>
              <a:rPr b="0" i="0" lang="en-US" sz="1350" u="none" cap="none" strike="noStrike">
                <a:solidFill>
                  <a:srgbClr val="E6EDF3"/>
                </a:solidFill>
                <a:latin typeface="Calibri"/>
                <a:ea typeface="Calibri"/>
                <a:cs typeface="Calibri"/>
                <a:sym typeface="Calibri"/>
              </a:rPr>
              <a:t>Automation answers each of these at once: portfolios served profitably at $0–$500 minimums, management fees near 0.25%, logic-based strategies running 24/7 without emotion or cognitive limits, and personalization delivered at machine scale through daily automated account reviews.</a:t>
            </a:r>
            <a:endParaRPr b="0" i="0" sz="1350" u="none" cap="none" strike="noStrike">
              <a:solidFill>
                <a:schemeClr val="dk1"/>
              </a:solidFill>
              <a:latin typeface="Calibri"/>
              <a:ea typeface="Calibri"/>
              <a:cs typeface="Calibri"/>
              <a:sym typeface="Calibri"/>
            </a:endParaRPr>
          </a:p>
        </p:txBody>
      </p:sp>
      <p:sp>
        <p:nvSpPr>
          <p:cNvPr id="37" name="Google Shape;37;p4"/>
          <p:cNvSpPr/>
          <p:nvPr/>
        </p:nvSpPr>
        <p:spPr>
          <a:xfrm>
            <a:off x="1280160" y="5532120"/>
            <a:ext cx="98755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020"/>
              </a:buClr>
              <a:buSzPts val="1250"/>
              <a:buFont typeface="Calibri"/>
              <a:buNone/>
            </a:pPr>
            <a:r>
              <a:rPr b="1" i="1" lang="en-US" sz="1250" u="none" cap="none" strike="noStrike">
                <a:solidFill>
                  <a:srgbClr val="E8A020"/>
                </a:solidFill>
                <a:latin typeface="Calibri"/>
                <a:ea typeface="Calibri"/>
                <a:cs typeface="Calibri"/>
                <a:sym typeface="Calibri"/>
              </a:rPr>
              <a:t>The opportunity: $1T+ already managed · $18.5B→$67.8B by 2031 (29.6% CAGR). Cost is solved; conversation is not. That is OROS's gap.</a:t>
            </a:r>
            <a:endParaRPr b="0" i="0" sz="1250" u="none" cap="none" strike="noStrike">
              <a:solidFill>
                <a:schemeClr val="dk1"/>
              </a:solidFill>
              <a:latin typeface="Calibri"/>
              <a:ea typeface="Calibri"/>
              <a:cs typeface="Calibri"/>
              <a:sym typeface="Calibri"/>
            </a:endParaRPr>
          </a:p>
        </p:txBody>
      </p:sp>
      <p:sp>
        <p:nvSpPr>
          <p:cNvPr id="38" name="Google Shape;38;p4"/>
          <p:cNvSpPr/>
          <p:nvPr/>
        </p:nvSpPr>
        <p:spPr>
          <a:xfrm>
            <a:off x="502920" y="6199632"/>
            <a:ext cx="11155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7681"/>
              </a:buClr>
              <a:buSzPts val="800"/>
              <a:buFont typeface="Calibri"/>
              <a:buNone/>
            </a:pPr>
            <a:r>
              <a:rPr b="0" i="1" lang="en-US" sz="800" u="none" cap="none" strike="noStrike">
                <a:solidFill>
                  <a:srgbClr val="6E7681"/>
                </a:solidFill>
                <a:latin typeface="Calibri"/>
                <a:ea typeface="Calibri"/>
                <a:cs typeface="Calibri"/>
                <a:sym typeface="Calibri"/>
              </a:rPr>
              <a:t>Sources: cepr.org (Skiera robo-advisers) · researchgate.net robo-advisor design · condorcapital.com Robo Report · truthifi.com · tradealgo.com · investor.gov · investopedia.com · mordorintelligence.com</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43" name="Shape 43"/>
        <p:cNvGrpSpPr/>
        <p:nvPr/>
      </p:nvGrpSpPr>
      <p:grpSpPr>
        <a:xfrm>
          <a:off x="0" y="0"/>
          <a:ext cx="0" cy="0"/>
          <a:chOff x="0" y="0"/>
          <a:chExt cx="0" cy="0"/>
        </a:xfrm>
      </p:grpSpPr>
      <p:sp>
        <p:nvSpPr>
          <p:cNvPr id="44" name="Google Shape;44;p5"/>
          <p:cNvSpPr/>
          <p:nvPr/>
        </p:nvSpPr>
        <p:spPr>
          <a:xfrm>
            <a:off x="457200" y="6519672"/>
            <a:ext cx="8778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850"/>
              <a:buFont typeface="Calibri"/>
              <a:buNone/>
            </a:pPr>
            <a:r>
              <a:rPr b="0" i="0" lang="en-US" sz="850" u="none" cap="none" strike="noStrike">
                <a:solidFill>
                  <a:srgbClr val="8B949E"/>
                </a:solidFill>
                <a:latin typeface="Calibri"/>
                <a:ea typeface="Calibri"/>
                <a:cs typeface="Calibri"/>
                <a:sym typeface="Calibri"/>
              </a:rPr>
              <a:t>OROS · Fordham MSAIB Capstone · simulated paper trading · educational, not financial advice</a:t>
            </a:r>
            <a:endParaRPr b="0" i="0" sz="850" u="none" cap="none" strike="noStrike">
              <a:solidFill>
                <a:schemeClr val="dk1"/>
              </a:solidFill>
              <a:latin typeface="Calibri"/>
              <a:ea typeface="Calibri"/>
              <a:cs typeface="Calibri"/>
              <a:sym typeface="Calibri"/>
            </a:endParaRPr>
          </a:p>
        </p:txBody>
      </p:sp>
      <p:sp>
        <p:nvSpPr>
          <p:cNvPr id="45" name="Google Shape;45;p5"/>
          <p:cNvSpPr/>
          <p:nvPr/>
        </p:nvSpPr>
        <p:spPr>
          <a:xfrm>
            <a:off x="502920" y="274320"/>
            <a:ext cx="11155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020"/>
              </a:buClr>
              <a:buSzPts val="1150"/>
              <a:buFont typeface="Calibri"/>
              <a:buNone/>
            </a:pPr>
            <a:r>
              <a:rPr b="1" i="0" lang="en-US" sz="1150" u="none" cap="none" strike="noStrike">
                <a:solidFill>
                  <a:srgbClr val="E8A020"/>
                </a:solidFill>
                <a:latin typeface="Calibri"/>
                <a:ea typeface="Calibri"/>
                <a:cs typeface="Calibri"/>
                <a:sym typeface="Calibri"/>
              </a:rPr>
              <a:t>SECTIONS 1–2 · THE HUMAN COST</a:t>
            </a:r>
            <a:endParaRPr b="0" i="0" sz="1150" u="none" cap="none" strike="noStrike">
              <a:solidFill>
                <a:schemeClr val="dk1"/>
              </a:solidFill>
              <a:latin typeface="Calibri"/>
              <a:ea typeface="Calibri"/>
              <a:cs typeface="Calibri"/>
              <a:sym typeface="Calibri"/>
            </a:endParaRPr>
          </a:p>
        </p:txBody>
      </p:sp>
      <p:sp>
        <p:nvSpPr>
          <p:cNvPr id="46" name="Google Shape;46;p5"/>
          <p:cNvSpPr/>
          <p:nvPr/>
        </p:nvSpPr>
        <p:spPr>
          <a:xfrm>
            <a:off x="475491" y="530350"/>
            <a:ext cx="32367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2700"/>
              <a:buFont typeface="Calibri"/>
              <a:buNone/>
            </a:pPr>
            <a:r>
              <a:rPr b="1" lang="en-US" sz="2700">
                <a:solidFill>
                  <a:srgbClr val="E6EDF3"/>
                </a:solidFill>
                <a:latin typeface="Calibri"/>
                <a:ea typeface="Calibri"/>
                <a:cs typeface="Calibri"/>
                <a:sym typeface="Calibri"/>
              </a:rPr>
              <a:t>The</a:t>
            </a:r>
            <a:r>
              <a:rPr b="1" i="0" lang="en-US" sz="2700" u="none" cap="none" strike="noStrike">
                <a:solidFill>
                  <a:srgbClr val="E6EDF3"/>
                </a:solidFill>
                <a:latin typeface="Calibri"/>
                <a:ea typeface="Calibri"/>
                <a:cs typeface="Calibri"/>
                <a:sym typeface="Calibri"/>
              </a:rPr>
              <a:t> Problem Is Real</a:t>
            </a:r>
            <a:endParaRPr b="0" i="0" sz="2700" u="none" cap="none" strike="noStrike">
              <a:solidFill>
                <a:schemeClr val="dk1"/>
              </a:solidFill>
              <a:latin typeface="Calibri"/>
              <a:ea typeface="Calibri"/>
              <a:cs typeface="Calibri"/>
              <a:sym typeface="Calibri"/>
            </a:endParaRPr>
          </a:p>
        </p:txBody>
      </p:sp>
      <p:pic>
        <p:nvPicPr>
          <p:cNvPr descr="burnout.png" id="47" name="Google Shape;47;p5"/>
          <p:cNvPicPr preferRelativeResize="0"/>
          <p:nvPr/>
        </p:nvPicPr>
        <p:blipFill rotWithShape="1">
          <a:blip r:embed="rId3">
            <a:alphaModFix/>
          </a:blip>
          <a:srcRect b="0" l="0" r="0" t="0"/>
          <a:stretch/>
        </p:blipFill>
        <p:spPr>
          <a:xfrm>
            <a:off x="548640" y="1325880"/>
            <a:ext cx="3931920" cy="2944368"/>
          </a:xfrm>
          <a:prstGeom prst="rect">
            <a:avLst/>
          </a:prstGeom>
          <a:noFill/>
          <a:ln>
            <a:noFill/>
          </a:ln>
        </p:spPr>
      </p:pic>
      <p:sp>
        <p:nvSpPr>
          <p:cNvPr id="48" name="Google Shape;48;p5"/>
          <p:cNvSpPr/>
          <p:nvPr/>
        </p:nvSpPr>
        <p:spPr>
          <a:xfrm>
            <a:off x="8686800" y="3291840"/>
            <a:ext cx="3017520" cy="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117"/>
              </a:buClr>
              <a:buSzPts val="100"/>
              <a:buFont typeface="Calibri"/>
              <a:buNone/>
            </a:pPr>
            <a:r>
              <a:rPr b="0" i="0" lang="en-US" sz="100" u="none" cap="none" strike="noStrike">
                <a:solidFill>
                  <a:srgbClr val="0D1117"/>
                </a:solidFill>
                <a:latin typeface="Calibri"/>
                <a:ea typeface="Calibri"/>
                <a:cs typeface="Calibri"/>
                <a:sym typeface="Calibri"/>
              </a:rPr>
              <a:t>Algorithmic trading already accounts for 60–73% of ALL U.S. equity volume (TradeAlgo) — and the industry is racing to build more (Biz4Group, 2026).</a:t>
            </a:r>
            <a:endParaRPr b="0" i="0" sz="100" u="none" cap="none" strike="noStrike">
              <a:solidFill>
                <a:schemeClr val="dk1"/>
              </a:solidFill>
              <a:latin typeface="Calibri"/>
              <a:ea typeface="Calibri"/>
              <a:cs typeface="Calibri"/>
              <a:sym typeface="Calibri"/>
            </a:endParaRPr>
          </a:p>
        </p:txBody>
      </p:sp>
      <p:sp>
        <p:nvSpPr>
          <p:cNvPr id="49" name="Google Shape;49;p5"/>
          <p:cNvSpPr/>
          <p:nvPr/>
        </p:nvSpPr>
        <p:spPr>
          <a:xfrm>
            <a:off x="548640" y="5623560"/>
            <a:ext cx="11064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1100"/>
              <a:buFont typeface="Calibri"/>
              <a:buNone/>
            </a:pPr>
            <a:r>
              <a:t/>
            </a:r>
            <a:endParaRPr b="0" i="0" sz="1100" u="none" cap="none" strike="noStrike">
              <a:solidFill>
                <a:schemeClr val="dk1"/>
              </a:solidFill>
              <a:latin typeface="Calibri"/>
              <a:ea typeface="Calibri"/>
              <a:cs typeface="Calibri"/>
              <a:sym typeface="Calibri"/>
            </a:endParaRPr>
          </a:p>
        </p:txBody>
      </p:sp>
      <p:sp>
        <p:nvSpPr>
          <p:cNvPr id="50" name="Google Shape;50;p5"/>
          <p:cNvSpPr/>
          <p:nvPr/>
        </p:nvSpPr>
        <p:spPr>
          <a:xfrm>
            <a:off x="502920" y="6199632"/>
            <a:ext cx="11155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7681"/>
              </a:buClr>
              <a:buSzPts val="800"/>
              <a:buFont typeface="Calibri"/>
              <a:buNone/>
            </a:pPr>
            <a:r>
              <a:rPr b="0" i="1" lang="en-US" sz="800" u="none" cap="none" strike="noStrike">
                <a:solidFill>
                  <a:srgbClr val="6E7681"/>
                </a:solidFill>
                <a:latin typeface="Calibri"/>
                <a:ea typeface="Calibri"/>
                <a:cs typeface="Calibri"/>
                <a:sym typeface="Calibri"/>
              </a:rPr>
              <a:t>Sources: tradealgo.com · biz4group.com · illustrations: OROS (original)</a:t>
            </a:r>
            <a:endParaRPr b="0" i="0" sz="800" u="none" cap="none" strike="noStrike">
              <a:solidFill>
                <a:schemeClr val="dk1"/>
              </a:solidFill>
              <a:latin typeface="Calibri"/>
              <a:ea typeface="Calibri"/>
              <a:cs typeface="Calibri"/>
              <a:sym typeface="Calibri"/>
            </a:endParaRPr>
          </a:p>
        </p:txBody>
      </p:sp>
      <p:pic>
        <p:nvPicPr>
          <p:cNvPr id="51" name="Google Shape;51;p5"/>
          <p:cNvPicPr preferRelativeResize="0"/>
          <p:nvPr/>
        </p:nvPicPr>
        <p:blipFill>
          <a:blip r:embed="rId4">
            <a:alphaModFix/>
          </a:blip>
          <a:stretch>
            <a:fillRect/>
          </a:stretch>
        </p:blipFill>
        <p:spPr>
          <a:xfrm>
            <a:off x="228848" y="4047388"/>
            <a:ext cx="5904175" cy="2579575"/>
          </a:xfrm>
          <a:prstGeom prst="rect">
            <a:avLst/>
          </a:prstGeom>
          <a:noFill/>
          <a:ln>
            <a:noFill/>
          </a:ln>
        </p:spPr>
      </p:pic>
      <p:pic>
        <p:nvPicPr>
          <p:cNvPr id="52" name="Google Shape;52;p5"/>
          <p:cNvPicPr preferRelativeResize="0"/>
          <p:nvPr/>
        </p:nvPicPr>
        <p:blipFill>
          <a:blip r:embed="rId5">
            <a:alphaModFix/>
          </a:blip>
          <a:stretch>
            <a:fillRect/>
          </a:stretch>
        </p:blipFill>
        <p:spPr>
          <a:xfrm>
            <a:off x="4760225" y="140625"/>
            <a:ext cx="6796100" cy="2711850"/>
          </a:xfrm>
          <a:prstGeom prst="rect">
            <a:avLst/>
          </a:prstGeom>
          <a:noFill/>
          <a:ln>
            <a:noFill/>
          </a:ln>
        </p:spPr>
      </p:pic>
      <p:pic>
        <p:nvPicPr>
          <p:cNvPr id="53" name="Google Shape;53;p5"/>
          <p:cNvPicPr preferRelativeResize="0"/>
          <p:nvPr/>
        </p:nvPicPr>
        <p:blipFill>
          <a:blip r:embed="rId6">
            <a:alphaModFix/>
          </a:blip>
          <a:stretch>
            <a:fillRect/>
          </a:stretch>
        </p:blipFill>
        <p:spPr>
          <a:xfrm>
            <a:off x="6361375" y="3216450"/>
            <a:ext cx="5830624" cy="35151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58" name="Shape 58"/>
        <p:cNvGrpSpPr/>
        <p:nvPr/>
      </p:nvGrpSpPr>
      <p:grpSpPr>
        <a:xfrm>
          <a:off x="0" y="0"/>
          <a:ext cx="0" cy="0"/>
          <a:chOff x="0" y="0"/>
          <a:chExt cx="0" cy="0"/>
        </a:xfrm>
      </p:grpSpPr>
      <p:sp>
        <p:nvSpPr>
          <p:cNvPr id="59" name="Google Shape;59;p6"/>
          <p:cNvSpPr/>
          <p:nvPr/>
        </p:nvSpPr>
        <p:spPr>
          <a:xfrm>
            <a:off x="457200" y="6519672"/>
            <a:ext cx="8778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850"/>
              <a:buFont typeface="Calibri"/>
              <a:buNone/>
            </a:pPr>
            <a:r>
              <a:rPr b="0" i="0" lang="en-US" sz="850" u="none" cap="none" strike="noStrike">
                <a:solidFill>
                  <a:srgbClr val="8B949E"/>
                </a:solidFill>
                <a:latin typeface="Calibri"/>
                <a:ea typeface="Calibri"/>
                <a:cs typeface="Calibri"/>
                <a:sym typeface="Calibri"/>
              </a:rPr>
              <a:t>OROS · Fordham MSAIB Capstone · simulated paper trading · educational, not financial advice</a:t>
            </a:r>
            <a:endParaRPr b="0" i="0" sz="850" u="none" cap="none" strike="noStrike">
              <a:solidFill>
                <a:schemeClr val="dk1"/>
              </a:solidFill>
              <a:latin typeface="Calibri"/>
              <a:ea typeface="Calibri"/>
              <a:cs typeface="Calibri"/>
              <a:sym typeface="Calibri"/>
            </a:endParaRPr>
          </a:p>
        </p:txBody>
      </p:sp>
      <p:sp>
        <p:nvSpPr>
          <p:cNvPr id="60" name="Google Shape;60;p6"/>
          <p:cNvSpPr/>
          <p:nvPr/>
        </p:nvSpPr>
        <p:spPr>
          <a:xfrm>
            <a:off x="502920" y="274320"/>
            <a:ext cx="11155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020"/>
              </a:buClr>
              <a:buSzPts val="1150"/>
              <a:buFont typeface="Calibri"/>
              <a:buNone/>
            </a:pPr>
            <a:r>
              <a:rPr b="1" i="0" lang="en-US" sz="1150" u="none" cap="none" strike="noStrike">
                <a:solidFill>
                  <a:srgbClr val="E8A020"/>
                </a:solidFill>
                <a:latin typeface="Calibri"/>
                <a:ea typeface="Calibri"/>
                <a:cs typeface="Calibri"/>
                <a:sym typeface="Calibri"/>
              </a:rPr>
              <a:t>SECTION 3 · CORE STAKEHOLDERS</a:t>
            </a:r>
            <a:endParaRPr b="0" i="0" sz="1150" u="none" cap="none" strike="noStrike">
              <a:solidFill>
                <a:schemeClr val="dk1"/>
              </a:solidFill>
              <a:latin typeface="Calibri"/>
              <a:ea typeface="Calibri"/>
              <a:cs typeface="Calibri"/>
              <a:sym typeface="Calibri"/>
            </a:endParaRPr>
          </a:p>
        </p:txBody>
      </p:sp>
      <p:sp>
        <p:nvSpPr>
          <p:cNvPr id="61" name="Google Shape;61;p6"/>
          <p:cNvSpPr/>
          <p:nvPr/>
        </p:nvSpPr>
        <p:spPr>
          <a:xfrm>
            <a:off x="475488" y="530352"/>
            <a:ext cx="112471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2700"/>
              <a:buFont typeface="Calibri"/>
              <a:buNone/>
            </a:pPr>
            <a:r>
              <a:rPr b="1" i="0" lang="en-US" sz="2700" u="none" cap="none" strike="noStrike">
                <a:solidFill>
                  <a:srgbClr val="E6EDF3"/>
                </a:solidFill>
                <a:latin typeface="Calibri"/>
                <a:ea typeface="Calibri"/>
                <a:cs typeface="Calibri"/>
                <a:sym typeface="Calibri"/>
              </a:rPr>
              <a:t>Builders, Users, and Regulators — the Whole Ecosystem Has Skin in This</a:t>
            </a:r>
            <a:endParaRPr b="0" i="0" sz="2700" u="none" cap="none" strike="noStrike">
              <a:solidFill>
                <a:schemeClr val="dk1"/>
              </a:solidFill>
              <a:latin typeface="Calibri"/>
              <a:ea typeface="Calibri"/>
              <a:cs typeface="Calibri"/>
              <a:sym typeface="Calibri"/>
            </a:endParaRPr>
          </a:p>
        </p:txBody>
      </p:sp>
      <p:sp>
        <p:nvSpPr>
          <p:cNvPr id="62" name="Google Shape;62;p6"/>
          <p:cNvSpPr/>
          <p:nvPr/>
        </p:nvSpPr>
        <p:spPr>
          <a:xfrm>
            <a:off x="4069080" y="1298448"/>
            <a:ext cx="4023360" cy="731520"/>
          </a:xfrm>
          <a:prstGeom prst="roundRect">
            <a:avLst>
              <a:gd fmla="val 10000" name="adj"/>
            </a:avLst>
          </a:prstGeom>
          <a:solidFill>
            <a:srgbClr val="161B22"/>
          </a:solidFill>
          <a:ln cap="flat" cmpd="sng" w="19050">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6"/>
          <p:cNvSpPr/>
          <p:nvPr/>
        </p:nvSpPr>
        <p:spPr>
          <a:xfrm>
            <a:off x="4206240" y="1371600"/>
            <a:ext cx="3749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020"/>
              </a:buClr>
              <a:buSzPts val="1100"/>
              <a:buFont typeface="Calibri"/>
              <a:buNone/>
            </a:pPr>
            <a:r>
              <a:rPr b="1" i="0" lang="en-US" sz="1100" u="none" cap="none" strike="noStrike">
                <a:solidFill>
                  <a:srgbClr val="E8A020"/>
                </a:solidFill>
                <a:latin typeface="Calibri"/>
                <a:ea typeface="Calibri"/>
                <a:cs typeface="Calibri"/>
                <a:sym typeface="Calibri"/>
              </a:rPr>
              <a:t>REGULATORS — SEC · FINRA · Compliance</a:t>
            </a:r>
            <a:endParaRPr b="0" i="0" sz="1100" u="none" cap="none" strike="noStrike">
              <a:solidFill>
                <a:schemeClr val="dk1"/>
              </a:solidFill>
              <a:latin typeface="Calibri"/>
              <a:ea typeface="Calibri"/>
              <a:cs typeface="Calibri"/>
              <a:sym typeface="Calibri"/>
            </a:endParaRPr>
          </a:p>
        </p:txBody>
      </p:sp>
      <p:sp>
        <p:nvSpPr>
          <p:cNvPr id="64" name="Google Shape;64;p6"/>
          <p:cNvSpPr/>
          <p:nvPr/>
        </p:nvSpPr>
        <p:spPr>
          <a:xfrm>
            <a:off x="4206240" y="1645920"/>
            <a:ext cx="37490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1000"/>
              <a:buFont typeface="Calibri"/>
              <a:buNone/>
            </a:pPr>
            <a:r>
              <a:rPr b="0" i="0" lang="en-US" sz="1000" u="none" cap="none" strike="noStrike">
                <a:solidFill>
                  <a:srgbClr val="E6EDF3"/>
                </a:solidFill>
                <a:latin typeface="Calibri"/>
                <a:ea typeface="Calibri"/>
                <a:cs typeface="Calibri"/>
                <a:sym typeface="Calibri"/>
              </a:rPr>
              <a:t>market integrity · algorithmic fairness · AI transparency</a:t>
            </a:r>
            <a:endParaRPr b="0" i="0" sz="1000" u="none" cap="none" strike="noStrike">
              <a:solidFill>
                <a:schemeClr val="dk1"/>
              </a:solidFill>
              <a:latin typeface="Calibri"/>
              <a:ea typeface="Calibri"/>
              <a:cs typeface="Calibri"/>
              <a:sym typeface="Calibri"/>
            </a:endParaRPr>
          </a:p>
        </p:txBody>
      </p:sp>
      <p:sp>
        <p:nvSpPr>
          <p:cNvPr id="65" name="Google Shape;65;p6"/>
          <p:cNvSpPr/>
          <p:nvPr/>
        </p:nvSpPr>
        <p:spPr>
          <a:xfrm>
            <a:off x="5870448" y="2048256"/>
            <a:ext cx="4572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A020"/>
              </a:buClr>
              <a:buSzPts val="1600"/>
              <a:buFont typeface="Calibri"/>
              <a:buNone/>
            </a:pPr>
            <a:r>
              <a:rPr b="1" i="0" lang="en-US" sz="1600" u="none" cap="none" strike="noStrike">
                <a:solidFill>
                  <a:srgbClr val="E8A020"/>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66" name="Google Shape;66;p6"/>
          <p:cNvSpPr/>
          <p:nvPr/>
        </p:nvSpPr>
        <p:spPr>
          <a:xfrm>
            <a:off x="640080" y="2395728"/>
            <a:ext cx="3337560" cy="777240"/>
          </a:xfrm>
          <a:prstGeom prst="roundRect">
            <a:avLst>
              <a:gd fmla="val 9412" name="adj"/>
            </a:avLst>
          </a:prstGeom>
          <a:solidFill>
            <a:srgbClr val="161B22"/>
          </a:solidFill>
          <a:ln cap="flat" cmpd="sng" w="19050">
            <a:solidFill>
              <a:srgbClr val="58A6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768096" y="2459736"/>
            <a:ext cx="3108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A6FF"/>
              </a:buClr>
              <a:buSzPts val="950"/>
              <a:buFont typeface="Calibri"/>
              <a:buNone/>
            </a:pPr>
            <a:r>
              <a:rPr b="1" i="0" lang="en-US" sz="950" u="none" cap="none" strike="noStrike">
                <a:solidFill>
                  <a:srgbClr val="58A6FF"/>
                </a:solidFill>
                <a:latin typeface="Calibri"/>
                <a:ea typeface="Calibri"/>
                <a:cs typeface="Calibri"/>
                <a:sym typeface="Calibri"/>
              </a:rPr>
              <a:t>RETAIL &amp; INSTITUTIONAL INVESTORS</a:t>
            </a:r>
            <a:endParaRPr b="0" i="0" sz="950" u="none" cap="none" strike="noStrike">
              <a:solidFill>
                <a:schemeClr val="dk1"/>
              </a:solidFill>
              <a:latin typeface="Calibri"/>
              <a:ea typeface="Calibri"/>
              <a:cs typeface="Calibri"/>
              <a:sym typeface="Calibri"/>
            </a:endParaRPr>
          </a:p>
        </p:txBody>
      </p:sp>
      <p:sp>
        <p:nvSpPr>
          <p:cNvPr id="68" name="Google Shape;68;p6"/>
          <p:cNvSpPr/>
          <p:nvPr/>
        </p:nvSpPr>
        <p:spPr>
          <a:xfrm>
            <a:off x="768096" y="2734056"/>
            <a:ext cx="31089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950"/>
              <a:buFont typeface="Calibri"/>
              <a:buNone/>
            </a:pPr>
            <a:r>
              <a:rPr b="0" i="0" lang="en-US" sz="950" u="none" cap="none" strike="noStrike">
                <a:solidFill>
                  <a:srgbClr val="E6EDF3"/>
                </a:solidFill>
                <a:latin typeface="Calibri"/>
                <a:ea typeface="Calibri"/>
                <a:cs typeface="Calibri"/>
                <a:sym typeface="Calibri"/>
              </a:rPr>
              <a:t>the capital — low fees, inclusion, alpha</a:t>
            </a:r>
            <a:endParaRPr b="0" i="0" sz="950" u="none" cap="none" strike="noStrike">
              <a:solidFill>
                <a:schemeClr val="dk1"/>
              </a:solidFill>
              <a:latin typeface="Calibri"/>
              <a:ea typeface="Calibri"/>
              <a:cs typeface="Calibri"/>
              <a:sym typeface="Calibri"/>
            </a:endParaRPr>
          </a:p>
        </p:txBody>
      </p:sp>
      <p:sp>
        <p:nvSpPr>
          <p:cNvPr id="69" name="Google Shape;69;p6"/>
          <p:cNvSpPr/>
          <p:nvPr/>
        </p:nvSpPr>
        <p:spPr>
          <a:xfrm>
            <a:off x="4434840" y="2395728"/>
            <a:ext cx="3337560" cy="777240"/>
          </a:xfrm>
          <a:prstGeom prst="roundRect">
            <a:avLst>
              <a:gd fmla="val 9412" name="adj"/>
            </a:avLst>
          </a:prstGeom>
          <a:solidFill>
            <a:srgbClr val="161B22"/>
          </a:solidFill>
          <a:ln cap="flat" cmpd="sng" w="19050">
            <a:solidFill>
              <a:srgbClr val="58A6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6"/>
          <p:cNvSpPr/>
          <p:nvPr/>
        </p:nvSpPr>
        <p:spPr>
          <a:xfrm>
            <a:off x="4562856" y="2459736"/>
            <a:ext cx="3108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A6FF"/>
              </a:buClr>
              <a:buSzPts val="950"/>
              <a:buFont typeface="Calibri"/>
              <a:buNone/>
            </a:pPr>
            <a:r>
              <a:rPr b="1" i="0" lang="en-US" sz="950" u="none" cap="none" strike="noStrike">
                <a:solidFill>
                  <a:srgbClr val="58A6FF"/>
                </a:solidFill>
                <a:latin typeface="Calibri"/>
                <a:ea typeface="Calibri"/>
                <a:cs typeface="Calibri"/>
                <a:sym typeface="Calibri"/>
              </a:rPr>
              <a:t>FINANCIAL FIRMS — BANKS &amp; WEALTH</a:t>
            </a:r>
            <a:endParaRPr b="0" i="0" sz="950" u="none" cap="none" strike="noStrike">
              <a:solidFill>
                <a:schemeClr val="dk1"/>
              </a:solidFill>
              <a:latin typeface="Calibri"/>
              <a:ea typeface="Calibri"/>
              <a:cs typeface="Calibri"/>
              <a:sym typeface="Calibri"/>
            </a:endParaRPr>
          </a:p>
        </p:txBody>
      </p:sp>
      <p:sp>
        <p:nvSpPr>
          <p:cNvPr id="71" name="Google Shape;71;p6"/>
          <p:cNvSpPr/>
          <p:nvPr/>
        </p:nvSpPr>
        <p:spPr>
          <a:xfrm>
            <a:off x="4562856" y="2734056"/>
            <a:ext cx="31089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950"/>
              <a:buFont typeface="Calibri"/>
              <a:buNone/>
            </a:pPr>
            <a:r>
              <a:rPr b="0" i="0" lang="en-US" sz="950" u="none" cap="none" strike="noStrike">
                <a:solidFill>
                  <a:srgbClr val="E6EDF3"/>
                </a:solidFill>
                <a:latin typeface="Calibri"/>
                <a:ea typeface="Calibri"/>
                <a:cs typeface="Calibri"/>
                <a:sym typeface="Calibri"/>
              </a:rPr>
              <a:t>the service — scale, lower OpEx, new roles</a:t>
            </a:r>
            <a:endParaRPr b="0" i="0" sz="950" u="none" cap="none" strike="noStrike">
              <a:solidFill>
                <a:schemeClr val="dk1"/>
              </a:solidFill>
              <a:latin typeface="Calibri"/>
              <a:ea typeface="Calibri"/>
              <a:cs typeface="Calibri"/>
              <a:sym typeface="Calibri"/>
            </a:endParaRPr>
          </a:p>
        </p:txBody>
      </p:sp>
      <p:sp>
        <p:nvSpPr>
          <p:cNvPr id="72" name="Google Shape;72;p6"/>
          <p:cNvSpPr/>
          <p:nvPr/>
        </p:nvSpPr>
        <p:spPr>
          <a:xfrm>
            <a:off x="8229600" y="2395728"/>
            <a:ext cx="3337560" cy="777240"/>
          </a:xfrm>
          <a:prstGeom prst="roundRect">
            <a:avLst>
              <a:gd fmla="val 9412" name="adj"/>
            </a:avLst>
          </a:prstGeom>
          <a:solidFill>
            <a:srgbClr val="161B22"/>
          </a:solidFill>
          <a:ln cap="flat" cmpd="sng" w="19050">
            <a:solidFill>
              <a:srgbClr val="58A6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6"/>
          <p:cNvSpPr/>
          <p:nvPr/>
        </p:nvSpPr>
        <p:spPr>
          <a:xfrm>
            <a:off x="8357616" y="2459736"/>
            <a:ext cx="3108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A6FF"/>
              </a:buClr>
              <a:buSzPts val="950"/>
              <a:buFont typeface="Calibri"/>
              <a:buNone/>
            </a:pPr>
            <a:r>
              <a:rPr b="1" i="0" lang="en-US" sz="950" u="none" cap="none" strike="noStrike">
                <a:solidFill>
                  <a:srgbClr val="58A6FF"/>
                </a:solidFill>
                <a:latin typeface="Calibri"/>
                <a:ea typeface="Calibri"/>
                <a:cs typeface="Calibri"/>
                <a:sym typeface="Calibri"/>
              </a:rPr>
              <a:t>TECH BUILDERS — AI, DATA, SECURITY</a:t>
            </a:r>
            <a:endParaRPr b="0" i="0" sz="950" u="none" cap="none" strike="noStrike">
              <a:solidFill>
                <a:schemeClr val="dk1"/>
              </a:solidFill>
              <a:latin typeface="Calibri"/>
              <a:ea typeface="Calibri"/>
              <a:cs typeface="Calibri"/>
              <a:sym typeface="Calibri"/>
            </a:endParaRPr>
          </a:p>
        </p:txBody>
      </p:sp>
      <p:sp>
        <p:nvSpPr>
          <p:cNvPr id="74" name="Google Shape;74;p6"/>
          <p:cNvSpPr/>
          <p:nvPr/>
        </p:nvSpPr>
        <p:spPr>
          <a:xfrm>
            <a:off x="8357616" y="2734056"/>
            <a:ext cx="31089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950"/>
              <a:buFont typeface="Calibri"/>
              <a:buNone/>
            </a:pPr>
            <a:r>
              <a:rPr b="0" i="0" lang="en-US" sz="950" u="none" cap="none" strike="noStrike">
                <a:solidFill>
                  <a:srgbClr val="E6EDF3"/>
                </a:solidFill>
                <a:latin typeface="Calibri"/>
                <a:ea typeface="Calibri"/>
                <a:cs typeface="Calibri"/>
                <a:sym typeface="Calibri"/>
              </a:rPr>
              <a:t>the machinery — models, feeds, safeguards</a:t>
            </a:r>
            <a:endParaRPr b="0" i="0" sz="950" u="none" cap="none" strike="noStrike">
              <a:solidFill>
                <a:schemeClr val="dk1"/>
              </a:solidFill>
              <a:latin typeface="Calibri"/>
              <a:ea typeface="Calibri"/>
              <a:cs typeface="Calibri"/>
              <a:sym typeface="Calibri"/>
            </a:endParaRPr>
          </a:p>
        </p:txBody>
      </p:sp>
      <p:sp>
        <p:nvSpPr>
          <p:cNvPr id="75" name="Google Shape;75;p6"/>
          <p:cNvSpPr/>
          <p:nvPr/>
        </p:nvSpPr>
        <p:spPr>
          <a:xfrm>
            <a:off x="4041648" y="2615184"/>
            <a:ext cx="384048"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949E"/>
              </a:buClr>
              <a:buSzPts val="1500"/>
              <a:buFont typeface="Calibri"/>
              <a:buNone/>
            </a:pPr>
            <a:r>
              <a:rPr b="1" i="0" lang="en-US" sz="1500" u="none" cap="none" strike="noStrike">
                <a:solidFill>
                  <a:srgbClr val="8B949E"/>
                </a:solidFill>
                <a:latin typeface="Calibri"/>
                <a:ea typeface="Calibri"/>
                <a:cs typeface="Calibri"/>
                <a:sym typeface="Calibri"/>
              </a:rPr>
              <a:t>→</a:t>
            </a:r>
            <a:endParaRPr b="0" i="0" sz="1500" u="none" cap="none" strike="noStrike">
              <a:solidFill>
                <a:schemeClr val="dk1"/>
              </a:solidFill>
              <a:latin typeface="Calibri"/>
              <a:ea typeface="Calibri"/>
              <a:cs typeface="Calibri"/>
              <a:sym typeface="Calibri"/>
            </a:endParaRPr>
          </a:p>
        </p:txBody>
      </p:sp>
      <p:sp>
        <p:nvSpPr>
          <p:cNvPr id="76" name="Google Shape;76;p6"/>
          <p:cNvSpPr/>
          <p:nvPr/>
        </p:nvSpPr>
        <p:spPr>
          <a:xfrm>
            <a:off x="7818120" y="2615184"/>
            <a:ext cx="384048"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949E"/>
              </a:buClr>
              <a:buSzPts val="1500"/>
              <a:buFont typeface="Calibri"/>
              <a:buNone/>
            </a:pPr>
            <a:r>
              <a:rPr b="1" i="0" lang="en-US" sz="1500" u="none" cap="none" strike="noStrike">
                <a:solidFill>
                  <a:srgbClr val="8B949E"/>
                </a:solidFill>
                <a:latin typeface="Calibri"/>
                <a:ea typeface="Calibri"/>
                <a:cs typeface="Calibri"/>
                <a:sym typeface="Calibri"/>
              </a:rPr>
              <a:t>←</a:t>
            </a:r>
            <a:endParaRPr b="0" i="0" sz="1500" u="none" cap="none" strike="noStrike">
              <a:solidFill>
                <a:schemeClr val="dk1"/>
              </a:solidFill>
              <a:latin typeface="Calibri"/>
              <a:ea typeface="Calibri"/>
              <a:cs typeface="Calibri"/>
              <a:sym typeface="Calibri"/>
            </a:endParaRPr>
          </a:p>
        </p:txBody>
      </p:sp>
      <p:sp>
        <p:nvSpPr>
          <p:cNvPr id="77" name="Google Shape;77;p6"/>
          <p:cNvSpPr/>
          <p:nvPr/>
        </p:nvSpPr>
        <p:spPr>
          <a:xfrm>
            <a:off x="822960" y="3520440"/>
            <a:ext cx="10515600" cy="192024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E6EDF3"/>
              </a:buClr>
              <a:buSzPts val="1250"/>
              <a:buFont typeface="Calibri"/>
              <a:buNone/>
            </a:pPr>
            <a:r>
              <a:rPr b="0" i="0" lang="en-US" sz="1250" u="none" cap="none" strike="noStrike">
                <a:solidFill>
                  <a:srgbClr val="E6EDF3"/>
                </a:solidFill>
                <a:latin typeface="Calibri"/>
                <a:ea typeface="Calibri"/>
                <a:cs typeface="Calibri"/>
                <a:sym typeface="Calibri"/>
              </a:rPr>
              <a:t>The stakeholders span the whole financial ecosystem — those who provide the capital, those who serve it, those who build the machinery, and those who police it. Retail investors want low-fee management and inclusion without six-figure minimums, while hedge funds and pension managers want alpha and cheaper execution. Wealth firms and banks gain scale and lower operating costs — as traditional advisors shift from portfolio construction toward coaching and estate planning. Behind them, FinTech engineers maintain the models and safeguards, data providers like Bloomberg supply the feeds, and cybersecurity teams protect the APIs from manipulation. Above it all, the SEC and FINRA — plus internal risk officers — enforce fairness, transparency, and fiduciary duty, watching for breached thresholds and flash crashes.</a:t>
            </a:r>
            <a:endParaRPr b="0" i="0" sz="1250" u="none" cap="none" strike="noStrike">
              <a:solidFill>
                <a:schemeClr val="dk1"/>
              </a:solidFill>
              <a:latin typeface="Calibri"/>
              <a:ea typeface="Calibri"/>
              <a:cs typeface="Calibri"/>
              <a:sym typeface="Calibri"/>
            </a:endParaRPr>
          </a:p>
        </p:txBody>
      </p:sp>
      <p:sp>
        <p:nvSpPr>
          <p:cNvPr id="78" name="Google Shape;78;p6"/>
          <p:cNvSpPr/>
          <p:nvPr/>
        </p:nvSpPr>
        <p:spPr>
          <a:xfrm>
            <a:off x="822960" y="5577840"/>
            <a:ext cx="105156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020"/>
              </a:buClr>
              <a:buSzPts val="1250"/>
              <a:buFont typeface="Calibri"/>
              <a:buNone/>
            </a:pPr>
            <a:r>
              <a:rPr b="1" i="1" lang="en-US" sz="1250" u="none" cap="none" strike="noStrike">
                <a:solidFill>
                  <a:srgbClr val="E8A020"/>
                </a:solidFill>
                <a:latin typeface="Calibri"/>
                <a:ea typeface="Calibri"/>
                <a:cs typeface="Calibri"/>
                <a:sym typeface="Calibri"/>
              </a:rPr>
              <a:t>OROS compresses this map into one transparent system: investor-facing doors (video, report, computation, chat), builder-grade journals — and a regulator's dream: every decision logged, disclosed, and never executed.</a:t>
            </a:r>
            <a:endParaRPr b="0" i="0" sz="1250" u="none" cap="none" strike="noStrike">
              <a:solidFill>
                <a:schemeClr val="dk1"/>
              </a:solidFill>
              <a:latin typeface="Calibri"/>
              <a:ea typeface="Calibri"/>
              <a:cs typeface="Calibri"/>
              <a:sym typeface="Calibri"/>
            </a:endParaRPr>
          </a:p>
        </p:txBody>
      </p:sp>
      <p:sp>
        <p:nvSpPr>
          <p:cNvPr id="79" name="Google Shape;79;p6"/>
          <p:cNvSpPr/>
          <p:nvPr/>
        </p:nvSpPr>
        <p:spPr>
          <a:xfrm>
            <a:off x="502920" y="6199632"/>
            <a:ext cx="11155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7681"/>
              </a:buClr>
              <a:buSzPts val="800"/>
              <a:buFont typeface="Calibri"/>
              <a:buNone/>
            </a:pPr>
            <a:r>
              <a:rPr b="0" i="1" lang="en-US" sz="800" u="none" cap="none" strike="noStrike">
                <a:solidFill>
                  <a:srgbClr val="6E7681"/>
                </a:solidFill>
                <a:latin typeface="Calibri"/>
                <a:ea typeface="Calibri"/>
                <a:cs typeface="Calibri"/>
                <a:sym typeface="Calibri"/>
              </a:rPr>
              <a:t>Sources: academic.oup.com (Current Legal Problems) · sec.gov · hedgefundalpha.com · investmentnews.com (SEC/UBS YES case) · siskolegal.com</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84" name="Shape 84"/>
        <p:cNvGrpSpPr/>
        <p:nvPr/>
      </p:nvGrpSpPr>
      <p:grpSpPr>
        <a:xfrm>
          <a:off x="0" y="0"/>
          <a:ext cx="0" cy="0"/>
          <a:chOff x="0" y="0"/>
          <a:chExt cx="0" cy="0"/>
        </a:xfrm>
      </p:grpSpPr>
      <p:sp>
        <p:nvSpPr>
          <p:cNvPr id="85" name="Google Shape;85;p7"/>
          <p:cNvSpPr/>
          <p:nvPr/>
        </p:nvSpPr>
        <p:spPr>
          <a:xfrm>
            <a:off x="457200" y="6519672"/>
            <a:ext cx="8778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850"/>
              <a:buFont typeface="Calibri"/>
              <a:buNone/>
            </a:pPr>
            <a:r>
              <a:rPr b="0" i="0" lang="en-US" sz="850" u="none" cap="none" strike="noStrike">
                <a:solidFill>
                  <a:srgbClr val="8B949E"/>
                </a:solidFill>
                <a:latin typeface="Calibri"/>
                <a:ea typeface="Calibri"/>
                <a:cs typeface="Calibri"/>
                <a:sym typeface="Calibri"/>
              </a:rPr>
              <a:t>OROS · Fordham MSAIB Capstone · simulated paper trading · educational, not financial advice</a:t>
            </a:r>
            <a:endParaRPr b="0" i="0" sz="850" u="none" cap="none" strike="noStrike">
              <a:solidFill>
                <a:schemeClr val="dk1"/>
              </a:solidFill>
              <a:latin typeface="Calibri"/>
              <a:ea typeface="Calibri"/>
              <a:cs typeface="Calibri"/>
              <a:sym typeface="Calibri"/>
            </a:endParaRPr>
          </a:p>
        </p:txBody>
      </p:sp>
      <p:sp>
        <p:nvSpPr>
          <p:cNvPr id="86" name="Google Shape;86;p7"/>
          <p:cNvSpPr/>
          <p:nvPr/>
        </p:nvSpPr>
        <p:spPr>
          <a:xfrm>
            <a:off x="502920" y="274320"/>
            <a:ext cx="11155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020"/>
              </a:buClr>
              <a:buSzPts val="1150"/>
              <a:buFont typeface="Calibri"/>
              <a:buNone/>
            </a:pPr>
            <a:r>
              <a:rPr b="1" i="0" lang="en-US" sz="1150" u="none" cap="none" strike="noStrike">
                <a:solidFill>
                  <a:srgbClr val="E8A020"/>
                </a:solidFill>
                <a:latin typeface="Calibri"/>
                <a:ea typeface="Calibri"/>
                <a:cs typeface="Calibri"/>
                <a:sym typeface="Calibri"/>
              </a:rPr>
              <a:t>SECTION 4 · SOLUTION OVERVIEW</a:t>
            </a:r>
            <a:endParaRPr b="0" i="0" sz="1150" u="none" cap="none" strike="noStrike">
              <a:solidFill>
                <a:schemeClr val="dk1"/>
              </a:solidFill>
              <a:latin typeface="Calibri"/>
              <a:ea typeface="Calibri"/>
              <a:cs typeface="Calibri"/>
              <a:sym typeface="Calibri"/>
            </a:endParaRPr>
          </a:p>
        </p:txBody>
      </p:sp>
      <p:sp>
        <p:nvSpPr>
          <p:cNvPr id="87" name="Google Shape;87;p7"/>
          <p:cNvSpPr/>
          <p:nvPr/>
        </p:nvSpPr>
        <p:spPr>
          <a:xfrm>
            <a:off x="475488" y="530352"/>
            <a:ext cx="112471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2700"/>
              <a:buFont typeface="Calibri"/>
              <a:buNone/>
            </a:pPr>
            <a:r>
              <a:rPr b="1" i="0" lang="en-US" sz="2700" u="none" cap="none" strike="noStrike">
                <a:solidFill>
                  <a:srgbClr val="E6EDF3"/>
                </a:solidFill>
                <a:latin typeface="Calibri"/>
                <a:ea typeface="Calibri"/>
                <a:cs typeface="Calibri"/>
                <a:sym typeface="Calibri"/>
              </a:rPr>
              <a:t>An Agent Team, Not a Model — 31 Agents, Three Tiers</a:t>
            </a:r>
            <a:endParaRPr b="0" i="0" sz="2700" u="none" cap="none" strike="noStrike">
              <a:solidFill>
                <a:schemeClr val="dk1"/>
              </a:solidFill>
              <a:latin typeface="Calibri"/>
              <a:ea typeface="Calibri"/>
              <a:cs typeface="Calibri"/>
              <a:sym typeface="Calibri"/>
            </a:endParaRPr>
          </a:p>
        </p:txBody>
      </p:sp>
      <p:sp>
        <p:nvSpPr>
          <p:cNvPr id="88" name="Google Shape;88;p7"/>
          <p:cNvSpPr/>
          <p:nvPr/>
        </p:nvSpPr>
        <p:spPr>
          <a:xfrm>
            <a:off x="502920" y="1371600"/>
            <a:ext cx="3383280" cy="548640"/>
          </a:xfrm>
          <a:prstGeom prst="roundRect">
            <a:avLst>
              <a:gd fmla="val 10000" name="adj"/>
            </a:avLst>
          </a:prstGeom>
          <a:solidFill>
            <a:srgbClr val="161B22"/>
          </a:solidFill>
          <a:ln cap="flat" cmpd="sng" w="12700">
            <a:solidFill>
              <a:srgbClr val="3036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7"/>
          <p:cNvSpPr/>
          <p:nvPr/>
        </p:nvSpPr>
        <p:spPr>
          <a:xfrm>
            <a:off x="640080" y="1417320"/>
            <a:ext cx="31546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A6FF"/>
              </a:buClr>
              <a:buSzPts val="1150"/>
              <a:buFont typeface="Calibri"/>
              <a:buNone/>
            </a:pPr>
            <a:r>
              <a:rPr b="1" i="0" lang="en-US" sz="1150" u="none" cap="none" strike="noStrike">
                <a:solidFill>
                  <a:srgbClr val="58A6FF"/>
                </a:solidFill>
                <a:latin typeface="Calibri"/>
                <a:ea typeface="Calibri"/>
                <a:cs typeface="Calibri"/>
                <a:sym typeface="Calibri"/>
              </a:rPr>
              <a:t>DataAgent</a:t>
            </a:r>
            <a:endParaRPr b="0" i="0" sz="1150" u="none" cap="none" strike="noStrike">
              <a:solidFill>
                <a:schemeClr val="dk1"/>
              </a:solidFill>
              <a:latin typeface="Calibri"/>
              <a:ea typeface="Calibri"/>
              <a:cs typeface="Calibri"/>
              <a:sym typeface="Calibri"/>
            </a:endParaRPr>
          </a:p>
        </p:txBody>
      </p:sp>
      <p:sp>
        <p:nvSpPr>
          <p:cNvPr id="90" name="Google Shape;90;p7"/>
          <p:cNvSpPr/>
          <p:nvPr/>
        </p:nvSpPr>
        <p:spPr>
          <a:xfrm>
            <a:off x="4023360" y="1389888"/>
            <a:ext cx="329184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1000"/>
              <a:buFont typeface="Calibri"/>
              <a:buNone/>
            </a:pPr>
            <a:r>
              <a:rPr b="0" i="0" lang="en-US" sz="1000" u="none" cap="none" strike="noStrike">
                <a:solidFill>
                  <a:srgbClr val="E6EDF3"/>
                </a:solidFill>
                <a:latin typeface="Calibri"/>
                <a:ea typeface="Calibri"/>
                <a:cs typeface="Calibri"/>
                <a:sym typeface="Calibri"/>
              </a:rPr>
              <a:t>prices · SEC XBRL · FRED · sentiment</a:t>
            </a:r>
            <a:endParaRPr b="0" i="0" sz="1000" u="none" cap="none" strike="noStrike">
              <a:solidFill>
                <a:schemeClr val="dk1"/>
              </a:solidFill>
              <a:latin typeface="Calibri"/>
              <a:ea typeface="Calibri"/>
              <a:cs typeface="Calibri"/>
              <a:sym typeface="Calibri"/>
            </a:endParaRPr>
          </a:p>
        </p:txBody>
      </p:sp>
      <p:sp>
        <p:nvSpPr>
          <p:cNvPr id="91" name="Google Shape;91;p7"/>
          <p:cNvSpPr/>
          <p:nvPr/>
        </p:nvSpPr>
        <p:spPr>
          <a:xfrm>
            <a:off x="502920" y="2039112"/>
            <a:ext cx="3383280" cy="548640"/>
          </a:xfrm>
          <a:prstGeom prst="roundRect">
            <a:avLst>
              <a:gd fmla="val 10000" name="adj"/>
            </a:avLst>
          </a:prstGeom>
          <a:solidFill>
            <a:srgbClr val="161B22"/>
          </a:solidFill>
          <a:ln cap="flat" cmpd="sng" w="12700">
            <a:solidFill>
              <a:srgbClr val="3036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7"/>
          <p:cNvSpPr/>
          <p:nvPr/>
        </p:nvSpPr>
        <p:spPr>
          <a:xfrm>
            <a:off x="640080" y="2084832"/>
            <a:ext cx="31546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020"/>
              </a:buClr>
              <a:buSzPts val="1150"/>
              <a:buFont typeface="Calibri"/>
              <a:buNone/>
            </a:pPr>
            <a:r>
              <a:rPr b="1" i="0" lang="en-US" sz="1150" u="none" cap="none" strike="noStrike">
                <a:solidFill>
                  <a:srgbClr val="E8A020"/>
                </a:solidFill>
                <a:latin typeface="Calibri"/>
                <a:ea typeface="Calibri"/>
                <a:cs typeface="Calibri"/>
                <a:sym typeface="Calibri"/>
              </a:rPr>
              <a:t>RegimeAgent</a:t>
            </a:r>
            <a:endParaRPr b="0" i="0" sz="1150" u="none" cap="none" strike="noStrike">
              <a:solidFill>
                <a:schemeClr val="dk1"/>
              </a:solidFill>
              <a:latin typeface="Calibri"/>
              <a:ea typeface="Calibri"/>
              <a:cs typeface="Calibri"/>
              <a:sym typeface="Calibri"/>
            </a:endParaRPr>
          </a:p>
        </p:txBody>
      </p:sp>
      <p:sp>
        <p:nvSpPr>
          <p:cNvPr id="93" name="Google Shape;93;p7"/>
          <p:cNvSpPr/>
          <p:nvPr/>
        </p:nvSpPr>
        <p:spPr>
          <a:xfrm>
            <a:off x="4023360" y="2057400"/>
            <a:ext cx="329184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1000"/>
              <a:buFont typeface="Calibri"/>
              <a:buNone/>
            </a:pPr>
            <a:r>
              <a:rPr b="0" i="0" lang="en-US" sz="1000" u="none" cap="none" strike="noStrike">
                <a:solidFill>
                  <a:srgbClr val="E6EDF3"/>
                </a:solidFill>
                <a:latin typeface="Calibri"/>
                <a:ea typeface="Calibri"/>
                <a:cs typeface="Calibri"/>
                <a:sym typeface="Calibri"/>
              </a:rPr>
              <a:t>the whole market's stage + VIX → risk appetite</a:t>
            </a:r>
            <a:endParaRPr b="0" i="0" sz="1000" u="none" cap="none" strike="noStrike">
              <a:solidFill>
                <a:schemeClr val="dk1"/>
              </a:solidFill>
              <a:latin typeface="Calibri"/>
              <a:ea typeface="Calibri"/>
              <a:cs typeface="Calibri"/>
              <a:sym typeface="Calibri"/>
            </a:endParaRPr>
          </a:p>
        </p:txBody>
      </p:sp>
      <p:sp>
        <p:nvSpPr>
          <p:cNvPr id="94" name="Google Shape;94;p7"/>
          <p:cNvSpPr/>
          <p:nvPr/>
        </p:nvSpPr>
        <p:spPr>
          <a:xfrm>
            <a:off x="502920" y="2706624"/>
            <a:ext cx="3383280" cy="548640"/>
          </a:xfrm>
          <a:prstGeom prst="roundRect">
            <a:avLst>
              <a:gd fmla="val 10000" name="adj"/>
            </a:avLst>
          </a:prstGeom>
          <a:solidFill>
            <a:srgbClr val="161B22"/>
          </a:solidFill>
          <a:ln cap="flat" cmpd="sng" w="12700">
            <a:solidFill>
              <a:srgbClr val="3036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7"/>
          <p:cNvSpPr/>
          <p:nvPr/>
        </p:nvSpPr>
        <p:spPr>
          <a:xfrm>
            <a:off x="640080" y="2752344"/>
            <a:ext cx="31546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950"/>
              </a:buClr>
              <a:buSzPts val="1150"/>
              <a:buFont typeface="Calibri"/>
              <a:buNone/>
            </a:pPr>
            <a:r>
              <a:rPr b="1" i="0" lang="en-US" sz="1150" u="none" cap="none" strike="noStrike">
                <a:solidFill>
                  <a:srgbClr val="3FB950"/>
                </a:solidFill>
                <a:latin typeface="Calibri"/>
                <a:ea typeface="Calibri"/>
                <a:cs typeface="Calibri"/>
                <a:sym typeface="Calibri"/>
              </a:rPr>
              <a:t>ScannerAgent + Classifier</a:t>
            </a:r>
            <a:endParaRPr b="0" i="0" sz="1150" u="none" cap="none" strike="noStrike">
              <a:solidFill>
                <a:schemeClr val="dk1"/>
              </a:solidFill>
              <a:latin typeface="Calibri"/>
              <a:ea typeface="Calibri"/>
              <a:cs typeface="Calibri"/>
              <a:sym typeface="Calibri"/>
            </a:endParaRPr>
          </a:p>
        </p:txBody>
      </p:sp>
      <p:sp>
        <p:nvSpPr>
          <p:cNvPr id="96" name="Google Shape;96;p7"/>
          <p:cNvSpPr/>
          <p:nvPr/>
        </p:nvSpPr>
        <p:spPr>
          <a:xfrm>
            <a:off x="4023360" y="2724912"/>
            <a:ext cx="329184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1000"/>
              <a:buFont typeface="Calibri"/>
              <a:buNone/>
            </a:pPr>
            <a:r>
              <a:rPr b="0" i="0" lang="en-US" sz="1000" u="none" cap="none" strike="noStrike">
                <a:solidFill>
                  <a:srgbClr val="E6EDF3"/>
                </a:solidFill>
                <a:latin typeface="Calibri"/>
                <a:ea typeface="Calibri"/>
                <a:cs typeface="Calibri"/>
                <a:sym typeface="Calibri"/>
              </a:rPr>
              <a:t>500 names staged nightly; each ticker routed to its sector specialist</a:t>
            </a:r>
            <a:endParaRPr b="0" i="0" sz="1000" u="none" cap="none" strike="noStrike">
              <a:solidFill>
                <a:schemeClr val="dk1"/>
              </a:solidFill>
              <a:latin typeface="Calibri"/>
              <a:ea typeface="Calibri"/>
              <a:cs typeface="Calibri"/>
              <a:sym typeface="Calibri"/>
            </a:endParaRPr>
          </a:p>
        </p:txBody>
      </p:sp>
      <p:sp>
        <p:nvSpPr>
          <p:cNvPr id="97" name="Google Shape;97;p7"/>
          <p:cNvSpPr/>
          <p:nvPr/>
        </p:nvSpPr>
        <p:spPr>
          <a:xfrm>
            <a:off x="502920" y="3374136"/>
            <a:ext cx="3383280" cy="548640"/>
          </a:xfrm>
          <a:prstGeom prst="roundRect">
            <a:avLst>
              <a:gd fmla="val 10000" name="adj"/>
            </a:avLst>
          </a:prstGeom>
          <a:solidFill>
            <a:srgbClr val="161B22"/>
          </a:solidFill>
          <a:ln cap="flat" cmpd="sng" w="12700">
            <a:solidFill>
              <a:srgbClr val="3036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7"/>
          <p:cNvSpPr/>
          <p:nvPr/>
        </p:nvSpPr>
        <p:spPr>
          <a:xfrm>
            <a:off x="640080" y="3419856"/>
            <a:ext cx="31546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1150"/>
              <a:buFont typeface="Calibri"/>
              <a:buNone/>
            </a:pPr>
            <a:r>
              <a:rPr b="1" i="0" lang="en-US" sz="1150" u="none" cap="none" strike="noStrike">
                <a:solidFill>
                  <a:srgbClr val="E6EDF3"/>
                </a:solidFill>
                <a:latin typeface="Calibri"/>
                <a:ea typeface="Calibri"/>
                <a:cs typeface="Calibri"/>
                <a:sym typeface="Calibri"/>
              </a:rPr>
              <a:t>RouterAgent + MemoryAgent</a:t>
            </a:r>
            <a:endParaRPr b="0" i="0" sz="1150" u="none" cap="none" strike="noStrike">
              <a:solidFill>
                <a:schemeClr val="dk1"/>
              </a:solidFill>
              <a:latin typeface="Calibri"/>
              <a:ea typeface="Calibri"/>
              <a:cs typeface="Calibri"/>
              <a:sym typeface="Calibri"/>
            </a:endParaRPr>
          </a:p>
        </p:txBody>
      </p:sp>
      <p:sp>
        <p:nvSpPr>
          <p:cNvPr id="99" name="Google Shape;99;p7"/>
          <p:cNvSpPr/>
          <p:nvPr/>
        </p:nvSpPr>
        <p:spPr>
          <a:xfrm>
            <a:off x="4023360" y="3392424"/>
            <a:ext cx="329184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1000"/>
              <a:buFont typeface="Calibri"/>
              <a:buNone/>
            </a:pPr>
            <a:r>
              <a:rPr b="0" i="0" lang="en-US" sz="1000" u="none" cap="none" strike="noStrike">
                <a:solidFill>
                  <a:srgbClr val="E6EDF3"/>
                </a:solidFill>
                <a:latin typeface="Calibri"/>
                <a:ea typeface="Calibri"/>
                <a:cs typeface="Calibri"/>
                <a:sym typeface="Calibri"/>
              </a:rPr>
              <a:t>blends 8 strategy traditions; tilts toward what has WORKED (forward record)</a:t>
            </a:r>
            <a:endParaRPr b="0" i="0" sz="1000" u="none" cap="none" strike="noStrike">
              <a:solidFill>
                <a:schemeClr val="dk1"/>
              </a:solidFill>
              <a:latin typeface="Calibri"/>
              <a:ea typeface="Calibri"/>
              <a:cs typeface="Calibri"/>
              <a:sym typeface="Calibri"/>
            </a:endParaRPr>
          </a:p>
        </p:txBody>
      </p:sp>
      <p:sp>
        <p:nvSpPr>
          <p:cNvPr id="100" name="Google Shape;100;p7"/>
          <p:cNvSpPr/>
          <p:nvPr/>
        </p:nvSpPr>
        <p:spPr>
          <a:xfrm>
            <a:off x="502920" y="4041648"/>
            <a:ext cx="3383280" cy="548640"/>
          </a:xfrm>
          <a:prstGeom prst="roundRect">
            <a:avLst>
              <a:gd fmla="val 10000" name="adj"/>
            </a:avLst>
          </a:prstGeom>
          <a:solidFill>
            <a:srgbClr val="161B22"/>
          </a:solidFill>
          <a:ln cap="flat" cmpd="sng" w="12700">
            <a:solidFill>
              <a:srgbClr val="3036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7"/>
          <p:cNvSpPr/>
          <p:nvPr/>
        </p:nvSpPr>
        <p:spPr>
          <a:xfrm>
            <a:off x="640080" y="4087368"/>
            <a:ext cx="31546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950"/>
              </a:buClr>
              <a:buSzPts val="1150"/>
              <a:buFont typeface="Calibri"/>
              <a:buNone/>
            </a:pPr>
            <a:r>
              <a:rPr b="1" i="0" lang="en-US" sz="1150" u="none" cap="none" strike="noStrike">
                <a:solidFill>
                  <a:srgbClr val="3FB950"/>
                </a:solidFill>
                <a:latin typeface="Calibri"/>
                <a:ea typeface="Calibri"/>
                <a:cs typeface="Calibri"/>
                <a:sym typeface="Calibri"/>
              </a:rPr>
              <a:t>ConstructionAgent</a:t>
            </a:r>
            <a:endParaRPr b="0" i="0" sz="1150" u="none" cap="none" strike="noStrike">
              <a:solidFill>
                <a:schemeClr val="dk1"/>
              </a:solidFill>
              <a:latin typeface="Calibri"/>
              <a:ea typeface="Calibri"/>
              <a:cs typeface="Calibri"/>
              <a:sym typeface="Calibri"/>
            </a:endParaRPr>
          </a:p>
        </p:txBody>
      </p:sp>
      <p:sp>
        <p:nvSpPr>
          <p:cNvPr id="102" name="Google Shape;102;p7"/>
          <p:cNvSpPr/>
          <p:nvPr/>
        </p:nvSpPr>
        <p:spPr>
          <a:xfrm>
            <a:off x="4023360" y="4059936"/>
            <a:ext cx="329184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1000"/>
              <a:buFont typeface="Calibri"/>
              <a:buNone/>
            </a:pPr>
            <a:r>
              <a:rPr b="0" i="0" lang="en-US" sz="1000" u="none" cap="none" strike="noStrike">
                <a:solidFill>
                  <a:srgbClr val="E6EDF3"/>
                </a:solidFill>
                <a:latin typeface="Calibri"/>
                <a:ea typeface="Calibri"/>
                <a:cs typeface="Calibri"/>
                <a:sym typeface="Calibri"/>
              </a:rPr>
              <a:t>selects and risk-sizes one concentrated book</a:t>
            </a:r>
            <a:endParaRPr b="0" i="0" sz="1000" u="none" cap="none" strike="noStrike">
              <a:solidFill>
                <a:schemeClr val="dk1"/>
              </a:solidFill>
              <a:latin typeface="Calibri"/>
              <a:ea typeface="Calibri"/>
              <a:cs typeface="Calibri"/>
              <a:sym typeface="Calibri"/>
            </a:endParaRPr>
          </a:p>
        </p:txBody>
      </p:sp>
      <p:sp>
        <p:nvSpPr>
          <p:cNvPr id="103" name="Google Shape;103;p7"/>
          <p:cNvSpPr/>
          <p:nvPr/>
        </p:nvSpPr>
        <p:spPr>
          <a:xfrm>
            <a:off x="502920" y="4709160"/>
            <a:ext cx="3383280" cy="548640"/>
          </a:xfrm>
          <a:prstGeom prst="roundRect">
            <a:avLst>
              <a:gd fmla="val 10000" name="adj"/>
            </a:avLst>
          </a:prstGeom>
          <a:solidFill>
            <a:srgbClr val="161B22"/>
          </a:solidFill>
          <a:ln cap="flat" cmpd="sng" w="12700">
            <a:solidFill>
              <a:srgbClr val="3036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7"/>
          <p:cNvSpPr/>
          <p:nvPr/>
        </p:nvSpPr>
        <p:spPr>
          <a:xfrm>
            <a:off x="640080" y="4754880"/>
            <a:ext cx="31546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5149"/>
              </a:buClr>
              <a:buSzPts val="1150"/>
              <a:buFont typeface="Calibri"/>
              <a:buNone/>
            </a:pPr>
            <a:r>
              <a:rPr b="1" i="0" lang="en-US" sz="1150" u="none" cap="none" strike="noStrike">
                <a:solidFill>
                  <a:srgbClr val="F85149"/>
                </a:solidFill>
                <a:latin typeface="Calibri"/>
                <a:ea typeface="Calibri"/>
                <a:cs typeface="Calibri"/>
                <a:sym typeface="Calibri"/>
              </a:rPr>
              <a:t>RiskAgent — veto power</a:t>
            </a:r>
            <a:endParaRPr b="0" i="0" sz="1150" u="none" cap="none" strike="noStrike">
              <a:solidFill>
                <a:schemeClr val="dk1"/>
              </a:solidFill>
              <a:latin typeface="Calibri"/>
              <a:ea typeface="Calibri"/>
              <a:cs typeface="Calibri"/>
              <a:sym typeface="Calibri"/>
            </a:endParaRPr>
          </a:p>
        </p:txBody>
      </p:sp>
      <p:sp>
        <p:nvSpPr>
          <p:cNvPr id="105" name="Google Shape;105;p7"/>
          <p:cNvSpPr/>
          <p:nvPr/>
        </p:nvSpPr>
        <p:spPr>
          <a:xfrm>
            <a:off x="4023360" y="4727448"/>
            <a:ext cx="329184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1000"/>
              <a:buFont typeface="Calibri"/>
              <a:buNone/>
            </a:pPr>
            <a:r>
              <a:rPr b="0" i="0" lang="en-US" sz="1000" u="none" cap="none" strike="noStrike">
                <a:solidFill>
                  <a:srgbClr val="E6EDF3"/>
                </a:solidFill>
                <a:latin typeface="Calibri"/>
                <a:ea typeface="Calibri"/>
                <a:cs typeface="Calibri"/>
                <a:sym typeface="Calibri"/>
              </a:rPr>
              <a:t>1.25%/name · 6% wallet · sector caps · earnings blackouts · throttle</a:t>
            </a:r>
            <a:endParaRPr b="0" i="0" sz="1000" u="none" cap="none" strike="noStrike">
              <a:solidFill>
                <a:schemeClr val="dk1"/>
              </a:solidFill>
              <a:latin typeface="Calibri"/>
              <a:ea typeface="Calibri"/>
              <a:cs typeface="Calibri"/>
              <a:sym typeface="Calibri"/>
            </a:endParaRPr>
          </a:p>
        </p:txBody>
      </p:sp>
      <p:sp>
        <p:nvSpPr>
          <p:cNvPr id="106" name="Google Shape;106;p7"/>
          <p:cNvSpPr/>
          <p:nvPr/>
        </p:nvSpPr>
        <p:spPr>
          <a:xfrm>
            <a:off x="502920" y="5376672"/>
            <a:ext cx="3383280" cy="548640"/>
          </a:xfrm>
          <a:prstGeom prst="roundRect">
            <a:avLst>
              <a:gd fmla="val 10000" name="adj"/>
            </a:avLst>
          </a:prstGeom>
          <a:solidFill>
            <a:srgbClr val="161B22"/>
          </a:solidFill>
          <a:ln cap="flat" cmpd="sng" w="12700">
            <a:solidFill>
              <a:srgbClr val="3036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7"/>
          <p:cNvSpPr/>
          <p:nvPr/>
        </p:nvSpPr>
        <p:spPr>
          <a:xfrm>
            <a:off x="640080" y="5422392"/>
            <a:ext cx="31546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020"/>
              </a:buClr>
              <a:buSzPts val="1150"/>
              <a:buFont typeface="Calibri"/>
              <a:buNone/>
            </a:pPr>
            <a:r>
              <a:rPr b="1" i="0" lang="en-US" sz="1150" u="none" cap="none" strike="noStrike">
                <a:solidFill>
                  <a:srgbClr val="E8A020"/>
                </a:solidFill>
                <a:latin typeface="Calibri"/>
                <a:ea typeface="Calibri"/>
                <a:cs typeface="Calibri"/>
                <a:sym typeface="Calibri"/>
              </a:rPr>
              <a:t>The Desk</a:t>
            </a:r>
            <a:endParaRPr b="0" i="0" sz="1150" u="none" cap="none" strike="noStrike">
              <a:solidFill>
                <a:schemeClr val="dk1"/>
              </a:solidFill>
              <a:latin typeface="Calibri"/>
              <a:ea typeface="Calibri"/>
              <a:cs typeface="Calibri"/>
              <a:sym typeface="Calibri"/>
            </a:endParaRPr>
          </a:p>
        </p:txBody>
      </p:sp>
      <p:sp>
        <p:nvSpPr>
          <p:cNvPr id="108" name="Google Shape;108;p7"/>
          <p:cNvSpPr/>
          <p:nvPr/>
        </p:nvSpPr>
        <p:spPr>
          <a:xfrm>
            <a:off x="4023360" y="5394960"/>
            <a:ext cx="329184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1000"/>
              <a:buFont typeface="Calibri"/>
              <a:buNone/>
            </a:pPr>
            <a:r>
              <a:rPr b="0" i="0" lang="en-US" sz="1000" u="none" cap="none" strike="noStrike">
                <a:solidFill>
                  <a:srgbClr val="E6EDF3"/>
                </a:solidFill>
                <a:latin typeface="Calibri"/>
                <a:ea typeface="Calibri"/>
                <a:cs typeface="Calibri"/>
                <a:sym typeface="Calibri"/>
              </a:rPr>
              <a:t>renders, voices, publishes, emails — then grades itself at the close</a:t>
            </a:r>
            <a:endParaRPr b="0" i="0" sz="1000" u="none" cap="none" strike="noStrike">
              <a:solidFill>
                <a:schemeClr val="dk1"/>
              </a:solidFill>
              <a:latin typeface="Calibri"/>
              <a:ea typeface="Calibri"/>
              <a:cs typeface="Calibri"/>
              <a:sym typeface="Calibri"/>
            </a:endParaRPr>
          </a:p>
        </p:txBody>
      </p:sp>
      <p:sp>
        <p:nvSpPr>
          <p:cNvPr id="109" name="Google Shape;109;p7"/>
          <p:cNvSpPr/>
          <p:nvPr/>
        </p:nvSpPr>
        <p:spPr>
          <a:xfrm>
            <a:off x="7543800" y="1371600"/>
            <a:ext cx="4160520" cy="3291840"/>
          </a:xfrm>
          <a:prstGeom prst="roundRect">
            <a:avLst>
              <a:gd fmla="val 2222" name="adj"/>
            </a:avLst>
          </a:prstGeom>
          <a:solidFill>
            <a:srgbClr val="161B22"/>
          </a:solidFill>
          <a:ln cap="flat" cmpd="sng" w="12700">
            <a:solidFill>
              <a:srgbClr val="3036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7"/>
          <p:cNvSpPr/>
          <p:nvPr/>
        </p:nvSpPr>
        <p:spPr>
          <a:xfrm>
            <a:off x="7726680" y="1481328"/>
            <a:ext cx="3840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A6FF"/>
              </a:buClr>
              <a:buSzPts val="1200"/>
              <a:buFont typeface="Calibri"/>
              <a:buNone/>
            </a:pPr>
            <a:r>
              <a:rPr b="1" i="0" lang="en-US" sz="1200" u="none" cap="none" strike="noStrike">
                <a:solidFill>
                  <a:srgbClr val="58A6FF"/>
                </a:solidFill>
                <a:latin typeface="Calibri"/>
                <a:ea typeface="Calibri"/>
                <a:cs typeface="Calibri"/>
                <a:sym typeface="Calibri"/>
              </a:rPr>
              <a:t>THE SPECIALIST BENCH — 18 sector agents</a:t>
            </a:r>
            <a:endParaRPr b="0" i="0" sz="1200" u="none" cap="none" strike="noStrike">
              <a:solidFill>
                <a:schemeClr val="dk1"/>
              </a:solidFill>
              <a:latin typeface="Calibri"/>
              <a:ea typeface="Calibri"/>
              <a:cs typeface="Calibri"/>
              <a:sym typeface="Calibri"/>
            </a:endParaRPr>
          </a:p>
        </p:txBody>
      </p:sp>
      <p:sp>
        <p:nvSpPr>
          <p:cNvPr id="111" name="Google Shape;111;p7"/>
          <p:cNvSpPr/>
          <p:nvPr/>
        </p:nvSpPr>
        <p:spPr>
          <a:xfrm>
            <a:off x="7726680" y="1810512"/>
            <a:ext cx="3840480" cy="15544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6EDF3"/>
              </a:buClr>
              <a:buSzPts val="1050"/>
              <a:buFont typeface="Calibri"/>
              <a:buNone/>
            </a:pPr>
            <a:r>
              <a:rPr b="0" i="0" lang="en-US" sz="1050" u="none" cap="none" strike="noStrike">
                <a:solidFill>
                  <a:srgbClr val="E6EDF3"/>
                </a:solidFill>
                <a:latin typeface="Calibri"/>
                <a:ea typeface="Calibri"/>
                <a:cs typeface="Calibri"/>
                <a:sym typeface="Calibri"/>
              </a:rPr>
              <a:t>REIT · Bank · Insurance · Energy · Utilities · Industrials · Defense · Semiconductors · Software · Tech · AI-Compute · Consumer · Healthcare · Pharma &amp; MedDevice · Biotech · Infrastructure · Funds/ETF · Generic</a:t>
            </a:r>
            <a:endParaRPr b="0" i="0" sz="1050" u="none" cap="none" strike="noStrike">
              <a:solidFill>
                <a:schemeClr val="dk1"/>
              </a:solidFill>
              <a:latin typeface="Calibri"/>
              <a:ea typeface="Calibri"/>
              <a:cs typeface="Calibri"/>
              <a:sym typeface="Calibri"/>
            </a:endParaRPr>
          </a:p>
        </p:txBody>
      </p:sp>
      <p:sp>
        <p:nvSpPr>
          <p:cNvPr id="112" name="Google Shape;112;p7"/>
          <p:cNvSpPr/>
          <p:nvPr/>
        </p:nvSpPr>
        <p:spPr>
          <a:xfrm>
            <a:off x="7726680" y="3429000"/>
            <a:ext cx="384048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950"/>
              <a:buFont typeface="Calibri"/>
              <a:buNone/>
            </a:pPr>
            <a:r>
              <a:rPr b="0" i="1" lang="en-US" sz="950" u="none" cap="none" strike="noStrike">
                <a:solidFill>
                  <a:srgbClr val="8B949E"/>
                </a:solidFill>
                <a:latin typeface="Calibri"/>
                <a:ea typeface="Calibri"/>
                <a:cs typeface="Calibri"/>
                <a:sym typeface="Calibri"/>
              </a:rPr>
              <a:t>Each reads its industry's own SEC filings with sector-specific tools — a REIT is graded on FFO, a bank on deposits, a biotech on its pipeline.</a:t>
            </a:r>
            <a:endParaRPr b="0" i="0" sz="950" u="none" cap="none" strike="noStrike">
              <a:solidFill>
                <a:schemeClr val="dk1"/>
              </a:solidFill>
              <a:latin typeface="Calibri"/>
              <a:ea typeface="Calibri"/>
              <a:cs typeface="Calibri"/>
              <a:sym typeface="Calibri"/>
            </a:endParaRPr>
          </a:p>
        </p:txBody>
      </p:sp>
      <p:sp>
        <p:nvSpPr>
          <p:cNvPr id="113" name="Google Shape;113;p7"/>
          <p:cNvSpPr/>
          <p:nvPr/>
        </p:nvSpPr>
        <p:spPr>
          <a:xfrm>
            <a:off x="7543800" y="4800600"/>
            <a:ext cx="4160520" cy="1234440"/>
          </a:xfrm>
          <a:prstGeom prst="roundRect">
            <a:avLst>
              <a:gd fmla="val 5926" name="adj"/>
            </a:avLst>
          </a:prstGeom>
          <a:solidFill>
            <a:srgbClr val="161B22"/>
          </a:solidFill>
          <a:ln cap="flat" cmpd="sng" w="12700">
            <a:solidFill>
              <a:srgbClr val="3036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7"/>
          <p:cNvSpPr/>
          <p:nvPr/>
        </p:nvSpPr>
        <p:spPr>
          <a:xfrm>
            <a:off x="7726680" y="4937760"/>
            <a:ext cx="3840480" cy="96012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E6EDF3"/>
              </a:buClr>
              <a:buSzPts val="1050"/>
              <a:buFont typeface="Calibri"/>
              <a:buNone/>
            </a:pPr>
            <a:r>
              <a:rPr b="0" i="0" lang="en-US" sz="1050" u="none" cap="none" strike="noStrike">
                <a:solidFill>
                  <a:srgbClr val="E6EDF3"/>
                </a:solidFill>
                <a:latin typeface="Calibri"/>
                <a:ea typeface="Calibri"/>
                <a:cs typeface="Calibri"/>
                <a:sym typeface="Calibri"/>
              </a:rPr>
              <a:t>RESEARCH VOICES — Chartist Strategist · Sentiment Analyst</a:t>
            </a:r>
            <a:endParaRPr b="0" i="0" sz="105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E6EDF3"/>
              </a:buClr>
              <a:buSzPts val="1050"/>
              <a:buFont typeface="Calibri"/>
              <a:buNone/>
            </a:pPr>
            <a:r>
              <a:rPr b="0" i="0" lang="en-US" sz="1050" u="none" cap="none" strike="noStrike">
                <a:solidFill>
                  <a:srgbClr val="E6EDF3"/>
                </a:solidFill>
                <a:latin typeface="Calibri"/>
                <a:ea typeface="Calibri"/>
                <a:cs typeface="Calibri"/>
                <a:sym typeface="Calibri"/>
              </a:rPr>
              <a:t>DIALOGUE — Ask OROS · Script Assistant · Claude Scout</a:t>
            </a:r>
            <a:endParaRPr b="0" i="0" sz="1050" u="none" cap="none" strike="noStrike">
              <a:solidFill>
                <a:schemeClr val="dk1"/>
              </a:solidFill>
              <a:latin typeface="Calibri"/>
              <a:ea typeface="Calibri"/>
              <a:cs typeface="Calibri"/>
              <a:sym typeface="Calibri"/>
            </a:endParaRPr>
          </a:p>
        </p:txBody>
      </p:sp>
      <p:sp>
        <p:nvSpPr>
          <p:cNvPr id="115" name="Google Shape;115;p7"/>
          <p:cNvSpPr/>
          <p:nvPr/>
        </p:nvSpPr>
        <p:spPr>
          <a:xfrm>
            <a:off x="502920" y="5870448"/>
            <a:ext cx="112014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020"/>
              </a:buClr>
              <a:buSzPts val="1200"/>
              <a:buFont typeface="Calibri"/>
              <a:buNone/>
            </a:pPr>
            <a:r>
              <a:rPr b="0" i="1" lang="en-US" sz="1200" u="none" cap="none" strike="noStrike">
                <a:solidFill>
                  <a:srgbClr val="E8A020"/>
                </a:solidFill>
                <a:latin typeface="Calibri"/>
                <a:ea typeface="Calibri"/>
                <a:cs typeface="Calibri"/>
                <a:sym typeface="Calibri"/>
              </a:rPr>
              <a:t>The doctrine: agents nominate and narrate; deterministic arithmetic sizes every position. A hallucination cannot size a trade.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120" name="Shape 120"/>
        <p:cNvGrpSpPr/>
        <p:nvPr/>
      </p:nvGrpSpPr>
      <p:grpSpPr>
        <a:xfrm>
          <a:off x="0" y="0"/>
          <a:ext cx="0" cy="0"/>
          <a:chOff x="0" y="0"/>
          <a:chExt cx="0" cy="0"/>
        </a:xfrm>
      </p:grpSpPr>
      <p:sp>
        <p:nvSpPr>
          <p:cNvPr id="121" name="Google Shape;121;p8"/>
          <p:cNvSpPr/>
          <p:nvPr/>
        </p:nvSpPr>
        <p:spPr>
          <a:xfrm>
            <a:off x="457200" y="6519672"/>
            <a:ext cx="8778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850"/>
              <a:buFont typeface="Calibri"/>
              <a:buNone/>
            </a:pPr>
            <a:r>
              <a:rPr b="0" i="0" lang="en-US" sz="850" u="none" cap="none" strike="noStrike">
                <a:solidFill>
                  <a:srgbClr val="8B949E"/>
                </a:solidFill>
                <a:latin typeface="Calibri"/>
                <a:ea typeface="Calibri"/>
                <a:cs typeface="Calibri"/>
                <a:sym typeface="Calibri"/>
              </a:rPr>
              <a:t>OROS · Fordham MSAIB Capstone · simulated paper trading · educational, not financial advice</a:t>
            </a:r>
            <a:endParaRPr b="0" i="0" sz="850" u="none" cap="none" strike="noStrike">
              <a:solidFill>
                <a:schemeClr val="dk1"/>
              </a:solidFill>
              <a:latin typeface="Calibri"/>
              <a:ea typeface="Calibri"/>
              <a:cs typeface="Calibri"/>
              <a:sym typeface="Calibri"/>
            </a:endParaRPr>
          </a:p>
        </p:txBody>
      </p:sp>
      <p:sp>
        <p:nvSpPr>
          <p:cNvPr id="122" name="Google Shape;122;p8"/>
          <p:cNvSpPr/>
          <p:nvPr/>
        </p:nvSpPr>
        <p:spPr>
          <a:xfrm>
            <a:off x="502920" y="274320"/>
            <a:ext cx="11155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020"/>
              </a:buClr>
              <a:buSzPts val="1150"/>
              <a:buFont typeface="Calibri"/>
              <a:buNone/>
            </a:pPr>
            <a:r>
              <a:rPr b="1" i="0" lang="en-US" sz="1150" u="none" cap="none" strike="noStrike">
                <a:solidFill>
                  <a:srgbClr val="E8A020"/>
                </a:solidFill>
                <a:latin typeface="Calibri"/>
                <a:ea typeface="Calibri"/>
                <a:cs typeface="Calibri"/>
                <a:sym typeface="Calibri"/>
              </a:rPr>
              <a:t>SECTION 6 · MVP — THE SCANNER</a:t>
            </a:r>
            <a:endParaRPr b="0" i="0" sz="1150" u="none" cap="none" strike="noStrike">
              <a:solidFill>
                <a:schemeClr val="dk1"/>
              </a:solidFill>
              <a:latin typeface="Calibri"/>
              <a:ea typeface="Calibri"/>
              <a:cs typeface="Calibri"/>
              <a:sym typeface="Calibri"/>
            </a:endParaRPr>
          </a:p>
        </p:txBody>
      </p:sp>
      <p:sp>
        <p:nvSpPr>
          <p:cNvPr id="123" name="Google Shape;123;p8"/>
          <p:cNvSpPr/>
          <p:nvPr/>
        </p:nvSpPr>
        <p:spPr>
          <a:xfrm>
            <a:off x="475488" y="530352"/>
            <a:ext cx="112471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2700"/>
              <a:buFont typeface="Calibri"/>
              <a:buNone/>
            </a:pPr>
            <a:r>
              <a:rPr b="1" i="0" lang="en-US" sz="2700" u="none" cap="none" strike="noStrike">
                <a:solidFill>
                  <a:srgbClr val="E6EDF3"/>
                </a:solidFill>
                <a:latin typeface="Calibri"/>
                <a:ea typeface="Calibri"/>
                <a:cs typeface="Calibri"/>
                <a:sym typeface="Calibri"/>
              </a:rPr>
              <a:t>ScannerAgent: 494 Names Graded Overnight, Every Morning</a:t>
            </a:r>
            <a:endParaRPr b="0" i="0" sz="2700" u="none" cap="none" strike="noStrike">
              <a:solidFill>
                <a:schemeClr val="dk1"/>
              </a:solidFill>
              <a:latin typeface="Calibri"/>
              <a:ea typeface="Calibri"/>
              <a:cs typeface="Calibri"/>
              <a:sym typeface="Calibri"/>
            </a:endParaRPr>
          </a:p>
        </p:txBody>
      </p:sp>
      <p:pic>
        <p:nvPicPr>
          <p:cNvPr descr="image1.png" id="124" name="Google Shape;124;p8"/>
          <p:cNvPicPr preferRelativeResize="0"/>
          <p:nvPr/>
        </p:nvPicPr>
        <p:blipFill rotWithShape="1">
          <a:blip r:embed="rId3">
            <a:alphaModFix/>
          </a:blip>
          <a:srcRect b="0" l="0" r="0" t="0"/>
          <a:stretch/>
        </p:blipFill>
        <p:spPr>
          <a:xfrm>
            <a:off x="822960" y="1371600"/>
            <a:ext cx="10515600" cy="4617720"/>
          </a:xfrm>
          <a:prstGeom prst="rect">
            <a:avLst/>
          </a:prstGeom>
          <a:noFill/>
          <a:ln>
            <a:noFill/>
          </a:ln>
        </p:spPr>
      </p:pic>
      <p:sp>
        <p:nvSpPr>
          <p:cNvPr id="125" name="Google Shape;125;p8"/>
          <p:cNvSpPr/>
          <p:nvPr/>
        </p:nvSpPr>
        <p:spPr>
          <a:xfrm>
            <a:off x="822960" y="6044184"/>
            <a:ext cx="10515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1050"/>
              <a:buFont typeface="Calibri"/>
              <a:buNone/>
            </a:pPr>
            <a:r>
              <a:rPr b="0" i="0" lang="en-US" sz="1050" u="none" cap="none" strike="noStrike">
                <a:solidFill>
                  <a:srgbClr val="8B949E"/>
                </a:solidFill>
                <a:latin typeface="Calibri"/>
                <a:ea typeface="Calibri"/>
                <a:cs typeface="Calibri"/>
                <a:sym typeface="Calibri"/>
              </a:rPr>
              <a:t>The OROS 500 graded into four stages — clickable stage schematics, membership list, CSV export. Same figures the broadcast reports: one journal, three surfaces.</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130" name="Shape 130"/>
        <p:cNvGrpSpPr/>
        <p:nvPr/>
      </p:nvGrpSpPr>
      <p:grpSpPr>
        <a:xfrm>
          <a:off x="0" y="0"/>
          <a:ext cx="0" cy="0"/>
          <a:chOff x="0" y="0"/>
          <a:chExt cx="0" cy="0"/>
        </a:xfrm>
      </p:grpSpPr>
      <p:sp>
        <p:nvSpPr>
          <p:cNvPr id="131" name="Google Shape;131;p9"/>
          <p:cNvSpPr/>
          <p:nvPr/>
        </p:nvSpPr>
        <p:spPr>
          <a:xfrm>
            <a:off x="457200" y="6519672"/>
            <a:ext cx="8778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850"/>
              <a:buFont typeface="Calibri"/>
              <a:buNone/>
            </a:pPr>
            <a:r>
              <a:rPr b="0" i="0" lang="en-US" sz="850" u="none" cap="none" strike="noStrike">
                <a:solidFill>
                  <a:srgbClr val="8B949E"/>
                </a:solidFill>
                <a:latin typeface="Calibri"/>
                <a:ea typeface="Calibri"/>
                <a:cs typeface="Calibri"/>
                <a:sym typeface="Calibri"/>
              </a:rPr>
              <a:t>OROS · Fordham MSAIB Capstone · simulated paper trading · educational, not financial advice</a:t>
            </a:r>
            <a:endParaRPr b="0" i="0" sz="850" u="none" cap="none" strike="noStrike">
              <a:solidFill>
                <a:schemeClr val="dk1"/>
              </a:solidFill>
              <a:latin typeface="Calibri"/>
              <a:ea typeface="Calibri"/>
              <a:cs typeface="Calibri"/>
              <a:sym typeface="Calibri"/>
            </a:endParaRPr>
          </a:p>
        </p:txBody>
      </p:sp>
      <p:sp>
        <p:nvSpPr>
          <p:cNvPr id="132" name="Google Shape;132;p9"/>
          <p:cNvSpPr/>
          <p:nvPr/>
        </p:nvSpPr>
        <p:spPr>
          <a:xfrm>
            <a:off x="502920" y="274320"/>
            <a:ext cx="11155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020"/>
              </a:buClr>
              <a:buSzPts val="1150"/>
              <a:buFont typeface="Calibri"/>
              <a:buNone/>
            </a:pPr>
            <a:r>
              <a:rPr b="1" i="0" lang="en-US" sz="1150" u="none" cap="none" strike="noStrike">
                <a:solidFill>
                  <a:srgbClr val="E8A020"/>
                </a:solidFill>
                <a:latin typeface="Calibri"/>
                <a:ea typeface="Calibri"/>
                <a:cs typeface="Calibri"/>
                <a:sym typeface="Calibri"/>
              </a:rPr>
              <a:t>SECTION 6 · MVP — THE GATES</a:t>
            </a:r>
            <a:endParaRPr b="0" i="0" sz="1150" u="none" cap="none" strike="noStrike">
              <a:solidFill>
                <a:schemeClr val="dk1"/>
              </a:solidFill>
              <a:latin typeface="Calibri"/>
              <a:ea typeface="Calibri"/>
              <a:cs typeface="Calibri"/>
              <a:sym typeface="Calibri"/>
            </a:endParaRPr>
          </a:p>
        </p:txBody>
      </p:sp>
      <p:sp>
        <p:nvSpPr>
          <p:cNvPr id="133" name="Google Shape;133;p9"/>
          <p:cNvSpPr/>
          <p:nvPr/>
        </p:nvSpPr>
        <p:spPr>
          <a:xfrm>
            <a:off x="475488" y="530352"/>
            <a:ext cx="112471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2700"/>
              <a:buFont typeface="Calibri"/>
              <a:buNone/>
            </a:pPr>
            <a:r>
              <a:rPr b="1" i="0" lang="en-US" sz="2700" u="none" cap="none" strike="noStrike">
                <a:solidFill>
                  <a:srgbClr val="E6EDF3"/>
                </a:solidFill>
                <a:latin typeface="Calibri"/>
                <a:ea typeface="Calibri"/>
                <a:cs typeface="Calibri"/>
                <a:sym typeface="Calibri"/>
              </a:rPr>
              <a:t>Discipline You Can Point At: Both Gates Must Pass</a:t>
            </a:r>
            <a:endParaRPr b="0" i="0" sz="2700" u="none" cap="none" strike="noStrike">
              <a:solidFill>
                <a:schemeClr val="dk1"/>
              </a:solidFill>
              <a:latin typeface="Calibri"/>
              <a:ea typeface="Calibri"/>
              <a:cs typeface="Calibri"/>
              <a:sym typeface="Calibri"/>
            </a:endParaRPr>
          </a:p>
        </p:txBody>
      </p:sp>
      <p:pic>
        <p:nvPicPr>
          <p:cNvPr descr="image3.png" id="134" name="Google Shape;134;p9"/>
          <p:cNvPicPr preferRelativeResize="0"/>
          <p:nvPr/>
        </p:nvPicPr>
        <p:blipFill rotWithShape="1">
          <a:blip r:embed="rId3">
            <a:alphaModFix/>
          </a:blip>
          <a:srcRect b="0" l="0" r="0" t="0"/>
          <a:stretch/>
        </p:blipFill>
        <p:spPr>
          <a:xfrm>
            <a:off x="822960" y="1371600"/>
            <a:ext cx="10515600" cy="4617720"/>
          </a:xfrm>
          <a:prstGeom prst="rect">
            <a:avLst/>
          </a:prstGeom>
          <a:noFill/>
          <a:ln>
            <a:noFill/>
          </a:ln>
        </p:spPr>
      </p:pic>
      <p:sp>
        <p:nvSpPr>
          <p:cNvPr id="135" name="Google Shape;135;p9"/>
          <p:cNvSpPr/>
          <p:nvPr/>
        </p:nvSpPr>
        <p:spPr>
          <a:xfrm>
            <a:off x="822960" y="6044184"/>
            <a:ext cx="10515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1050"/>
              <a:buFont typeface="Calibri"/>
              <a:buNone/>
            </a:pPr>
            <a:r>
              <a:rPr b="0" i="0" lang="en-US" sz="1050" u="none" cap="none" strike="noStrike">
                <a:solidFill>
                  <a:srgbClr val="8B949E"/>
                </a:solidFill>
                <a:latin typeface="Calibri"/>
                <a:ea typeface="Calibri"/>
                <a:cs typeface="Calibri"/>
                <a:sym typeface="Calibri"/>
              </a:rPr>
              <a:t>ABNB: Stage 2, bull probability 85% — and still not a BUY, because the volume gate failed. The system refuses good-looking names without proof of strength.</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140" name="Shape 140"/>
        <p:cNvGrpSpPr/>
        <p:nvPr/>
      </p:nvGrpSpPr>
      <p:grpSpPr>
        <a:xfrm>
          <a:off x="0" y="0"/>
          <a:ext cx="0" cy="0"/>
          <a:chOff x="0" y="0"/>
          <a:chExt cx="0" cy="0"/>
        </a:xfrm>
      </p:grpSpPr>
      <p:sp>
        <p:nvSpPr>
          <p:cNvPr id="141" name="Google Shape;141;p10"/>
          <p:cNvSpPr/>
          <p:nvPr/>
        </p:nvSpPr>
        <p:spPr>
          <a:xfrm>
            <a:off x="457200" y="6519672"/>
            <a:ext cx="8778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850"/>
              <a:buFont typeface="Calibri"/>
              <a:buNone/>
            </a:pPr>
            <a:r>
              <a:rPr b="0" i="0" lang="en-US" sz="850" u="none" cap="none" strike="noStrike">
                <a:solidFill>
                  <a:srgbClr val="8B949E"/>
                </a:solidFill>
                <a:latin typeface="Calibri"/>
                <a:ea typeface="Calibri"/>
                <a:cs typeface="Calibri"/>
                <a:sym typeface="Calibri"/>
              </a:rPr>
              <a:t>OROS · Fordham MSAIB Capstone · simulated paper trading · educational, not financial advice</a:t>
            </a:r>
            <a:endParaRPr b="0" i="0" sz="850" u="none" cap="none" strike="noStrike">
              <a:solidFill>
                <a:schemeClr val="dk1"/>
              </a:solidFill>
              <a:latin typeface="Calibri"/>
              <a:ea typeface="Calibri"/>
              <a:cs typeface="Calibri"/>
              <a:sym typeface="Calibri"/>
            </a:endParaRPr>
          </a:p>
        </p:txBody>
      </p:sp>
      <p:sp>
        <p:nvSpPr>
          <p:cNvPr id="142" name="Google Shape;142;p10"/>
          <p:cNvSpPr/>
          <p:nvPr/>
        </p:nvSpPr>
        <p:spPr>
          <a:xfrm>
            <a:off x="502920" y="274320"/>
            <a:ext cx="11155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020"/>
              </a:buClr>
              <a:buSzPts val="1150"/>
              <a:buFont typeface="Calibri"/>
              <a:buNone/>
            </a:pPr>
            <a:r>
              <a:rPr b="1" i="0" lang="en-US" sz="1150" u="none" cap="none" strike="noStrike">
                <a:solidFill>
                  <a:srgbClr val="E8A020"/>
                </a:solidFill>
                <a:latin typeface="Calibri"/>
                <a:ea typeface="Calibri"/>
                <a:cs typeface="Calibri"/>
                <a:sym typeface="Calibri"/>
              </a:rPr>
              <a:t>SECTION 6 · MVP — THE AGENTIC BUILD</a:t>
            </a:r>
            <a:endParaRPr b="0" i="0" sz="1150" u="none" cap="none" strike="noStrike">
              <a:solidFill>
                <a:schemeClr val="dk1"/>
              </a:solidFill>
              <a:latin typeface="Calibri"/>
              <a:ea typeface="Calibri"/>
              <a:cs typeface="Calibri"/>
              <a:sym typeface="Calibri"/>
            </a:endParaRPr>
          </a:p>
        </p:txBody>
      </p:sp>
      <p:sp>
        <p:nvSpPr>
          <p:cNvPr id="143" name="Google Shape;143;p10"/>
          <p:cNvSpPr/>
          <p:nvPr/>
        </p:nvSpPr>
        <p:spPr>
          <a:xfrm>
            <a:off x="475488" y="530352"/>
            <a:ext cx="112471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2700"/>
              <a:buFont typeface="Calibri"/>
              <a:buNone/>
            </a:pPr>
            <a:r>
              <a:rPr b="1" i="0" lang="en-US" sz="2700" u="none" cap="none" strike="noStrike">
                <a:solidFill>
                  <a:srgbClr val="E6EDF3"/>
                </a:solidFill>
                <a:latin typeface="Calibri"/>
                <a:ea typeface="Calibri"/>
                <a:cs typeface="Calibri"/>
                <a:sym typeface="Calibri"/>
              </a:rPr>
              <a:t>Robo-Advisor · Regime-Aware, Multi-Strategy Construction</a:t>
            </a:r>
            <a:endParaRPr b="0" i="0" sz="2700" u="none" cap="none" strike="noStrike">
              <a:solidFill>
                <a:schemeClr val="dk1"/>
              </a:solidFill>
              <a:latin typeface="Calibri"/>
              <a:ea typeface="Calibri"/>
              <a:cs typeface="Calibri"/>
              <a:sym typeface="Calibri"/>
            </a:endParaRPr>
          </a:p>
        </p:txBody>
      </p:sp>
      <p:pic>
        <p:nvPicPr>
          <p:cNvPr descr="image7.png" id="144" name="Google Shape;144;p10"/>
          <p:cNvPicPr preferRelativeResize="0"/>
          <p:nvPr/>
        </p:nvPicPr>
        <p:blipFill rotWithShape="1">
          <a:blip r:embed="rId3">
            <a:alphaModFix/>
          </a:blip>
          <a:srcRect b="0" l="0" r="0" t="0"/>
          <a:stretch/>
        </p:blipFill>
        <p:spPr>
          <a:xfrm>
            <a:off x="822960" y="1371600"/>
            <a:ext cx="10515600" cy="4617720"/>
          </a:xfrm>
          <a:prstGeom prst="rect">
            <a:avLst/>
          </a:prstGeom>
          <a:noFill/>
          <a:ln>
            <a:noFill/>
          </a:ln>
        </p:spPr>
      </p:pic>
      <p:sp>
        <p:nvSpPr>
          <p:cNvPr id="145" name="Google Shape;145;p10"/>
          <p:cNvSpPr/>
          <p:nvPr/>
        </p:nvSpPr>
        <p:spPr>
          <a:xfrm>
            <a:off x="822960" y="6044184"/>
            <a:ext cx="10515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1050"/>
              <a:buFont typeface="Calibri"/>
              <a:buNone/>
            </a:pPr>
            <a:r>
              <a:rPr b="0" i="0" lang="en-US" sz="1050" u="none" cap="none" strike="noStrike">
                <a:solidFill>
                  <a:srgbClr val="8B949E"/>
                </a:solidFill>
                <a:latin typeface="Calibri"/>
                <a:ea typeface="Calibri"/>
                <a:cs typeface="Calibri"/>
                <a:sym typeface="Calibri"/>
              </a:rPr>
              <a:t>One click: regime read, blend chosen, 12 positions selected and risk-sized, 33/100 risk score — journaled, with the bench (excluded names + reasons) underneath.</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150" name="Shape 150"/>
        <p:cNvGrpSpPr/>
        <p:nvPr/>
      </p:nvGrpSpPr>
      <p:grpSpPr>
        <a:xfrm>
          <a:off x="0" y="0"/>
          <a:ext cx="0" cy="0"/>
          <a:chOff x="0" y="0"/>
          <a:chExt cx="0" cy="0"/>
        </a:xfrm>
      </p:grpSpPr>
      <p:sp>
        <p:nvSpPr>
          <p:cNvPr id="151" name="Google Shape;151;p11"/>
          <p:cNvSpPr/>
          <p:nvPr/>
        </p:nvSpPr>
        <p:spPr>
          <a:xfrm>
            <a:off x="457200" y="6519672"/>
            <a:ext cx="8778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850"/>
              <a:buFont typeface="Calibri"/>
              <a:buNone/>
            </a:pPr>
            <a:r>
              <a:rPr b="0" i="0" lang="en-US" sz="850" u="none" cap="none" strike="noStrike">
                <a:solidFill>
                  <a:srgbClr val="8B949E"/>
                </a:solidFill>
                <a:latin typeface="Calibri"/>
                <a:ea typeface="Calibri"/>
                <a:cs typeface="Calibri"/>
                <a:sym typeface="Calibri"/>
              </a:rPr>
              <a:t>OROS · Fordham MSAIB Capstone · simulated paper trading · educational, not financial advice</a:t>
            </a:r>
            <a:endParaRPr b="0" i="0" sz="850" u="none" cap="none" strike="noStrike">
              <a:solidFill>
                <a:schemeClr val="dk1"/>
              </a:solidFill>
              <a:latin typeface="Calibri"/>
              <a:ea typeface="Calibri"/>
              <a:cs typeface="Calibri"/>
              <a:sym typeface="Calibri"/>
            </a:endParaRPr>
          </a:p>
        </p:txBody>
      </p:sp>
      <p:sp>
        <p:nvSpPr>
          <p:cNvPr id="152" name="Google Shape;152;p11"/>
          <p:cNvSpPr/>
          <p:nvPr/>
        </p:nvSpPr>
        <p:spPr>
          <a:xfrm>
            <a:off x="502920" y="274320"/>
            <a:ext cx="11155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020"/>
              </a:buClr>
              <a:buSzPts val="1150"/>
              <a:buFont typeface="Calibri"/>
              <a:buNone/>
            </a:pPr>
            <a:r>
              <a:rPr b="1" i="0" lang="en-US" sz="1150" u="none" cap="none" strike="noStrike">
                <a:solidFill>
                  <a:srgbClr val="E8A020"/>
                </a:solidFill>
                <a:latin typeface="Calibri"/>
                <a:ea typeface="Calibri"/>
                <a:cs typeface="Calibri"/>
                <a:sym typeface="Calibri"/>
              </a:rPr>
              <a:t>SECTION 6 · MVP — SAME MANDATE, TWO SCOUTS</a:t>
            </a:r>
            <a:endParaRPr b="0" i="0" sz="1150" u="none" cap="none" strike="noStrike">
              <a:solidFill>
                <a:schemeClr val="dk1"/>
              </a:solidFill>
              <a:latin typeface="Calibri"/>
              <a:ea typeface="Calibri"/>
              <a:cs typeface="Calibri"/>
              <a:sym typeface="Calibri"/>
            </a:endParaRPr>
          </a:p>
        </p:txBody>
      </p:sp>
      <p:sp>
        <p:nvSpPr>
          <p:cNvPr id="153" name="Google Shape;153;p11"/>
          <p:cNvSpPr/>
          <p:nvPr/>
        </p:nvSpPr>
        <p:spPr>
          <a:xfrm>
            <a:off x="475488" y="530352"/>
            <a:ext cx="112471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2700"/>
              <a:buFont typeface="Calibri"/>
              <a:buNone/>
            </a:pPr>
            <a:r>
              <a:rPr b="1" i="0" lang="en-US" sz="2700" u="none" cap="none" strike="noStrike">
                <a:solidFill>
                  <a:srgbClr val="E6EDF3"/>
                </a:solidFill>
                <a:latin typeface="Calibri"/>
                <a:ea typeface="Calibri"/>
                <a:cs typeface="Calibri"/>
                <a:sym typeface="Calibri"/>
              </a:rPr>
              <a:t>“Claude Asked for NVIDIA. The Arithmetic Said No.”</a:t>
            </a:r>
            <a:endParaRPr b="0" i="0" sz="2700" u="none" cap="none" strike="noStrike">
              <a:solidFill>
                <a:schemeClr val="dk1"/>
              </a:solidFill>
              <a:latin typeface="Calibri"/>
              <a:ea typeface="Calibri"/>
              <a:cs typeface="Calibri"/>
              <a:sym typeface="Calibri"/>
            </a:endParaRPr>
          </a:p>
        </p:txBody>
      </p:sp>
      <p:pic>
        <p:nvPicPr>
          <p:cNvPr descr="quant_book.png" id="154" name="Google Shape;154;p11"/>
          <p:cNvPicPr preferRelativeResize="0"/>
          <p:nvPr/>
        </p:nvPicPr>
        <p:blipFill rotWithShape="1">
          <a:blip r:embed="rId3">
            <a:alphaModFix/>
          </a:blip>
          <a:srcRect b="0" l="0" r="0" t="0"/>
          <a:stretch/>
        </p:blipFill>
        <p:spPr>
          <a:xfrm>
            <a:off x="502920" y="1371600"/>
            <a:ext cx="5532120" cy="3108960"/>
          </a:xfrm>
          <a:prstGeom prst="rect">
            <a:avLst/>
          </a:prstGeom>
          <a:noFill/>
          <a:ln>
            <a:noFill/>
          </a:ln>
        </p:spPr>
      </p:pic>
      <p:sp>
        <p:nvSpPr>
          <p:cNvPr id="155" name="Google Shape;155;p11"/>
          <p:cNvSpPr/>
          <p:nvPr/>
        </p:nvSpPr>
        <p:spPr>
          <a:xfrm>
            <a:off x="502920" y="4535424"/>
            <a:ext cx="55321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1050"/>
              <a:buFont typeface="Calibri"/>
              <a:buNone/>
            </a:pPr>
            <a:r>
              <a:rPr b="0" i="0" lang="en-US" sz="1050" u="none" cap="none" strike="noStrike">
                <a:solidFill>
                  <a:srgbClr val="8B949E"/>
                </a:solidFill>
                <a:latin typeface="Calibri"/>
                <a:ea typeface="Calibri"/>
                <a:cs typeface="Calibri"/>
                <a:sym typeface="Calibri"/>
              </a:rPr>
              <a:t>Quant scout: 15 boring, diversified holdings — 77% deployed.</a:t>
            </a:r>
            <a:endParaRPr b="0" i="0" sz="1050" u="none" cap="none" strike="noStrike">
              <a:solidFill>
                <a:schemeClr val="dk1"/>
              </a:solidFill>
              <a:latin typeface="Calibri"/>
              <a:ea typeface="Calibri"/>
              <a:cs typeface="Calibri"/>
              <a:sym typeface="Calibri"/>
            </a:endParaRPr>
          </a:p>
        </p:txBody>
      </p:sp>
      <p:pic>
        <p:nvPicPr>
          <p:cNvPr descr="claude_audition.png" id="156" name="Google Shape;156;p11"/>
          <p:cNvPicPr preferRelativeResize="0"/>
          <p:nvPr/>
        </p:nvPicPr>
        <p:blipFill rotWithShape="1">
          <a:blip r:embed="rId4">
            <a:alphaModFix/>
          </a:blip>
          <a:srcRect b="0" l="0" r="0" t="0"/>
          <a:stretch/>
        </p:blipFill>
        <p:spPr>
          <a:xfrm>
            <a:off x="6172200" y="1371600"/>
            <a:ext cx="5532120" cy="3108960"/>
          </a:xfrm>
          <a:prstGeom prst="rect">
            <a:avLst/>
          </a:prstGeom>
          <a:noFill/>
          <a:ln>
            <a:noFill/>
          </a:ln>
        </p:spPr>
      </p:pic>
      <p:sp>
        <p:nvSpPr>
          <p:cNvPr id="157" name="Google Shape;157;p11"/>
          <p:cNvSpPr/>
          <p:nvPr/>
        </p:nvSpPr>
        <p:spPr>
          <a:xfrm>
            <a:off x="6172200" y="4535424"/>
            <a:ext cx="55321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1050"/>
              <a:buFont typeface="Calibri"/>
              <a:buNone/>
            </a:pPr>
            <a:r>
              <a:rPr b="0" i="0" lang="en-US" sz="1050" u="none" cap="none" strike="noStrike">
                <a:solidFill>
                  <a:srgbClr val="8B949E"/>
                </a:solidFill>
                <a:latin typeface="Calibri"/>
                <a:ea typeface="Calibri"/>
                <a:cs typeface="Calibri"/>
                <a:sym typeface="Calibri"/>
              </a:rPr>
              <a:t>Claude scout: 30 famous nominations — the gates elected 12, held 53% cash.</a:t>
            </a:r>
            <a:endParaRPr b="0" i="0" sz="1050" u="none" cap="none" strike="noStrike">
              <a:solidFill>
                <a:schemeClr val="dk1"/>
              </a:solidFill>
              <a:latin typeface="Calibri"/>
              <a:ea typeface="Calibri"/>
              <a:cs typeface="Calibri"/>
              <a:sym typeface="Calibri"/>
            </a:endParaRPr>
          </a:p>
        </p:txBody>
      </p:sp>
      <p:sp>
        <p:nvSpPr>
          <p:cNvPr id="158" name="Google Shape;158;p11"/>
          <p:cNvSpPr/>
          <p:nvPr/>
        </p:nvSpPr>
        <p:spPr>
          <a:xfrm>
            <a:off x="502920" y="4892040"/>
            <a:ext cx="11201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020"/>
              </a:buClr>
              <a:buSzPts val="1250"/>
              <a:buFont typeface="Calibri"/>
              <a:buNone/>
            </a:pPr>
            <a:r>
              <a:rPr b="0" i="1" lang="en-US" sz="1250" u="none" cap="none" strike="noStrike">
                <a:solidFill>
                  <a:srgbClr val="E8A020"/>
                </a:solidFill>
                <a:latin typeface="Calibri"/>
                <a:ea typeface="Calibri"/>
                <a:cs typeface="Calibri"/>
                <a:sym typeface="Calibri"/>
              </a:rPr>
              <a:t>The LLM contributes salience — it knows what the world is excited about. The quant layer prices that excitement. The book is the intersection; the cash is the disagreement, quantified.</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163" name="Shape 163"/>
        <p:cNvGrpSpPr/>
        <p:nvPr/>
      </p:nvGrpSpPr>
      <p:grpSpPr>
        <a:xfrm>
          <a:off x="0" y="0"/>
          <a:ext cx="0" cy="0"/>
          <a:chOff x="0" y="0"/>
          <a:chExt cx="0" cy="0"/>
        </a:xfrm>
      </p:grpSpPr>
      <p:sp>
        <p:nvSpPr>
          <p:cNvPr id="164" name="Google Shape;164;p12"/>
          <p:cNvSpPr/>
          <p:nvPr/>
        </p:nvSpPr>
        <p:spPr>
          <a:xfrm>
            <a:off x="457200" y="6519672"/>
            <a:ext cx="8778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850"/>
              <a:buFont typeface="Calibri"/>
              <a:buNone/>
            </a:pPr>
            <a:r>
              <a:rPr b="0" i="0" lang="en-US" sz="850" u="none" cap="none" strike="noStrike">
                <a:solidFill>
                  <a:srgbClr val="8B949E"/>
                </a:solidFill>
                <a:latin typeface="Calibri"/>
                <a:ea typeface="Calibri"/>
                <a:cs typeface="Calibri"/>
                <a:sym typeface="Calibri"/>
              </a:rPr>
              <a:t>OROS · Fordham MSAIB Capstone · simulated paper trading · educational, not financial advice</a:t>
            </a:r>
            <a:endParaRPr b="0" i="0" sz="850" u="none" cap="none" strike="noStrike">
              <a:solidFill>
                <a:schemeClr val="dk1"/>
              </a:solidFill>
              <a:latin typeface="Calibri"/>
              <a:ea typeface="Calibri"/>
              <a:cs typeface="Calibri"/>
              <a:sym typeface="Calibri"/>
            </a:endParaRPr>
          </a:p>
        </p:txBody>
      </p:sp>
      <p:sp>
        <p:nvSpPr>
          <p:cNvPr id="165" name="Google Shape;165;p12"/>
          <p:cNvSpPr/>
          <p:nvPr/>
        </p:nvSpPr>
        <p:spPr>
          <a:xfrm>
            <a:off x="502920" y="274320"/>
            <a:ext cx="11155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020"/>
              </a:buClr>
              <a:buSzPts val="1150"/>
              <a:buFont typeface="Calibri"/>
              <a:buNone/>
            </a:pPr>
            <a:r>
              <a:rPr b="1" i="0" lang="en-US" sz="1150" u="none" cap="none" strike="noStrike">
                <a:solidFill>
                  <a:srgbClr val="E8A020"/>
                </a:solidFill>
                <a:latin typeface="Calibri"/>
                <a:ea typeface="Calibri"/>
                <a:cs typeface="Calibri"/>
                <a:sym typeface="Calibri"/>
              </a:rPr>
              <a:t>SECTION 6 · MVP — THE HISTORIAN</a:t>
            </a:r>
            <a:endParaRPr b="0" i="0" sz="1150" u="none" cap="none" strike="noStrike">
              <a:solidFill>
                <a:schemeClr val="dk1"/>
              </a:solidFill>
              <a:latin typeface="Calibri"/>
              <a:ea typeface="Calibri"/>
              <a:cs typeface="Calibri"/>
              <a:sym typeface="Calibri"/>
            </a:endParaRPr>
          </a:p>
        </p:txBody>
      </p:sp>
      <p:sp>
        <p:nvSpPr>
          <p:cNvPr id="166" name="Google Shape;166;p12"/>
          <p:cNvSpPr/>
          <p:nvPr/>
        </p:nvSpPr>
        <p:spPr>
          <a:xfrm>
            <a:off x="475488" y="530352"/>
            <a:ext cx="112471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2700"/>
              <a:buFont typeface="Calibri"/>
              <a:buNone/>
            </a:pPr>
            <a:r>
              <a:rPr b="1" i="0" lang="en-US" sz="2700" u="none" cap="none" strike="noStrike">
                <a:solidFill>
                  <a:srgbClr val="E6EDF3"/>
                </a:solidFill>
                <a:latin typeface="Calibri"/>
                <a:ea typeface="Calibri"/>
                <a:cs typeface="Calibri"/>
                <a:sym typeface="Calibri"/>
              </a:rPr>
              <a:t>Ten Years of Context Makes Strange Days Announce Themselves</a:t>
            </a:r>
            <a:endParaRPr b="0" i="0" sz="2700" u="none" cap="none" strike="noStrike">
              <a:solidFill>
                <a:schemeClr val="dk1"/>
              </a:solidFill>
              <a:latin typeface="Calibri"/>
              <a:ea typeface="Calibri"/>
              <a:cs typeface="Calibri"/>
              <a:sym typeface="Calibri"/>
            </a:endParaRPr>
          </a:p>
        </p:txBody>
      </p:sp>
      <p:pic>
        <p:nvPicPr>
          <p:cNvPr descr="image10.png" id="167" name="Google Shape;167;p12"/>
          <p:cNvPicPr preferRelativeResize="0"/>
          <p:nvPr/>
        </p:nvPicPr>
        <p:blipFill rotWithShape="1">
          <a:blip r:embed="rId3">
            <a:alphaModFix/>
          </a:blip>
          <a:srcRect b="0" l="0" r="0" t="0"/>
          <a:stretch/>
        </p:blipFill>
        <p:spPr>
          <a:xfrm>
            <a:off x="502920" y="1371600"/>
            <a:ext cx="6035040" cy="3383280"/>
          </a:xfrm>
          <a:prstGeom prst="rect">
            <a:avLst/>
          </a:prstGeom>
          <a:noFill/>
          <a:ln>
            <a:noFill/>
          </a:ln>
        </p:spPr>
      </p:pic>
      <p:sp>
        <p:nvSpPr>
          <p:cNvPr id="168" name="Google Shape;168;p12"/>
          <p:cNvSpPr/>
          <p:nvPr/>
        </p:nvSpPr>
        <p:spPr>
          <a:xfrm>
            <a:off x="502920" y="4809744"/>
            <a:ext cx="60350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1050"/>
              <a:buFont typeface="Calibri"/>
              <a:buNone/>
            </a:pPr>
            <a:r>
              <a:rPr b="0" i="0" lang="en-US" sz="1050" u="none" cap="none" strike="noStrike">
                <a:solidFill>
                  <a:srgbClr val="8B949E"/>
                </a:solidFill>
                <a:latin typeface="Calibri"/>
                <a:ea typeface="Calibri"/>
                <a:cs typeface="Calibri"/>
                <a:sym typeface="Calibri"/>
              </a:rPr>
              <a:t>Overhead resistance graded A+ — ten years of price history locate every ceiling of trapped supply.</a:t>
            </a:r>
            <a:endParaRPr b="0" i="0" sz="1050" u="none" cap="none" strike="noStrike">
              <a:solidFill>
                <a:schemeClr val="dk1"/>
              </a:solidFill>
              <a:latin typeface="Calibri"/>
              <a:ea typeface="Calibri"/>
              <a:cs typeface="Calibri"/>
              <a:sym typeface="Calibri"/>
            </a:endParaRPr>
          </a:p>
        </p:txBody>
      </p:sp>
      <p:pic>
        <p:nvPicPr>
          <p:cNvPr descr="image11.png" id="169" name="Google Shape;169;p12"/>
          <p:cNvPicPr preferRelativeResize="0"/>
          <p:nvPr/>
        </p:nvPicPr>
        <p:blipFill rotWithShape="1">
          <a:blip r:embed="rId4">
            <a:alphaModFix/>
          </a:blip>
          <a:srcRect b="0" l="0" r="0" t="0"/>
          <a:stretch/>
        </p:blipFill>
        <p:spPr>
          <a:xfrm>
            <a:off x="6675120" y="1371600"/>
            <a:ext cx="5029200" cy="3383280"/>
          </a:xfrm>
          <a:prstGeom prst="rect">
            <a:avLst/>
          </a:prstGeom>
          <a:noFill/>
          <a:ln>
            <a:noFill/>
          </a:ln>
        </p:spPr>
      </p:pic>
      <p:sp>
        <p:nvSpPr>
          <p:cNvPr id="170" name="Google Shape;170;p12"/>
          <p:cNvSpPr/>
          <p:nvPr/>
        </p:nvSpPr>
        <p:spPr>
          <a:xfrm>
            <a:off x="6675120" y="4809744"/>
            <a:ext cx="5029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1050"/>
              <a:buFont typeface="Calibri"/>
              <a:buNone/>
            </a:pPr>
            <a:r>
              <a:rPr b="0" i="0" lang="en-US" sz="1050" u="none" cap="none" strike="noStrike">
                <a:solidFill>
                  <a:srgbClr val="8B949E"/>
                </a:solidFill>
                <a:latin typeface="Calibri"/>
                <a:ea typeface="Calibri"/>
                <a:cs typeface="Calibri"/>
                <a:sym typeface="Calibri"/>
              </a:rPr>
              <a:t>Calendar context: 46 years of seasonality — including the presidential-cycle read for 2026.</a:t>
            </a:r>
            <a:endParaRPr b="0" i="0" sz="1050" u="none" cap="none" strike="noStrike">
              <a:solidFill>
                <a:schemeClr val="dk1"/>
              </a:solidFill>
              <a:latin typeface="Calibri"/>
              <a:ea typeface="Calibri"/>
              <a:cs typeface="Calibri"/>
              <a:sym typeface="Calibri"/>
            </a:endParaRPr>
          </a:p>
        </p:txBody>
      </p:sp>
      <p:sp>
        <p:nvSpPr>
          <p:cNvPr id="171" name="Google Shape;171;p12"/>
          <p:cNvSpPr/>
          <p:nvPr/>
        </p:nvSpPr>
        <p:spPr>
          <a:xfrm>
            <a:off x="502920" y="5120640"/>
            <a:ext cx="11201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020"/>
              </a:buClr>
              <a:buSzPts val="1250"/>
              <a:buFont typeface="Calibri"/>
              <a:buNone/>
            </a:pPr>
            <a:r>
              <a:rPr b="0" i="1" lang="en-US" sz="1250" u="none" cap="none" strike="noStrike">
                <a:solidFill>
                  <a:srgbClr val="E8A020"/>
                </a:solidFill>
                <a:latin typeface="Calibri"/>
                <a:ea typeface="Calibri"/>
                <a:cs typeface="Calibri"/>
                <a:sym typeface="Calibri"/>
              </a:rPr>
              <a:t>When today breaks from a decade of normal, the outlier is visible — the Historian is how a scanner earns the word 'research'.</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176" name="Shape 176"/>
        <p:cNvGrpSpPr/>
        <p:nvPr/>
      </p:nvGrpSpPr>
      <p:grpSpPr>
        <a:xfrm>
          <a:off x="0" y="0"/>
          <a:ext cx="0" cy="0"/>
          <a:chOff x="0" y="0"/>
          <a:chExt cx="0" cy="0"/>
        </a:xfrm>
      </p:grpSpPr>
      <p:sp>
        <p:nvSpPr>
          <p:cNvPr id="177" name="Google Shape;177;p13"/>
          <p:cNvSpPr/>
          <p:nvPr/>
        </p:nvSpPr>
        <p:spPr>
          <a:xfrm>
            <a:off x="457200" y="6519672"/>
            <a:ext cx="8778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850"/>
              <a:buFont typeface="Calibri"/>
              <a:buNone/>
            </a:pPr>
            <a:r>
              <a:rPr b="0" i="0" lang="en-US" sz="850" u="none" cap="none" strike="noStrike">
                <a:solidFill>
                  <a:srgbClr val="8B949E"/>
                </a:solidFill>
                <a:latin typeface="Calibri"/>
                <a:ea typeface="Calibri"/>
                <a:cs typeface="Calibri"/>
                <a:sym typeface="Calibri"/>
              </a:rPr>
              <a:t>OROS · Fordham MSAIB Capstone · simulated paper trading · educational, not financial advice</a:t>
            </a:r>
            <a:endParaRPr b="0" i="0" sz="850" u="none" cap="none" strike="noStrike">
              <a:solidFill>
                <a:schemeClr val="dk1"/>
              </a:solidFill>
              <a:latin typeface="Calibri"/>
              <a:ea typeface="Calibri"/>
              <a:cs typeface="Calibri"/>
              <a:sym typeface="Calibri"/>
            </a:endParaRPr>
          </a:p>
        </p:txBody>
      </p:sp>
      <p:sp>
        <p:nvSpPr>
          <p:cNvPr id="178" name="Google Shape;178;p13"/>
          <p:cNvSpPr/>
          <p:nvPr/>
        </p:nvSpPr>
        <p:spPr>
          <a:xfrm>
            <a:off x="502920" y="274320"/>
            <a:ext cx="11155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020"/>
              </a:buClr>
              <a:buSzPts val="1150"/>
              <a:buFont typeface="Calibri"/>
              <a:buNone/>
            </a:pPr>
            <a:r>
              <a:rPr b="1" i="0" lang="en-US" sz="1150" u="none" cap="none" strike="noStrike">
                <a:solidFill>
                  <a:srgbClr val="E8A020"/>
                </a:solidFill>
                <a:latin typeface="Calibri"/>
                <a:ea typeface="Calibri"/>
                <a:cs typeface="Calibri"/>
                <a:sym typeface="Calibri"/>
              </a:rPr>
              <a:t>SECTION 5 · DATA SOURCES</a:t>
            </a:r>
            <a:endParaRPr b="0" i="0" sz="1150" u="none" cap="none" strike="noStrike">
              <a:solidFill>
                <a:schemeClr val="dk1"/>
              </a:solidFill>
              <a:latin typeface="Calibri"/>
              <a:ea typeface="Calibri"/>
              <a:cs typeface="Calibri"/>
              <a:sym typeface="Calibri"/>
            </a:endParaRPr>
          </a:p>
        </p:txBody>
      </p:sp>
      <p:sp>
        <p:nvSpPr>
          <p:cNvPr id="179" name="Google Shape;179;p13"/>
          <p:cNvSpPr/>
          <p:nvPr/>
        </p:nvSpPr>
        <p:spPr>
          <a:xfrm>
            <a:off x="475488" y="530352"/>
            <a:ext cx="112471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2700"/>
              <a:buFont typeface="Calibri"/>
              <a:buNone/>
            </a:pPr>
            <a:r>
              <a:rPr b="1" i="0" lang="en-US" sz="2700" u="none" cap="none" strike="noStrike">
                <a:solidFill>
                  <a:srgbClr val="E6EDF3"/>
                </a:solidFill>
                <a:latin typeface="Calibri"/>
                <a:ea typeface="Calibri"/>
                <a:cs typeface="Calibri"/>
                <a:sym typeface="Calibri"/>
              </a:rPr>
              <a:t>Where Every Number Comes From — and the System Cites It Itself</a:t>
            </a:r>
            <a:endParaRPr b="0" i="0" sz="2700" u="none" cap="none" strike="noStrike">
              <a:solidFill>
                <a:schemeClr val="dk1"/>
              </a:solidFill>
              <a:latin typeface="Calibri"/>
              <a:ea typeface="Calibri"/>
              <a:cs typeface="Calibri"/>
              <a:sym typeface="Calibri"/>
            </a:endParaRPr>
          </a:p>
        </p:txBody>
      </p:sp>
      <p:pic>
        <p:nvPicPr>
          <p:cNvPr descr="shot_sources.png" id="180" name="Google Shape;180;p13"/>
          <p:cNvPicPr preferRelativeResize="0"/>
          <p:nvPr/>
        </p:nvPicPr>
        <p:blipFill rotWithShape="1">
          <a:blip r:embed="rId3">
            <a:alphaModFix/>
          </a:blip>
          <a:srcRect b="0" l="0" r="0" t="0"/>
          <a:stretch/>
        </p:blipFill>
        <p:spPr>
          <a:xfrm>
            <a:off x="502920" y="1325880"/>
            <a:ext cx="6126480" cy="3456432"/>
          </a:xfrm>
          <a:prstGeom prst="rect">
            <a:avLst/>
          </a:prstGeom>
          <a:noFill/>
          <a:ln>
            <a:noFill/>
          </a:ln>
        </p:spPr>
      </p:pic>
      <p:sp>
        <p:nvSpPr>
          <p:cNvPr id="181" name="Google Shape;181;p13"/>
          <p:cNvSpPr/>
          <p:nvPr/>
        </p:nvSpPr>
        <p:spPr>
          <a:xfrm>
            <a:off x="502920" y="4837176"/>
            <a:ext cx="61264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1050"/>
              <a:buFont typeface="Calibri"/>
              <a:buNone/>
            </a:pPr>
            <a:r>
              <a:rPr b="0" i="0" lang="en-US" sz="1050" u="none" cap="none" strike="noStrike">
                <a:solidFill>
                  <a:srgbClr val="8B949E"/>
                </a:solidFill>
                <a:latin typeface="Calibri"/>
                <a:ea typeface="Calibri"/>
                <a:cs typeface="Calibri"/>
                <a:sym typeface="Calibri"/>
              </a:rPr>
              <a:t>Every research memo ends like this: numbered footnotes, source provenance, and live SEC EDGAR links — written by the agents, per claim.</a:t>
            </a:r>
            <a:endParaRPr b="0" i="0" sz="1050" u="none" cap="none" strike="noStrike">
              <a:solidFill>
                <a:schemeClr val="dk1"/>
              </a:solidFill>
              <a:latin typeface="Calibri"/>
              <a:ea typeface="Calibri"/>
              <a:cs typeface="Calibri"/>
              <a:sym typeface="Calibri"/>
            </a:endParaRPr>
          </a:p>
        </p:txBody>
      </p:sp>
      <p:sp>
        <p:nvSpPr>
          <p:cNvPr id="182" name="Google Shape;182;p13"/>
          <p:cNvSpPr/>
          <p:nvPr/>
        </p:nvSpPr>
        <p:spPr>
          <a:xfrm>
            <a:off x="6812280" y="1325880"/>
            <a:ext cx="4892040" cy="4023360"/>
          </a:xfrm>
          <a:prstGeom prst="roundRect">
            <a:avLst>
              <a:gd fmla="val 1818" name="adj"/>
            </a:avLst>
          </a:prstGeom>
          <a:solidFill>
            <a:srgbClr val="161B22"/>
          </a:solidFill>
          <a:ln cap="flat" cmpd="sng" w="12700">
            <a:solidFill>
              <a:srgbClr val="3036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3"/>
          <p:cNvSpPr/>
          <p:nvPr/>
        </p:nvSpPr>
        <p:spPr>
          <a:xfrm>
            <a:off x="6995160" y="1444752"/>
            <a:ext cx="45720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A6FF"/>
              </a:buClr>
              <a:buSzPts val="1150"/>
              <a:buFont typeface="Calibri"/>
              <a:buNone/>
            </a:pPr>
            <a:r>
              <a:rPr b="1" i="0" lang="en-US" sz="1150" u="none" cap="none" strike="noStrike">
                <a:solidFill>
                  <a:srgbClr val="58A6FF"/>
                </a:solidFill>
                <a:latin typeface="Calibri"/>
                <a:ea typeface="Calibri"/>
                <a:cs typeface="Calibri"/>
                <a:sym typeface="Calibri"/>
              </a:rPr>
              <a:t>STRUCTURED</a:t>
            </a:r>
            <a:endParaRPr b="0" i="0" sz="1150" u="none" cap="none" strike="noStrike">
              <a:solidFill>
                <a:schemeClr val="dk1"/>
              </a:solidFill>
              <a:latin typeface="Calibri"/>
              <a:ea typeface="Calibri"/>
              <a:cs typeface="Calibri"/>
              <a:sym typeface="Calibri"/>
            </a:endParaRPr>
          </a:p>
        </p:txBody>
      </p:sp>
      <p:sp>
        <p:nvSpPr>
          <p:cNvPr id="184" name="Google Shape;184;p13"/>
          <p:cNvSpPr/>
          <p:nvPr/>
        </p:nvSpPr>
        <p:spPr>
          <a:xfrm>
            <a:off x="6995160" y="1719072"/>
            <a:ext cx="4572000" cy="105156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E6EDF3"/>
              </a:buClr>
              <a:buSzPts val="1050"/>
              <a:buFont typeface="Calibri"/>
              <a:buNone/>
            </a:pPr>
            <a:r>
              <a:rPr b="0" i="0" lang="en-US" sz="1050" u="none" cap="none" strike="noStrike">
                <a:solidFill>
                  <a:srgbClr val="E6EDF3"/>
                </a:solidFill>
                <a:latin typeface="Calibri"/>
                <a:ea typeface="Calibri"/>
                <a:cs typeface="Calibri"/>
                <a:sym typeface="Calibri"/>
              </a:rPr>
              <a:t>SEC EDGAR — XBRL financial facts + 10-K filings (rate-limited, cached, compliant User-Agent) · Nasdaq Trader listings + SEC ticker map (~8,000 symbols → the OROS 500) · Yahoo Finance daily prices, whole universe, cached nightly · FRED macro series · VIX</a:t>
            </a:r>
            <a:endParaRPr b="0" i="0" sz="1050" u="none" cap="none" strike="noStrike">
              <a:solidFill>
                <a:schemeClr val="dk1"/>
              </a:solidFill>
              <a:latin typeface="Calibri"/>
              <a:ea typeface="Calibri"/>
              <a:cs typeface="Calibri"/>
              <a:sym typeface="Calibri"/>
            </a:endParaRPr>
          </a:p>
        </p:txBody>
      </p:sp>
      <p:sp>
        <p:nvSpPr>
          <p:cNvPr id="185" name="Google Shape;185;p13"/>
          <p:cNvSpPr/>
          <p:nvPr/>
        </p:nvSpPr>
        <p:spPr>
          <a:xfrm>
            <a:off x="6995160" y="2852928"/>
            <a:ext cx="45720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A6FF"/>
              </a:buClr>
              <a:buSzPts val="1150"/>
              <a:buFont typeface="Calibri"/>
              <a:buNone/>
            </a:pPr>
            <a:r>
              <a:rPr b="1" i="0" lang="en-US" sz="1150" u="none" cap="none" strike="noStrike">
                <a:solidFill>
                  <a:srgbClr val="58A6FF"/>
                </a:solidFill>
                <a:latin typeface="Calibri"/>
                <a:ea typeface="Calibri"/>
                <a:cs typeface="Calibri"/>
                <a:sym typeface="Calibri"/>
              </a:rPr>
              <a:t>UNSTRUCTURED</a:t>
            </a:r>
            <a:endParaRPr b="0" i="0" sz="1150" u="none" cap="none" strike="noStrike">
              <a:solidFill>
                <a:schemeClr val="dk1"/>
              </a:solidFill>
              <a:latin typeface="Calibri"/>
              <a:ea typeface="Calibri"/>
              <a:cs typeface="Calibri"/>
              <a:sym typeface="Calibri"/>
            </a:endParaRPr>
          </a:p>
        </p:txBody>
      </p:sp>
      <p:sp>
        <p:nvSpPr>
          <p:cNvPr id="186" name="Google Shape;186;p13"/>
          <p:cNvSpPr/>
          <p:nvPr/>
        </p:nvSpPr>
        <p:spPr>
          <a:xfrm>
            <a:off x="6995160" y="3127248"/>
            <a:ext cx="4572000" cy="86868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E6EDF3"/>
              </a:buClr>
              <a:buSzPts val="1050"/>
              <a:buFont typeface="Calibri"/>
              <a:buNone/>
            </a:pPr>
            <a:r>
              <a:rPr b="0" i="0" lang="en-US" sz="1050" u="none" cap="none" strike="noStrike">
                <a:solidFill>
                  <a:srgbClr val="E6EDF3"/>
                </a:solidFill>
                <a:latin typeface="Calibri"/>
                <a:ea typeface="Calibri"/>
                <a:cs typeface="Calibri"/>
                <a:sym typeface="Calibri"/>
              </a:rPr>
              <a:t>10-K text, chunked section-aware into a ChromaDB vector store (RAG: Items 1, 1A, 7) · news headlines scored by VADER sentiment (Alpha Vantage optional, quota-gated) · StockTwits social attention — the 'crowded' flag</a:t>
            </a:r>
            <a:endParaRPr b="0" i="0" sz="1050" u="none" cap="none" strike="noStrike">
              <a:solidFill>
                <a:schemeClr val="dk1"/>
              </a:solidFill>
              <a:latin typeface="Calibri"/>
              <a:ea typeface="Calibri"/>
              <a:cs typeface="Calibri"/>
              <a:sym typeface="Calibri"/>
            </a:endParaRPr>
          </a:p>
        </p:txBody>
      </p:sp>
      <p:sp>
        <p:nvSpPr>
          <p:cNvPr id="187" name="Google Shape;187;p13"/>
          <p:cNvSpPr/>
          <p:nvPr/>
        </p:nvSpPr>
        <p:spPr>
          <a:xfrm>
            <a:off x="6995160" y="4069080"/>
            <a:ext cx="45720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020"/>
              </a:buClr>
              <a:buSzPts val="1150"/>
              <a:buFont typeface="Calibri"/>
              <a:buNone/>
            </a:pPr>
            <a:r>
              <a:rPr b="1" i="0" lang="en-US" sz="1150" u="none" cap="none" strike="noStrike">
                <a:solidFill>
                  <a:srgbClr val="E8A020"/>
                </a:solidFill>
                <a:latin typeface="Calibri"/>
                <a:ea typeface="Calibri"/>
                <a:cs typeface="Calibri"/>
                <a:sym typeface="Calibri"/>
              </a:rPr>
              <a:t>STATED LIMITS</a:t>
            </a:r>
            <a:endParaRPr b="0" i="0" sz="1150" u="none" cap="none" strike="noStrike">
              <a:solidFill>
                <a:schemeClr val="dk1"/>
              </a:solidFill>
              <a:latin typeface="Calibri"/>
              <a:ea typeface="Calibri"/>
              <a:cs typeface="Calibri"/>
              <a:sym typeface="Calibri"/>
            </a:endParaRPr>
          </a:p>
        </p:txBody>
      </p:sp>
      <p:sp>
        <p:nvSpPr>
          <p:cNvPr id="188" name="Google Shape;188;p13"/>
          <p:cNvSpPr/>
          <p:nvPr/>
        </p:nvSpPr>
        <p:spPr>
          <a:xfrm>
            <a:off x="6995160" y="4343400"/>
            <a:ext cx="4572000" cy="86868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E6EDF3"/>
              </a:buClr>
              <a:buSzPts val="1050"/>
              <a:buFont typeface="Calibri"/>
              <a:buNone/>
            </a:pPr>
            <a:r>
              <a:rPr b="0" i="0" lang="en-US" sz="1050" u="none" cap="none" strike="noStrike">
                <a:solidFill>
                  <a:srgbClr val="E6EDF3"/>
                </a:solidFill>
                <a:latin typeface="Calibri"/>
                <a:ea typeface="Calibri"/>
                <a:cs typeface="Calibri"/>
                <a:sym typeface="Calibri"/>
              </a:rPr>
              <a:t>Free-tier quotes can lag 15+ minutes · fundamentals arrive on filing lag · news quotas fall back to VADER · strategy books inform priors — attribution only, no text reproduced</a:t>
            </a:r>
            <a:endParaRPr b="0" i="0" sz="1050" u="none" cap="none" strike="noStrike">
              <a:solidFill>
                <a:schemeClr val="dk1"/>
              </a:solidFill>
              <a:latin typeface="Calibri"/>
              <a:ea typeface="Calibri"/>
              <a:cs typeface="Calibri"/>
              <a:sym typeface="Calibri"/>
            </a:endParaRPr>
          </a:p>
        </p:txBody>
      </p:sp>
      <p:sp>
        <p:nvSpPr>
          <p:cNvPr id="189" name="Google Shape;189;p13"/>
          <p:cNvSpPr/>
          <p:nvPr/>
        </p:nvSpPr>
        <p:spPr>
          <a:xfrm>
            <a:off x="502920" y="5532120"/>
            <a:ext cx="11201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020"/>
              </a:buClr>
              <a:buSzPts val="1250"/>
              <a:buFont typeface="Calibri"/>
              <a:buNone/>
            </a:pPr>
            <a:r>
              <a:rPr b="1" i="1" lang="en-US" sz="1250" u="none" cap="none" strike="noStrike">
                <a:solidFill>
                  <a:srgbClr val="E8A020"/>
                </a:solidFill>
                <a:latin typeface="Calibri"/>
                <a:ea typeface="Calibri"/>
                <a:cs typeface="Calibri"/>
                <a:sym typeface="Calibri"/>
              </a:rPr>
              <a:t>The provenance rule: no number is spoken on any surface that is not journaled first — and no claim appears in a memo without a footnote.</a:t>
            </a:r>
            <a:endParaRPr b="0" i="0" sz="1250" u="none" cap="none" strike="noStrike">
              <a:solidFill>
                <a:schemeClr val="dk1"/>
              </a:solidFill>
              <a:latin typeface="Calibri"/>
              <a:ea typeface="Calibri"/>
              <a:cs typeface="Calibri"/>
              <a:sym typeface="Calibri"/>
            </a:endParaRPr>
          </a:p>
        </p:txBody>
      </p:sp>
      <p:sp>
        <p:nvSpPr>
          <p:cNvPr id="190" name="Google Shape;190;p13"/>
          <p:cNvSpPr/>
          <p:nvPr/>
        </p:nvSpPr>
        <p:spPr>
          <a:xfrm>
            <a:off x="502920" y="6199632"/>
            <a:ext cx="11155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7681"/>
              </a:buClr>
              <a:buSzPts val="800"/>
              <a:buFont typeface="Calibri"/>
              <a:buNone/>
            </a:pPr>
            <a:r>
              <a:rPr b="0" i="1" lang="en-US" sz="800" u="none" cap="none" strike="noStrike">
                <a:solidFill>
                  <a:srgbClr val="6E7681"/>
                </a:solidFill>
                <a:latin typeface="Calibri"/>
                <a:ea typeface="Calibri"/>
                <a:cs typeface="Calibri"/>
                <a:sym typeface="Calibri"/>
              </a:rPr>
              <a:t>Primary sources: sec.gov/EDGAR · fred.stlouisfed.org · nasdaqtrader.com · Yahoo Finance · StockTwits · Alpha Vantage</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195" name="Shape 195"/>
        <p:cNvGrpSpPr/>
        <p:nvPr/>
      </p:nvGrpSpPr>
      <p:grpSpPr>
        <a:xfrm>
          <a:off x="0" y="0"/>
          <a:ext cx="0" cy="0"/>
          <a:chOff x="0" y="0"/>
          <a:chExt cx="0" cy="0"/>
        </a:xfrm>
      </p:grpSpPr>
      <p:sp>
        <p:nvSpPr>
          <p:cNvPr id="196" name="Google Shape;196;p14"/>
          <p:cNvSpPr/>
          <p:nvPr/>
        </p:nvSpPr>
        <p:spPr>
          <a:xfrm>
            <a:off x="457200" y="6519672"/>
            <a:ext cx="8778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850"/>
              <a:buFont typeface="Calibri"/>
              <a:buNone/>
            </a:pPr>
            <a:r>
              <a:rPr b="0" i="0" lang="en-US" sz="850" u="none" cap="none" strike="noStrike">
                <a:solidFill>
                  <a:srgbClr val="8B949E"/>
                </a:solidFill>
                <a:latin typeface="Calibri"/>
                <a:ea typeface="Calibri"/>
                <a:cs typeface="Calibri"/>
                <a:sym typeface="Calibri"/>
              </a:rPr>
              <a:t>OROS · Fordham MSAIB Capstone · simulated paper trading · educational, not financial advice</a:t>
            </a:r>
            <a:endParaRPr b="0" i="0" sz="850" u="none" cap="none" strike="noStrike">
              <a:solidFill>
                <a:schemeClr val="dk1"/>
              </a:solidFill>
              <a:latin typeface="Calibri"/>
              <a:ea typeface="Calibri"/>
              <a:cs typeface="Calibri"/>
              <a:sym typeface="Calibri"/>
            </a:endParaRPr>
          </a:p>
        </p:txBody>
      </p:sp>
      <p:sp>
        <p:nvSpPr>
          <p:cNvPr id="197" name="Google Shape;197;p14"/>
          <p:cNvSpPr/>
          <p:nvPr/>
        </p:nvSpPr>
        <p:spPr>
          <a:xfrm>
            <a:off x="502920" y="274320"/>
            <a:ext cx="11155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020"/>
              </a:buClr>
              <a:buSzPts val="1150"/>
              <a:buFont typeface="Calibri"/>
              <a:buNone/>
            </a:pPr>
            <a:r>
              <a:rPr b="1" i="0" lang="en-US" sz="1150" u="none" cap="none" strike="noStrike">
                <a:solidFill>
                  <a:srgbClr val="E8A020"/>
                </a:solidFill>
                <a:latin typeface="Calibri"/>
                <a:ea typeface="Calibri"/>
                <a:cs typeface="Calibri"/>
                <a:sym typeface="Calibri"/>
              </a:rPr>
              <a:t>SECTION 4 · SOLUTION — TRANSPARENCY BY DESIGN</a:t>
            </a:r>
            <a:endParaRPr b="0" i="0" sz="1150" u="none" cap="none" strike="noStrike">
              <a:solidFill>
                <a:schemeClr val="dk1"/>
              </a:solidFill>
              <a:latin typeface="Calibri"/>
              <a:ea typeface="Calibri"/>
              <a:cs typeface="Calibri"/>
              <a:sym typeface="Calibri"/>
            </a:endParaRPr>
          </a:p>
        </p:txBody>
      </p:sp>
      <p:sp>
        <p:nvSpPr>
          <p:cNvPr id="198" name="Google Shape;198;p14"/>
          <p:cNvSpPr/>
          <p:nvPr/>
        </p:nvSpPr>
        <p:spPr>
          <a:xfrm>
            <a:off x="475488" y="530352"/>
            <a:ext cx="112471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2700"/>
              <a:buFont typeface="Calibri"/>
              <a:buNone/>
            </a:pPr>
            <a:r>
              <a:rPr b="1" i="0" lang="en-US" sz="2700" u="none" cap="none" strike="noStrike">
                <a:solidFill>
                  <a:srgbClr val="E6EDF3"/>
                </a:solidFill>
                <a:latin typeface="Calibri"/>
                <a:ea typeface="Calibri"/>
                <a:cs typeface="Calibri"/>
                <a:sym typeface="Calibri"/>
              </a:rPr>
              <a:t>The Agents Work With the Door Open</a:t>
            </a:r>
            <a:endParaRPr b="0" i="0" sz="2700" u="none" cap="none" strike="noStrike">
              <a:solidFill>
                <a:schemeClr val="dk1"/>
              </a:solidFill>
              <a:latin typeface="Calibri"/>
              <a:ea typeface="Calibri"/>
              <a:cs typeface="Calibri"/>
              <a:sym typeface="Calibri"/>
            </a:endParaRPr>
          </a:p>
        </p:txBody>
      </p:sp>
      <p:pic>
        <p:nvPicPr>
          <p:cNvPr descr="image13.png" id="199" name="Google Shape;199;p14"/>
          <p:cNvPicPr preferRelativeResize="0"/>
          <p:nvPr/>
        </p:nvPicPr>
        <p:blipFill rotWithShape="1">
          <a:blip r:embed="rId3">
            <a:alphaModFix/>
          </a:blip>
          <a:srcRect b="0" l="0" r="0" t="0"/>
          <a:stretch/>
        </p:blipFill>
        <p:spPr>
          <a:xfrm>
            <a:off x="548640" y="1371600"/>
            <a:ext cx="5532120" cy="3108960"/>
          </a:xfrm>
          <a:prstGeom prst="rect">
            <a:avLst/>
          </a:prstGeom>
          <a:noFill/>
          <a:ln>
            <a:noFill/>
          </a:ln>
        </p:spPr>
      </p:pic>
      <p:sp>
        <p:nvSpPr>
          <p:cNvPr id="200" name="Google Shape;200;p14"/>
          <p:cNvSpPr/>
          <p:nvPr/>
        </p:nvSpPr>
        <p:spPr>
          <a:xfrm>
            <a:off x="548640" y="4535424"/>
            <a:ext cx="55321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1050"/>
              <a:buFont typeface="Calibri"/>
              <a:buNone/>
            </a:pPr>
            <a:r>
              <a:rPr b="0" i="0" lang="en-US" sz="1050" u="none" cap="none" strike="noStrike">
                <a:solidFill>
                  <a:srgbClr val="8B949E"/>
                </a:solidFill>
                <a:latin typeface="Calibri"/>
                <a:ea typeface="Calibri"/>
                <a:cs typeface="Calibri"/>
                <a:sym typeface="Calibri"/>
              </a:rPr>
              <a:t>Inside the app: the Sector Specialist's tool calls render LIVE — every SEC lookup, every claim, visible as the agent works.</a:t>
            </a:r>
            <a:endParaRPr b="0" i="0" sz="1050" u="none" cap="none" strike="noStrike">
              <a:solidFill>
                <a:schemeClr val="dk1"/>
              </a:solidFill>
              <a:latin typeface="Calibri"/>
              <a:ea typeface="Calibri"/>
              <a:cs typeface="Calibri"/>
              <a:sym typeface="Calibri"/>
            </a:endParaRPr>
          </a:p>
        </p:txBody>
      </p:sp>
      <p:pic>
        <p:nvPicPr>
          <p:cNvPr descr="yt_playlist.png" id="201" name="Google Shape;201;p14"/>
          <p:cNvPicPr preferRelativeResize="0"/>
          <p:nvPr/>
        </p:nvPicPr>
        <p:blipFill rotWithShape="1">
          <a:blip r:embed="rId4">
            <a:alphaModFix/>
          </a:blip>
          <a:srcRect b="0" l="0" r="0" t="0"/>
          <a:stretch/>
        </p:blipFill>
        <p:spPr>
          <a:xfrm>
            <a:off x="6263640" y="1371600"/>
            <a:ext cx="5532120" cy="3108960"/>
          </a:xfrm>
          <a:prstGeom prst="rect">
            <a:avLst/>
          </a:prstGeom>
          <a:noFill/>
          <a:ln>
            <a:noFill/>
          </a:ln>
        </p:spPr>
      </p:pic>
      <p:sp>
        <p:nvSpPr>
          <p:cNvPr id="202" name="Google Shape;202;p14"/>
          <p:cNvSpPr/>
          <p:nvPr/>
        </p:nvSpPr>
        <p:spPr>
          <a:xfrm>
            <a:off x="6263640" y="4535424"/>
            <a:ext cx="55321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1050"/>
              <a:buFont typeface="Calibri"/>
              <a:buNone/>
            </a:pPr>
            <a:r>
              <a:rPr b="0" i="0" lang="en-US" sz="1050" u="none" cap="none" strike="noStrike">
                <a:solidFill>
                  <a:srgbClr val="8B949E"/>
                </a:solidFill>
                <a:latin typeface="Calibri"/>
                <a:ea typeface="Calibri"/>
                <a:cs typeface="Calibri"/>
                <a:sym typeface="Calibri"/>
              </a:rPr>
              <a:t>Outside the app: the public channel — every conclusion broadcast, timestamped, wins and quiet days alike, no edits, no deletions.</a:t>
            </a:r>
            <a:endParaRPr b="0" i="0" sz="1050" u="none" cap="none" strike="noStrike">
              <a:solidFill>
                <a:schemeClr val="dk1"/>
              </a:solidFill>
              <a:latin typeface="Calibri"/>
              <a:ea typeface="Calibri"/>
              <a:cs typeface="Calibri"/>
              <a:sym typeface="Calibri"/>
            </a:endParaRPr>
          </a:p>
        </p:txBody>
      </p:sp>
      <p:sp>
        <p:nvSpPr>
          <p:cNvPr id="203" name="Google Shape;203;p14"/>
          <p:cNvSpPr/>
          <p:nvPr/>
        </p:nvSpPr>
        <p:spPr>
          <a:xfrm>
            <a:off x="548640" y="5029200"/>
            <a:ext cx="11109960" cy="54864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8A020"/>
              </a:buClr>
              <a:buSzPts val="1300"/>
              <a:buFont typeface="Calibri"/>
              <a:buNone/>
            </a:pPr>
            <a:r>
              <a:rPr b="1" i="1" lang="en-US" sz="1300" u="none" cap="none" strike="noStrike">
                <a:solidFill>
                  <a:srgbClr val="E8A020"/>
                </a:solidFill>
                <a:latin typeface="Calibri"/>
                <a:ea typeface="Calibri"/>
                <a:cs typeface="Calibri"/>
                <a:sym typeface="Calibri"/>
              </a:rPr>
              <a:t>Openness is the product's trust engine: the workflow is watchable inside, the record is auditable outside. A robo-advisor asks for trust; OROS manufactures it by exposure.</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208" name="Shape 208"/>
        <p:cNvGrpSpPr/>
        <p:nvPr/>
      </p:nvGrpSpPr>
      <p:grpSpPr>
        <a:xfrm>
          <a:off x="0" y="0"/>
          <a:ext cx="0" cy="0"/>
          <a:chOff x="0" y="0"/>
          <a:chExt cx="0" cy="0"/>
        </a:xfrm>
      </p:grpSpPr>
      <p:sp>
        <p:nvSpPr>
          <p:cNvPr id="209" name="Google Shape;209;p15"/>
          <p:cNvSpPr/>
          <p:nvPr/>
        </p:nvSpPr>
        <p:spPr>
          <a:xfrm>
            <a:off x="457200" y="6519672"/>
            <a:ext cx="8778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850"/>
              <a:buFont typeface="Calibri"/>
              <a:buNone/>
            </a:pPr>
            <a:r>
              <a:rPr b="0" i="0" lang="en-US" sz="850" u="none" cap="none" strike="noStrike">
                <a:solidFill>
                  <a:srgbClr val="8B949E"/>
                </a:solidFill>
                <a:latin typeface="Calibri"/>
                <a:ea typeface="Calibri"/>
                <a:cs typeface="Calibri"/>
                <a:sym typeface="Calibri"/>
              </a:rPr>
              <a:t>OROS · Fordham MSAIB Capstone · simulated paper trading · educational, not financial advice</a:t>
            </a:r>
            <a:endParaRPr b="0" i="0" sz="850" u="none" cap="none" strike="noStrike">
              <a:solidFill>
                <a:schemeClr val="dk1"/>
              </a:solidFill>
              <a:latin typeface="Calibri"/>
              <a:ea typeface="Calibri"/>
              <a:cs typeface="Calibri"/>
              <a:sym typeface="Calibri"/>
            </a:endParaRPr>
          </a:p>
        </p:txBody>
      </p:sp>
      <p:sp>
        <p:nvSpPr>
          <p:cNvPr id="210" name="Google Shape;210;p15"/>
          <p:cNvSpPr/>
          <p:nvPr/>
        </p:nvSpPr>
        <p:spPr>
          <a:xfrm>
            <a:off x="502920" y="274320"/>
            <a:ext cx="11155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020"/>
              </a:buClr>
              <a:buSzPts val="1150"/>
              <a:buFont typeface="Calibri"/>
              <a:buNone/>
            </a:pPr>
            <a:r>
              <a:rPr b="1" i="0" lang="en-US" sz="1150" u="none" cap="none" strike="noStrike">
                <a:solidFill>
                  <a:srgbClr val="E8A020"/>
                </a:solidFill>
                <a:latin typeface="Calibri"/>
                <a:ea typeface="Calibri"/>
                <a:cs typeface="Calibri"/>
                <a:sym typeface="Calibri"/>
              </a:rPr>
              <a:t>SECTION 6 · MVP — THE CONVERSATION</a:t>
            </a:r>
            <a:endParaRPr b="0" i="0" sz="1150" u="none" cap="none" strike="noStrike">
              <a:solidFill>
                <a:schemeClr val="dk1"/>
              </a:solidFill>
              <a:latin typeface="Calibri"/>
              <a:ea typeface="Calibri"/>
              <a:cs typeface="Calibri"/>
              <a:sym typeface="Calibri"/>
            </a:endParaRPr>
          </a:p>
        </p:txBody>
      </p:sp>
      <p:sp>
        <p:nvSpPr>
          <p:cNvPr id="211" name="Google Shape;211;p15"/>
          <p:cNvSpPr/>
          <p:nvPr/>
        </p:nvSpPr>
        <p:spPr>
          <a:xfrm>
            <a:off x="475488" y="530352"/>
            <a:ext cx="112471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2700"/>
              <a:buFont typeface="Calibri"/>
              <a:buNone/>
            </a:pPr>
            <a:r>
              <a:rPr b="1" i="0" lang="en-US" sz="2700" u="none" cap="none" strike="noStrike">
                <a:solidFill>
                  <a:srgbClr val="E6EDF3"/>
                </a:solidFill>
                <a:latin typeface="Calibri"/>
                <a:ea typeface="Calibri"/>
                <a:cs typeface="Calibri"/>
                <a:sym typeface="Calibri"/>
              </a:rPr>
              <a:t>The Personalization Gap, Answered: An Advisor You Can Question</a:t>
            </a:r>
            <a:endParaRPr b="0" i="0" sz="2700" u="none" cap="none" strike="noStrike">
              <a:solidFill>
                <a:schemeClr val="dk1"/>
              </a:solidFill>
              <a:latin typeface="Calibri"/>
              <a:ea typeface="Calibri"/>
              <a:cs typeface="Calibri"/>
              <a:sym typeface="Calibri"/>
            </a:endParaRPr>
          </a:p>
        </p:txBody>
      </p:sp>
      <p:pic>
        <p:nvPicPr>
          <p:cNvPr descr="image8.png" id="212" name="Google Shape;212;p15"/>
          <p:cNvPicPr preferRelativeResize="0"/>
          <p:nvPr/>
        </p:nvPicPr>
        <p:blipFill rotWithShape="1">
          <a:blip r:embed="rId3">
            <a:alphaModFix/>
          </a:blip>
          <a:srcRect b="0" l="0" r="0" t="0"/>
          <a:stretch/>
        </p:blipFill>
        <p:spPr>
          <a:xfrm>
            <a:off x="822960" y="1325880"/>
            <a:ext cx="10515600" cy="4297680"/>
          </a:xfrm>
          <a:prstGeom prst="rect">
            <a:avLst/>
          </a:prstGeom>
          <a:noFill/>
          <a:ln>
            <a:noFill/>
          </a:ln>
        </p:spPr>
      </p:pic>
      <p:sp>
        <p:nvSpPr>
          <p:cNvPr id="213" name="Google Shape;213;p15"/>
          <p:cNvSpPr/>
          <p:nvPr/>
        </p:nvSpPr>
        <p:spPr>
          <a:xfrm>
            <a:off x="822960" y="5678424"/>
            <a:ext cx="10515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1050"/>
              <a:buFont typeface="Calibri"/>
              <a:buNone/>
            </a:pPr>
            <a:r>
              <a:rPr b="0" i="0" lang="en-US" sz="1050" u="none" cap="none" strike="noStrike">
                <a:solidFill>
                  <a:srgbClr val="8B949E"/>
                </a:solidFill>
                <a:latin typeface="Calibri"/>
                <a:ea typeface="Calibri"/>
                <a:cs typeface="Calibri"/>
                <a:sym typeface="Calibri"/>
              </a:rPr>
              <a:t>Ask OROS explains its own build — and draws its own line: 'What I Can't Say.'</a:t>
            </a:r>
            <a:endParaRPr b="0" i="0" sz="1050" u="none" cap="none" strike="noStrike">
              <a:solidFill>
                <a:schemeClr val="dk1"/>
              </a:solidFill>
              <a:latin typeface="Calibri"/>
              <a:ea typeface="Calibri"/>
              <a:cs typeface="Calibri"/>
              <a:sym typeface="Calibri"/>
            </a:endParaRPr>
          </a:p>
        </p:txBody>
      </p:sp>
      <p:sp>
        <p:nvSpPr>
          <p:cNvPr id="214" name="Google Shape;214;p15"/>
          <p:cNvSpPr/>
          <p:nvPr/>
        </p:nvSpPr>
        <p:spPr>
          <a:xfrm>
            <a:off x="822960" y="6053328"/>
            <a:ext cx="10515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020"/>
              </a:buClr>
              <a:buSzPts val="1250"/>
              <a:buFont typeface="Calibri"/>
              <a:buNone/>
            </a:pPr>
            <a:r>
              <a:rPr b="0" i="1" lang="en-US" sz="1250" u="none" cap="none" strike="noStrike">
                <a:solidFill>
                  <a:srgbClr val="E8A020"/>
                </a:solidFill>
                <a:latin typeface="Calibri"/>
                <a:ea typeface="Calibri"/>
                <a:cs typeface="Calibri"/>
                <a:sym typeface="Calibri"/>
              </a:rPr>
              <a:t>Robo-advisors ask you five questions once. OROS answers yours every day — and knows what it must not answer.</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219" name="Shape 219"/>
        <p:cNvGrpSpPr/>
        <p:nvPr/>
      </p:nvGrpSpPr>
      <p:grpSpPr>
        <a:xfrm>
          <a:off x="0" y="0"/>
          <a:ext cx="0" cy="0"/>
          <a:chOff x="0" y="0"/>
          <a:chExt cx="0" cy="0"/>
        </a:xfrm>
      </p:grpSpPr>
      <p:sp>
        <p:nvSpPr>
          <p:cNvPr id="220" name="Google Shape;220;p16"/>
          <p:cNvSpPr/>
          <p:nvPr/>
        </p:nvSpPr>
        <p:spPr>
          <a:xfrm>
            <a:off x="457200" y="6519672"/>
            <a:ext cx="8778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850"/>
              <a:buFont typeface="Calibri"/>
              <a:buNone/>
            </a:pPr>
            <a:r>
              <a:rPr b="0" i="0" lang="en-US" sz="850" u="none" cap="none" strike="noStrike">
                <a:solidFill>
                  <a:srgbClr val="8B949E"/>
                </a:solidFill>
                <a:latin typeface="Calibri"/>
                <a:ea typeface="Calibri"/>
                <a:cs typeface="Calibri"/>
                <a:sym typeface="Calibri"/>
              </a:rPr>
              <a:t>OROS · Fordham MSAIB Capstone · simulated paper trading · educational, not financial advice</a:t>
            </a:r>
            <a:endParaRPr b="0" i="0" sz="850" u="none" cap="none" strike="noStrike">
              <a:solidFill>
                <a:schemeClr val="dk1"/>
              </a:solidFill>
              <a:latin typeface="Calibri"/>
              <a:ea typeface="Calibri"/>
              <a:cs typeface="Calibri"/>
              <a:sym typeface="Calibri"/>
            </a:endParaRPr>
          </a:p>
        </p:txBody>
      </p:sp>
      <p:sp>
        <p:nvSpPr>
          <p:cNvPr id="221" name="Google Shape;221;p16"/>
          <p:cNvSpPr/>
          <p:nvPr/>
        </p:nvSpPr>
        <p:spPr>
          <a:xfrm>
            <a:off x="502920" y="274320"/>
            <a:ext cx="11155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020"/>
              </a:buClr>
              <a:buSzPts val="1150"/>
              <a:buFont typeface="Calibri"/>
              <a:buNone/>
            </a:pPr>
            <a:r>
              <a:rPr b="1" i="0" lang="en-US" sz="1150" u="none" cap="none" strike="noStrike">
                <a:solidFill>
                  <a:srgbClr val="E8A020"/>
                </a:solidFill>
                <a:latin typeface="Calibri"/>
                <a:ea typeface="Calibri"/>
                <a:cs typeface="Calibri"/>
                <a:sym typeface="Calibri"/>
              </a:rPr>
              <a:t>SECTION 6 · MVP — THE DAILY REPORT</a:t>
            </a:r>
            <a:endParaRPr b="0" i="0" sz="1150" u="none" cap="none" strike="noStrike">
              <a:solidFill>
                <a:schemeClr val="dk1"/>
              </a:solidFill>
              <a:latin typeface="Calibri"/>
              <a:ea typeface="Calibri"/>
              <a:cs typeface="Calibri"/>
              <a:sym typeface="Calibri"/>
            </a:endParaRPr>
          </a:p>
        </p:txBody>
      </p:sp>
      <p:sp>
        <p:nvSpPr>
          <p:cNvPr id="222" name="Google Shape;222;p16"/>
          <p:cNvSpPr/>
          <p:nvPr/>
        </p:nvSpPr>
        <p:spPr>
          <a:xfrm>
            <a:off x="475488" y="530352"/>
            <a:ext cx="112471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2700"/>
              <a:buFont typeface="Calibri"/>
              <a:buNone/>
            </a:pPr>
            <a:r>
              <a:rPr b="1" i="0" lang="en-US" sz="2700" u="none" cap="none" strike="noStrike">
                <a:solidFill>
                  <a:srgbClr val="E6EDF3"/>
                </a:solidFill>
                <a:latin typeface="Calibri"/>
                <a:ea typeface="Calibri"/>
                <a:cs typeface="Calibri"/>
                <a:sym typeface="Calibri"/>
              </a:rPr>
              <a:t>One Email a Day: the Report the Video Must Match</a:t>
            </a:r>
            <a:endParaRPr b="0" i="0" sz="2700" u="none" cap="none" strike="noStrike">
              <a:solidFill>
                <a:schemeClr val="dk1"/>
              </a:solidFill>
              <a:latin typeface="Calibri"/>
              <a:ea typeface="Calibri"/>
              <a:cs typeface="Calibri"/>
              <a:sym typeface="Calibri"/>
            </a:endParaRPr>
          </a:p>
        </p:txBody>
      </p:sp>
      <p:pic>
        <p:nvPicPr>
          <p:cNvPr descr="image2.png" id="223" name="Google Shape;223;p16"/>
          <p:cNvPicPr preferRelativeResize="0"/>
          <p:nvPr/>
        </p:nvPicPr>
        <p:blipFill rotWithShape="1">
          <a:blip r:embed="rId3">
            <a:alphaModFix/>
          </a:blip>
          <a:srcRect b="0" l="0" r="0" t="0"/>
          <a:stretch/>
        </p:blipFill>
        <p:spPr>
          <a:xfrm>
            <a:off x="502920" y="1371600"/>
            <a:ext cx="6035040" cy="3246120"/>
          </a:xfrm>
          <a:prstGeom prst="rect">
            <a:avLst/>
          </a:prstGeom>
          <a:noFill/>
          <a:ln>
            <a:noFill/>
          </a:ln>
        </p:spPr>
      </p:pic>
      <p:sp>
        <p:nvSpPr>
          <p:cNvPr id="224" name="Google Shape;224;p16"/>
          <p:cNvSpPr/>
          <p:nvPr/>
        </p:nvSpPr>
        <p:spPr>
          <a:xfrm>
            <a:off x="502920" y="4672584"/>
            <a:ext cx="60350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1050"/>
              <a:buFont typeface="Calibri"/>
              <a:buNone/>
            </a:pPr>
            <a:r>
              <a:rPr b="0" i="0" lang="en-US" sz="1050" u="none" cap="none" strike="noStrike">
                <a:solidFill>
                  <a:srgbClr val="8B949E"/>
                </a:solidFill>
                <a:latin typeface="Calibri"/>
                <a:ea typeface="Calibri"/>
                <a:cs typeface="Calibri"/>
                <a:sym typeface="Calibri"/>
              </a:rPr>
              <a:t>The live scan panels — Confirmed BUYs, Watching, Late Stage 2 — feed the build…</a:t>
            </a:r>
            <a:endParaRPr b="0" i="0" sz="1050" u="none" cap="none" strike="noStrike">
              <a:solidFill>
                <a:schemeClr val="dk1"/>
              </a:solidFill>
              <a:latin typeface="Calibri"/>
              <a:ea typeface="Calibri"/>
              <a:cs typeface="Calibri"/>
              <a:sym typeface="Calibri"/>
            </a:endParaRPr>
          </a:p>
        </p:txBody>
      </p:sp>
      <p:pic>
        <p:nvPicPr>
          <p:cNvPr descr="image16.png" id="225" name="Google Shape;225;p16"/>
          <p:cNvPicPr preferRelativeResize="0"/>
          <p:nvPr/>
        </p:nvPicPr>
        <p:blipFill rotWithShape="1">
          <a:blip r:embed="rId4">
            <a:alphaModFix/>
          </a:blip>
          <a:srcRect b="0" l="0" r="0" t="0"/>
          <a:stretch/>
        </p:blipFill>
        <p:spPr>
          <a:xfrm>
            <a:off x="6675120" y="1371600"/>
            <a:ext cx="5029200" cy="3246120"/>
          </a:xfrm>
          <a:prstGeom prst="rect">
            <a:avLst/>
          </a:prstGeom>
          <a:noFill/>
          <a:ln>
            <a:noFill/>
          </a:ln>
        </p:spPr>
      </p:pic>
      <p:sp>
        <p:nvSpPr>
          <p:cNvPr id="226" name="Google Shape;226;p16"/>
          <p:cNvSpPr/>
          <p:nvPr/>
        </p:nvSpPr>
        <p:spPr>
          <a:xfrm>
            <a:off x="6675120" y="4672584"/>
            <a:ext cx="5029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1050"/>
              <a:buFont typeface="Calibri"/>
              <a:buNone/>
            </a:pPr>
            <a:r>
              <a:rPr b="0" i="0" lang="en-US" sz="1050" u="none" cap="none" strike="noStrike">
                <a:solidFill>
                  <a:srgbClr val="8B949E"/>
                </a:solidFill>
                <a:latin typeface="Calibri"/>
                <a:ea typeface="Calibri"/>
                <a:cs typeface="Calibri"/>
                <a:sym typeface="Calibri"/>
              </a:rPr>
              <a:t>…and the sign-off says the law: 'the same book, line for line, as this morning's emailed report.'</a:t>
            </a:r>
            <a:endParaRPr b="0" i="0" sz="1050" u="none" cap="none" strike="noStrike">
              <a:solidFill>
                <a:schemeClr val="dk1"/>
              </a:solidFill>
              <a:latin typeface="Calibri"/>
              <a:ea typeface="Calibri"/>
              <a:cs typeface="Calibri"/>
              <a:sym typeface="Calibri"/>
            </a:endParaRPr>
          </a:p>
        </p:txBody>
      </p:sp>
      <p:sp>
        <p:nvSpPr>
          <p:cNvPr id="227" name="Google Shape;227;p16"/>
          <p:cNvSpPr/>
          <p:nvPr/>
        </p:nvSpPr>
        <p:spPr>
          <a:xfrm>
            <a:off x="502920" y="4983480"/>
            <a:ext cx="11201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020"/>
              </a:buClr>
              <a:buSzPts val="1250"/>
              <a:buFont typeface="Calibri"/>
              <a:buNone/>
            </a:pPr>
            <a:r>
              <a:rPr b="0" i="1" lang="en-US" sz="1250" u="none" cap="none" strike="noStrike">
                <a:solidFill>
                  <a:srgbClr val="E8A020"/>
                </a:solidFill>
                <a:latin typeface="Calibri"/>
                <a:ea typeface="Calibri"/>
                <a:cs typeface="Calibri"/>
                <a:sym typeface="Calibri"/>
              </a:rPr>
              <a:t>The uniformity rule, enforced in code: the diff is computed once and journaled; the report, the digest, the app, and the broadcast all read that one record. They cannot disagree.</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232" name="Shape 232"/>
        <p:cNvGrpSpPr/>
        <p:nvPr/>
      </p:nvGrpSpPr>
      <p:grpSpPr>
        <a:xfrm>
          <a:off x="0" y="0"/>
          <a:ext cx="0" cy="0"/>
          <a:chOff x="0" y="0"/>
          <a:chExt cx="0" cy="0"/>
        </a:xfrm>
      </p:grpSpPr>
      <p:sp>
        <p:nvSpPr>
          <p:cNvPr id="233" name="Google Shape;233;p17"/>
          <p:cNvSpPr/>
          <p:nvPr/>
        </p:nvSpPr>
        <p:spPr>
          <a:xfrm>
            <a:off x="457200" y="6519672"/>
            <a:ext cx="8778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850"/>
              <a:buFont typeface="Calibri"/>
              <a:buNone/>
            </a:pPr>
            <a:r>
              <a:rPr b="0" i="0" lang="en-US" sz="850" u="none" cap="none" strike="noStrike">
                <a:solidFill>
                  <a:srgbClr val="8B949E"/>
                </a:solidFill>
                <a:latin typeface="Calibri"/>
                <a:ea typeface="Calibri"/>
                <a:cs typeface="Calibri"/>
                <a:sym typeface="Calibri"/>
              </a:rPr>
              <a:t>OROS · Fordham MSAIB Capstone · simulated paper trading · educational, not financial advice</a:t>
            </a:r>
            <a:endParaRPr b="0" i="0" sz="850" u="none" cap="none" strike="noStrike">
              <a:solidFill>
                <a:schemeClr val="dk1"/>
              </a:solidFill>
              <a:latin typeface="Calibri"/>
              <a:ea typeface="Calibri"/>
              <a:cs typeface="Calibri"/>
              <a:sym typeface="Calibri"/>
            </a:endParaRPr>
          </a:p>
        </p:txBody>
      </p:sp>
      <p:sp>
        <p:nvSpPr>
          <p:cNvPr id="234" name="Google Shape;234;p17"/>
          <p:cNvSpPr/>
          <p:nvPr/>
        </p:nvSpPr>
        <p:spPr>
          <a:xfrm>
            <a:off x="502920" y="274320"/>
            <a:ext cx="11155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020"/>
              </a:buClr>
              <a:buSzPts val="1150"/>
              <a:buFont typeface="Calibri"/>
              <a:buNone/>
            </a:pPr>
            <a:r>
              <a:rPr b="1" i="0" lang="en-US" sz="1150" u="none" cap="none" strike="noStrike">
                <a:solidFill>
                  <a:srgbClr val="E8A020"/>
                </a:solidFill>
                <a:latin typeface="Calibri"/>
                <a:ea typeface="Calibri"/>
                <a:cs typeface="Calibri"/>
                <a:sym typeface="Calibri"/>
              </a:rPr>
              <a:t>SECTION 6 · MVP — THE BROADCAST</a:t>
            </a:r>
            <a:endParaRPr b="0" i="0" sz="1150" u="none" cap="none" strike="noStrike">
              <a:solidFill>
                <a:schemeClr val="dk1"/>
              </a:solidFill>
              <a:latin typeface="Calibri"/>
              <a:ea typeface="Calibri"/>
              <a:cs typeface="Calibri"/>
              <a:sym typeface="Calibri"/>
            </a:endParaRPr>
          </a:p>
        </p:txBody>
      </p:sp>
      <p:sp>
        <p:nvSpPr>
          <p:cNvPr id="235" name="Google Shape;235;p17"/>
          <p:cNvSpPr/>
          <p:nvPr/>
        </p:nvSpPr>
        <p:spPr>
          <a:xfrm>
            <a:off x="475488" y="530352"/>
            <a:ext cx="112471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2700"/>
              <a:buFont typeface="Calibri"/>
              <a:buNone/>
            </a:pPr>
            <a:r>
              <a:rPr b="1" i="0" lang="en-US" sz="2700" u="none" cap="none" strike="noStrike">
                <a:solidFill>
                  <a:srgbClr val="E6EDF3"/>
                </a:solidFill>
                <a:latin typeface="Calibri"/>
                <a:ea typeface="Calibri"/>
                <a:cs typeface="Calibri"/>
                <a:sym typeface="Calibri"/>
              </a:rPr>
              <a:t>Two Shows a Day, Fully Autonomous, Timestamped Forever</a:t>
            </a:r>
            <a:endParaRPr b="0" i="0" sz="2700" u="none" cap="none" strike="noStrike">
              <a:solidFill>
                <a:schemeClr val="dk1"/>
              </a:solidFill>
              <a:latin typeface="Calibri"/>
              <a:ea typeface="Calibri"/>
              <a:cs typeface="Calibri"/>
              <a:sym typeface="Calibri"/>
            </a:endParaRPr>
          </a:p>
        </p:txBody>
      </p:sp>
      <p:pic>
        <p:nvPicPr>
          <p:cNvPr descr="toppick_scene.png" id="236" name="Google Shape;236;p17"/>
          <p:cNvPicPr preferRelativeResize="0"/>
          <p:nvPr/>
        </p:nvPicPr>
        <p:blipFill rotWithShape="1">
          <a:blip r:embed="rId3">
            <a:alphaModFix/>
          </a:blip>
          <a:srcRect b="0" l="0" r="0" t="0"/>
          <a:stretch/>
        </p:blipFill>
        <p:spPr>
          <a:xfrm>
            <a:off x="502920" y="1371600"/>
            <a:ext cx="5806440" cy="3264408"/>
          </a:xfrm>
          <a:prstGeom prst="rect">
            <a:avLst/>
          </a:prstGeom>
          <a:noFill/>
          <a:ln>
            <a:noFill/>
          </a:ln>
        </p:spPr>
      </p:pic>
      <p:sp>
        <p:nvSpPr>
          <p:cNvPr id="237" name="Google Shape;237;p17"/>
          <p:cNvSpPr/>
          <p:nvPr/>
        </p:nvSpPr>
        <p:spPr>
          <a:xfrm>
            <a:off x="502920" y="4690872"/>
            <a:ext cx="58064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1050"/>
              <a:buFont typeface="Calibri"/>
              <a:buNone/>
            </a:pPr>
            <a:r>
              <a:rPr b="0" i="0" lang="en-US" sz="1050" u="none" cap="none" strike="noStrike">
                <a:solidFill>
                  <a:srgbClr val="8B949E"/>
                </a:solidFill>
                <a:latin typeface="Calibri"/>
                <a:ea typeface="Calibri"/>
                <a:cs typeface="Calibri"/>
                <a:sym typeface="Calibri"/>
              </a:rPr>
              <a:t>Morning Desk proposes: the Top Pick with its full trade plan in plain language…</a:t>
            </a:r>
            <a:endParaRPr b="0" i="0" sz="1050" u="none" cap="none" strike="noStrike">
              <a:solidFill>
                <a:schemeClr val="dk1"/>
              </a:solidFill>
              <a:latin typeface="Calibri"/>
              <a:ea typeface="Calibri"/>
              <a:cs typeface="Calibri"/>
              <a:sym typeface="Calibri"/>
            </a:endParaRPr>
          </a:p>
        </p:txBody>
      </p:sp>
      <p:pic>
        <p:nvPicPr>
          <p:cNvPr descr="yt_analysis.png" id="238" name="Google Shape;238;p17"/>
          <p:cNvPicPr preferRelativeResize="0"/>
          <p:nvPr/>
        </p:nvPicPr>
        <p:blipFill rotWithShape="1">
          <a:blip r:embed="rId4">
            <a:alphaModFix/>
          </a:blip>
          <a:srcRect b="0" l="0" r="0" t="0"/>
          <a:stretch/>
        </p:blipFill>
        <p:spPr>
          <a:xfrm>
            <a:off x="6492240" y="1371600"/>
            <a:ext cx="5212080" cy="2926080"/>
          </a:xfrm>
          <a:prstGeom prst="rect">
            <a:avLst/>
          </a:prstGeom>
          <a:noFill/>
          <a:ln>
            <a:noFill/>
          </a:ln>
        </p:spPr>
      </p:pic>
      <p:sp>
        <p:nvSpPr>
          <p:cNvPr id="239" name="Google Shape;239;p17"/>
          <p:cNvSpPr/>
          <p:nvPr/>
        </p:nvSpPr>
        <p:spPr>
          <a:xfrm>
            <a:off x="6492240" y="4352544"/>
            <a:ext cx="52120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1050"/>
              <a:buFont typeface="Calibri"/>
              <a:buNone/>
            </a:pPr>
            <a:r>
              <a:rPr b="0" i="0" lang="en-US" sz="1050" u="none" cap="none" strike="noStrike">
                <a:solidFill>
                  <a:srgbClr val="8B949E"/>
                </a:solidFill>
                <a:latin typeface="Calibri"/>
                <a:ea typeface="Calibri"/>
                <a:cs typeface="Calibri"/>
                <a:sym typeface="Calibri"/>
              </a:rPr>
              <a:t>…published to YouTube by the pipeline itself: three AI voices, captions, chapters.</a:t>
            </a:r>
            <a:endParaRPr b="0" i="0" sz="1050" u="none" cap="none" strike="noStrike">
              <a:solidFill>
                <a:schemeClr val="dk1"/>
              </a:solidFill>
              <a:latin typeface="Calibri"/>
              <a:ea typeface="Calibri"/>
              <a:cs typeface="Calibri"/>
              <a:sym typeface="Calibri"/>
            </a:endParaRPr>
          </a:p>
        </p:txBody>
      </p:sp>
      <p:sp>
        <p:nvSpPr>
          <p:cNvPr id="240" name="Google Shape;240;p17"/>
          <p:cNvSpPr/>
          <p:nvPr/>
        </p:nvSpPr>
        <p:spPr>
          <a:xfrm>
            <a:off x="502920" y="5349240"/>
            <a:ext cx="11201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020"/>
              </a:buClr>
              <a:buSzPts val="1250"/>
              <a:buFont typeface="Calibri"/>
              <a:buNone/>
            </a:pPr>
            <a:r>
              <a:rPr b="0" i="1" lang="en-US" sz="1250" u="none" cap="none" strike="noStrike">
                <a:solidFill>
                  <a:srgbClr val="E8A020"/>
                </a:solidFill>
                <a:latin typeface="Calibri"/>
                <a:ea typeface="Calibri"/>
                <a:cs typeface="Calibri"/>
                <a:sym typeface="Calibri"/>
              </a:rPr>
              <a:t>The channel is a lab notebook the public can audit: wins, losses, and 'no pick today' — all in the same voice, no edits, no deletions.</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245" name="Shape 245"/>
        <p:cNvGrpSpPr/>
        <p:nvPr/>
      </p:nvGrpSpPr>
      <p:grpSpPr>
        <a:xfrm>
          <a:off x="0" y="0"/>
          <a:ext cx="0" cy="0"/>
          <a:chOff x="0" y="0"/>
          <a:chExt cx="0" cy="0"/>
        </a:xfrm>
      </p:grpSpPr>
      <p:sp>
        <p:nvSpPr>
          <p:cNvPr id="246" name="Google Shape;246;p18"/>
          <p:cNvSpPr/>
          <p:nvPr/>
        </p:nvSpPr>
        <p:spPr>
          <a:xfrm>
            <a:off x="457200" y="6519672"/>
            <a:ext cx="8778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850"/>
              <a:buFont typeface="Calibri"/>
              <a:buNone/>
            </a:pPr>
            <a:r>
              <a:rPr b="0" i="0" lang="en-US" sz="850" u="none" cap="none" strike="noStrike">
                <a:solidFill>
                  <a:srgbClr val="8B949E"/>
                </a:solidFill>
                <a:latin typeface="Calibri"/>
                <a:ea typeface="Calibri"/>
                <a:cs typeface="Calibri"/>
                <a:sym typeface="Calibri"/>
              </a:rPr>
              <a:t>OROS · Fordham MSAIB Capstone · simulated paper trading · educational, not financial advice</a:t>
            </a:r>
            <a:endParaRPr b="0" i="0" sz="850" u="none" cap="none" strike="noStrike">
              <a:solidFill>
                <a:schemeClr val="dk1"/>
              </a:solidFill>
              <a:latin typeface="Calibri"/>
              <a:ea typeface="Calibri"/>
              <a:cs typeface="Calibri"/>
              <a:sym typeface="Calibri"/>
            </a:endParaRPr>
          </a:p>
        </p:txBody>
      </p:sp>
      <p:sp>
        <p:nvSpPr>
          <p:cNvPr id="247" name="Google Shape;247;p18"/>
          <p:cNvSpPr/>
          <p:nvPr/>
        </p:nvSpPr>
        <p:spPr>
          <a:xfrm>
            <a:off x="502920" y="274320"/>
            <a:ext cx="11155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020"/>
              </a:buClr>
              <a:buSzPts val="1150"/>
              <a:buFont typeface="Calibri"/>
              <a:buNone/>
            </a:pPr>
            <a:r>
              <a:rPr b="1" i="0" lang="en-US" sz="1150" u="none" cap="none" strike="noStrike">
                <a:solidFill>
                  <a:srgbClr val="E8A020"/>
                </a:solidFill>
                <a:latin typeface="Calibri"/>
                <a:ea typeface="Calibri"/>
                <a:cs typeface="Calibri"/>
                <a:sym typeface="Calibri"/>
              </a:rPr>
              <a:t>SECTION 6 · MVP — PERFORMANCE, JOURNALED</a:t>
            </a:r>
            <a:endParaRPr b="0" i="0" sz="1150" u="none" cap="none" strike="noStrike">
              <a:solidFill>
                <a:schemeClr val="dk1"/>
              </a:solidFill>
              <a:latin typeface="Calibri"/>
              <a:ea typeface="Calibri"/>
              <a:cs typeface="Calibri"/>
              <a:sym typeface="Calibri"/>
            </a:endParaRPr>
          </a:p>
        </p:txBody>
      </p:sp>
      <p:sp>
        <p:nvSpPr>
          <p:cNvPr id="248" name="Google Shape;248;p18"/>
          <p:cNvSpPr/>
          <p:nvPr/>
        </p:nvSpPr>
        <p:spPr>
          <a:xfrm>
            <a:off x="475488" y="530352"/>
            <a:ext cx="112471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2700"/>
              <a:buFont typeface="Calibri"/>
              <a:buNone/>
            </a:pPr>
            <a:r>
              <a:rPr b="1" i="0" lang="en-US" sz="2700" u="none" cap="none" strike="noStrike">
                <a:solidFill>
                  <a:srgbClr val="E6EDF3"/>
                </a:solidFill>
                <a:latin typeface="Calibri"/>
                <a:ea typeface="Calibri"/>
                <a:cs typeface="Calibri"/>
                <a:sym typeface="Calibri"/>
              </a:rPr>
              <a:t>The Race to July 29 — Append-Only, Nothing Restated</a:t>
            </a:r>
            <a:endParaRPr b="0" i="0" sz="2700" u="none" cap="none" strike="noStrike">
              <a:solidFill>
                <a:schemeClr val="dk1"/>
              </a:solidFill>
              <a:latin typeface="Calibri"/>
              <a:ea typeface="Calibri"/>
              <a:cs typeface="Calibri"/>
              <a:sym typeface="Calibri"/>
            </a:endParaRPr>
          </a:p>
        </p:txBody>
      </p:sp>
      <p:pic>
        <p:nvPicPr>
          <p:cNvPr descr="race.png" id="249" name="Google Shape;249;p18"/>
          <p:cNvPicPr preferRelativeResize="0"/>
          <p:nvPr/>
        </p:nvPicPr>
        <p:blipFill rotWithShape="1">
          <a:blip r:embed="rId3">
            <a:alphaModFix/>
          </a:blip>
          <a:srcRect b="0" l="0" r="0" t="0"/>
          <a:stretch/>
        </p:blipFill>
        <p:spPr>
          <a:xfrm>
            <a:off x="502920" y="1298448"/>
            <a:ext cx="8138160" cy="4572000"/>
          </a:xfrm>
          <a:prstGeom prst="rect">
            <a:avLst/>
          </a:prstGeom>
          <a:noFill/>
          <a:ln>
            <a:noFill/>
          </a:ln>
        </p:spPr>
      </p:pic>
      <p:sp>
        <p:nvSpPr>
          <p:cNvPr id="250" name="Google Shape;250;p18"/>
          <p:cNvSpPr/>
          <p:nvPr/>
        </p:nvSpPr>
        <p:spPr>
          <a:xfrm>
            <a:off x="8915400" y="1554480"/>
            <a:ext cx="36576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950"/>
              </a:buClr>
              <a:buSzPts val="3600"/>
              <a:buFont typeface="Calibri"/>
              <a:buNone/>
            </a:pPr>
            <a:r>
              <a:rPr b="1" i="0" lang="en-US" sz="3600" u="none" cap="none" strike="noStrike">
                <a:solidFill>
                  <a:srgbClr val="3FB950"/>
                </a:solidFill>
                <a:latin typeface="Calibri"/>
                <a:ea typeface="Calibri"/>
                <a:cs typeface="Calibri"/>
                <a:sym typeface="Calibri"/>
              </a:rPr>
              <a:t>+3.98%</a:t>
            </a:r>
            <a:endParaRPr b="0" i="0" sz="3600" u="none" cap="none" strike="noStrike">
              <a:solidFill>
                <a:schemeClr val="dk1"/>
              </a:solidFill>
              <a:latin typeface="Calibri"/>
              <a:ea typeface="Calibri"/>
              <a:cs typeface="Calibri"/>
              <a:sym typeface="Calibri"/>
            </a:endParaRPr>
          </a:p>
        </p:txBody>
      </p:sp>
      <p:sp>
        <p:nvSpPr>
          <p:cNvPr id="251" name="Google Shape;251;p18"/>
          <p:cNvSpPr/>
          <p:nvPr/>
        </p:nvSpPr>
        <p:spPr>
          <a:xfrm>
            <a:off x="8915400" y="2240280"/>
            <a:ext cx="3657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1050"/>
              <a:buFont typeface="Calibri"/>
              <a:buNone/>
            </a:pPr>
            <a:r>
              <a:rPr b="0" i="0" lang="en-US" sz="1050" u="none" cap="none" strike="noStrike">
                <a:solidFill>
                  <a:srgbClr val="8B949E"/>
                </a:solidFill>
                <a:latin typeface="Calibri"/>
                <a:ea typeface="Calibri"/>
                <a:cs typeface="Calibri"/>
                <a:sym typeface="Calibri"/>
              </a:rPr>
              <a:t>Live OROS book — $103,977 (7/29 report)</a:t>
            </a:r>
            <a:endParaRPr b="0" i="0" sz="1050" u="none" cap="none" strike="noStrike">
              <a:solidFill>
                <a:schemeClr val="dk1"/>
              </a:solidFill>
              <a:latin typeface="Calibri"/>
              <a:ea typeface="Calibri"/>
              <a:cs typeface="Calibri"/>
              <a:sym typeface="Calibri"/>
            </a:endParaRPr>
          </a:p>
        </p:txBody>
      </p:sp>
      <p:sp>
        <p:nvSpPr>
          <p:cNvPr id="252" name="Google Shape;252;p18"/>
          <p:cNvSpPr/>
          <p:nvPr/>
        </p:nvSpPr>
        <p:spPr>
          <a:xfrm>
            <a:off x="8915400" y="2834640"/>
            <a:ext cx="36576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A6FF"/>
              </a:buClr>
              <a:buSzPts val="3600"/>
              <a:buFont typeface="Calibri"/>
              <a:buNone/>
            </a:pPr>
            <a:r>
              <a:rPr b="1" i="0" lang="en-US" sz="3600" u="none" cap="none" strike="noStrike">
                <a:solidFill>
                  <a:srgbClr val="58A6FF"/>
                </a:solidFill>
                <a:latin typeface="Calibri"/>
                <a:ea typeface="Calibri"/>
                <a:cs typeface="Calibri"/>
                <a:sym typeface="Calibri"/>
              </a:rPr>
              <a:t>+0.60%</a:t>
            </a:r>
            <a:endParaRPr b="0" i="0" sz="3600" u="none" cap="none" strike="noStrike">
              <a:solidFill>
                <a:schemeClr val="dk1"/>
              </a:solidFill>
              <a:latin typeface="Calibri"/>
              <a:ea typeface="Calibri"/>
              <a:cs typeface="Calibri"/>
              <a:sym typeface="Calibri"/>
            </a:endParaRPr>
          </a:p>
        </p:txBody>
      </p:sp>
      <p:sp>
        <p:nvSpPr>
          <p:cNvPr id="253" name="Google Shape;253;p18"/>
          <p:cNvSpPr/>
          <p:nvPr/>
        </p:nvSpPr>
        <p:spPr>
          <a:xfrm>
            <a:off x="8915400" y="3520440"/>
            <a:ext cx="3657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1050"/>
              <a:buFont typeface="Calibri"/>
              <a:buNone/>
            </a:pPr>
            <a:r>
              <a:rPr b="0" i="0" lang="en-US" sz="1050" u="none" cap="none" strike="noStrike">
                <a:solidFill>
                  <a:srgbClr val="8B949E"/>
                </a:solidFill>
                <a:latin typeface="Calibri"/>
                <a:ea typeface="Calibri"/>
                <a:cs typeface="Calibri"/>
                <a:sym typeface="Calibri"/>
              </a:rPr>
              <a:t>First Portfolio, frozen — $100,602</a:t>
            </a:r>
            <a:endParaRPr b="0" i="0" sz="1050" u="none" cap="none" strike="noStrike">
              <a:solidFill>
                <a:schemeClr val="dk1"/>
              </a:solidFill>
              <a:latin typeface="Calibri"/>
              <a:ea typeface="Calibri"/>
              <a:cs typeface="Calibri"/>
              <a:sym typeface="Calibri"/>
            </a:endParaRPr>
          </a:p>
        </p:txBody>
      </p:sp>
      <p:sp>
        <p:nvSpPr>
          <p:cNvPr id="254" name="Google Shape;254;p18"/>
          <p:cNvSpPr/>
          <p:nvPr/>
        </p:nvSpPr>
        <p:spPr>
          <a:xfrm>
            <a:off x="8915400" y="4114800"/>
            <a:ext cx="36576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5149"/>
              </a:buClr>
              <a:buSzPts val="3600"/>
              <a:buFont typeface="Calibri"/>
              <a:buNone/>
            </a:pPr>
            <a:r>
              <a:rPr b="1" i="0" lang="en-US" sz="3600" u="none" cap="none" strike="noStrike">
                <a:solidFill>
                  <a:srgbClr val="F85149"/>
                </a:solidFill>
                <a:latin typeface="Calibri"/>
                <a:ea typeface="Calibri"/>
                <a:cs typeface="Calibri"/>
                <a:sym typeface="Calibri"/>
              </a:rPr>
              <a:t>−1.39%</a:t>
            </a:r>
            <a:endParaRPr b="0" i="0" sz="3600" u="none" cap="none" strike="noStrike">
              <a:solidFill>
                <a:schemeClr val="dk1"/>
              </a:solidFill>
              <a:latin typeface="Calibri"/>
              <a:ea typeface="Calibri"/>
              <a:cs typeface="Calibri"/>
              <a:sym typeface="Calibri"/>
            </a:endParaRPr>
          </a:p>
        </p:txBody>
      </p:sp>
      <p:sp>
        <p:nvSpPr>
          <p:cNvPr id="255" name="Google Shape;255;p18"/>
          <p:cNvSpPr/>
          <p:nvPr/>
        </p:nvSpPr>
        <p:spPr>
          <a:xfrm>
            <a:off x="8915400" y="4800600"/>
            <a:ext cx="3657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1050"/>
              <a:buFont typeface="Calibri"/>
              <a:buNone/>
            </a:pPr>
            <a:r>
              <a:rPr b="0" i="0" lang="en-US" sz="1050" u="none" cap="none" strike="noStrike">
                <a:solidFill>
                  <a:srgbClr val="8B949E"/>
                </a:solidFill>
                <a:latin typeface="Calibri"/>
                <a:ea typeface="Calibri"/>
                <a:cs typeface="Calibri"/>
                <a:sym typeface="Calibri"/>
              </a:rPr>
              <a:t>SPY, same $100,000 — $98,613</a:t>
            </a:r>
            <a:endParaRPr b="0" i="0" sz="1050" u="none" cap="none" strike="noStrike">
              <a:solidFill>
                <a:schemeClr val="dk1"/>
              </a:solidFill>
              <a:latin typeface="Calibri"/>
              <a:ea typeface="Calibri"/>
              <a:cs typeface="Calibri"/>
              <a:sym typeface="Calibri"/>
            </a:endParaRPr>
          </a:p>
        </p:txBody>
      </p:sp>
      <p:sp>
        <p:nvSpPr>
          <p:cNvPr id="256" name="Google Shape;256;p18"/>
          <p:cNvSpPr/>
          <p:nvPr/>
        </p:nvSpPr>
        <p:spPr>
          <a:xfrm>
            <a:off x="502920" y="5852160"/>
            <a:ext cx="11201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020"/>
              </a:buClr>
              <a:buSzPts val="1100"/>
              <a:buFont typeface="Calibri"/>
              <a:buNone/>
            </a:pPr>
            <a:r>
              <a:rPr b="0" i="1" lang="en-US" sz="1100" u="none" cap="none" strike="noStrike">
                <a:solidFill>
                  <a:srgbClr val="E8A020"/>
                </a:solidFill>
                <a:latin typeface="Calibri"/>
                <a:ea typeface="Calibri"/>
                <a:cs typeface="Calibri"/>
                <a:sym typeface="Calibri"/>
              </a:rPr>
              <a:t>17 sessions, one bull regime — this claims process integrity, not alpha. And the audit story: we found our own diff bug (48 phantom mentions), quantified it, fixed it, journaled it.</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261" name="Shape 261"/>
        <p:cNvGrpSpPr/>
        <p:nvPr/>
      </p:nvGrpSpPr>
      <p:grpSpPr>
        <a:xfrm>
          <a:off x="0" y="0"/>
          <a:ext cx="0" cy="0"/>
          <a:chOff x="0" y="0"/>
          <a:chExt cx="0" cy="0"/>
        </a:xfrm>
      </p:grpSpPr>
      <p:sp>
        <p:nvSpPr>
          <p:cNvPr id="262" name="Google Shape;262;p19"/>
          <p:cNvSpPr/>
          <p:nvPr/>
        </p:nvSpPr>
        <p:spPr>
          <a:xfrm>
            <a:off x="457200" y="6519672"/>
            <a:ext cx="8778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850"/>
              <a:buFont typeface="Calibri"/>
              <a:buNone/>
            </a:pPr>
            <a:r>
              <a:rPr b="0" i="0" lang="en-US" sz="850" u="none" cap="none" strike="noStrike">
                <a:solidFill>
                  <a:srgbClr val="8B949E"/>
                </a:solidFill>
                <a:latin typeface="Calibri"/>
                <a:ea typeface="Calibri"/>
                <a:cs typeface="Calibri"/>
                <a:sym typeface="Calibri"/>
              </a:rPr>
              <a:t>OROS · Fordham MSAIB Capstone · simulated paper trading · educational, not financial advice</a:t>
            </a:r>
            <a:endParaRPr b="0" i="0" sz="850" u="none" cap="none" strike="noStrike">
              <a:solidFill>
                <a:schemeClr val="dk1"/>
              </a:solidFill>
              <a:latin typeface="Calibri"/>
              <a:ea typeface="Calibri"/>
              <a:cs typeface="Calibri"/>
              <a:sym typeface="Calibri"/>
            </a:endParaRPr>
          </a:p>
        </p:txBody>
      </p:sp>
      <p:sp>
        <p:nvSpPr>
          <p:cNvPr id="263" name="Google Shape;263;p19"/>
          <p:cNvSpPr/>
          <p:nvPr/>
        </p:nvSpPr>
        <p:spPr>
          <a:xfrm>
            <a:off x="502920" y="274320"/>
            <a:ext cx="11155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020"/>
              </a:buClr>
              <a:buSzPts val="1150"/>
              <a:buFont typeface="Calibri"/>
              <a:buNone/>
            </a:pPr>
            <a:r>
              <a:rPr b="1" i="0" lang="en-US" sz="1150" u="none" cap="none" strike="noStrike">
                <a:solidFill>
                  <a:srgbClr val="E8A020"/>
                </a:solidFill>
                <a:latin typeface="Calibri"/>
                <a:ea typeface="Calibri"/>
                <a:cs typeface="Calibri"/>
                <a:sym typeface="Calibri"/>
              </a:rPr>
              <a:t>SECTION 7 · MARKET &amp; PROJECTED VALUE</a:t>
            </a:r>
            <a:endParaRPr b="0" i="0" sz="1150" u="none" cap="none" strike="noStrike">
              <a:solidFill>
                <a:schemeClr val="dk1"/>
              </a:solidFill>
              <a:latin typeface="Calibri"/>
              <a:ea typeface="Calibri"/>
              <a:cs typeface="Calibri"/>
              <a:sym typeface="Calibri"/>
            </a:endParaRPr>
          </a:p>
        </p:txBody>
      </p:sp>
      <p:sp>
        <p:nvSpPr>
          <p:cNvPr id="264" name="Google Shape;264;p19"/>
          <p:cNvSpPr/>
          <p:nvPr/>
        </p:nvSpPr>
        <p:spPr>
          <a:xfrm>
            <a:off x="475488" y="530352"/>
            <a:ext cx="112471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2700"/>
              <a:buFont typeface="Calibri"/>
              <a:buNone/>
            </a:pPr>
            <a:r>
              <a:rPr b="1" i="0" lang="en-US" sz="2700" u="none" cap="none" strike="noStrike">
                <a:solidFill>
                  <a:srgbClr val="E6EDF3"/>
                </a:solidFill>
                <a:latin typeface="Calibri"/>
                <a:ea typeface="Calibri"/>
                <a:cs typeface="Calibri"/>
                <a:sym typeface="Calibri"/>
              </a:rPr>
              <a:t>A Small Player in a $49 Billion Ocean</a:t>
            </a:r>
            <a:endParaRPr b="0" i="0" sz="2700" u="none" cap="none" strike="noStrike">
              <a:solidFill>
                <a:schemeClr val="dk1"/>
              </a:solidFill>
              <a:latin typeface="Calibri"/>
              <a:ea typeface="Calibri"/>
              <a:cs typeface="Calibri"/>
              <a:sym typeface="Calibri"/>
            </a:endParaRPr>
          </a:p>
        </p:txBody>
      </p:sp>
      <p:sp>
        <p:nvSpPr>
          <p:cNvPr id="265" name="Google Shape;265;p19"/>
          <p:cNvSpPr/>
          <p:nvPr/>
        </p:nvSpPr>
        <p:spPr>
          <a:xfrm>
            <a:off x="640080" y="1417320"/>
            <a:ext cx="36576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950"/>
              </a:buClr>
              <a:buSzPts val="3600"/>
              <a:buFont typeface="Calibri"/>
              <a:buNone/>
            </a:pPr>
            <a:r>
              <a:rPr b="1" i="0" lang="en-US" sz="3600" u="none" cap="none" strike="noStrike">
                <a:solidFill>
                  <a:srgbClr val="3FB950"/>
                </a:solidFill>
                <a:latin typeface="Calibri"/>
                <a:ea typeface="Calibri"/>
                <a:cs typeface="Calibri"/>
                <a:sym typeface="Calibri"/>
              </a:rPr>
              <a:t>$0.70</a:t>
            </a:r>
            <a:endParaRPr b="0" i="0" sz="3600" u="none" cap="none" strike="noStrike">
              <a:solidFill>
                <a:schemeClr val="dk1"/>
              </a:solidFill>
              <a:latin typeface="Calibri"/>
              <a:ea typeface="Calibri"/>
              <a:cs typeface="Calibri"/>
              <a:sym typeface="Calibri"/>
            </a:endParaRPr>
          </a:p>
        </p:txBody>
      </p:sp>
      <p:sp>
        <p:nvSpPr>
          <p:cNvPr id="266" name="Google Shape;266;p19"/>
          <p:cNvSpPr/>
          <p:nvPr/>
        </p:nvSpPr>
        <p:spPr>
          <a:xfrm>
            <a:off x="640080" y="2103120"/>
            <a:ext cx="3657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1050"/>
              <a:buFont typeface="Calibri"/>
              <a:buNone/>
            </a:pPr>
            <a:r>
              <a:rPr b="0" i="0" lang="en-US" sz="1050" u="none" cap="none" strike="noStrike">
                <a:solidFill>
                  <a:srgbClr val="8B949E"/>
                </a:solidFill>
                <a:latin typeface="Calibri"/>
                <a:ea typeface="Calibri"/>
                <a:cs typeface="Calibri"/>
                <a:sym typeface="Calibri"/>
              </a:rPr>
              <a:t>July's journaled LLM spend — the system tracks its own bill (~$23/mo all-in)</a:t>
            </a:r>
            <a:endParaRPr b="0" i="0" sz="1050" u="none" cap="none" strike="noStrike">
              <a:solidFill>
                <a:schemeClr val="dk1"/>
              </a:solidFill>
              <a:latin typeface="Calibri"/>
              <a:ea typeface="Calibri"/>
              <a:cs typeface="Calibri"/>
              <a:sym typeface="Calibri"/>
            </a:endParaRPr>
          </a:p>
        </p:txBody>
      </p:sp>
      <p:sp>
        <p:nvSpPr>
          <p:cNvPr id="267" name="Google Shape;267;p19"/>
          <p:cNvSpPr/>
          <p:nvPr/>
        </p:nvSpPr>
        <p:spPr>
          <a:xfrm>
            <a:off x="4572000" y="1417320"/>
            <a:ext cx="36576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020"/>
              </a:buClr>
              <a:buSzPts val="3600"/>
              <a:buFont typeface="Calibri"/>
              <a:buNone/>
            </a:pPr>
            <a:r>
              <a:rPr b="1" i="0" lang="en-US" sz="3600" u="none" cap="none" strike="noStrike">
                <a:solidFill>
                  <a:srgbClr val="E8A020"/>
                </a:solidFill>
                <a:latin typeface="Calibri"/>
                <a:ea typeface="Calibri"/>
                <a:cs typeface="Calibri"/>
                <a:sym typeface="Calibri"/>
              </a:rPr>
              <a:t>$27,660</a:t>
            </a:r>
            <a:endParaRPr b="0" i="0" sz="3600" u="none" cap="none" strike="noStrike">
              <a:solidFill>
                <a:schemeClr val="dk1"/>
              </a:solidFill>
              <a:latin typeface="Calibri"/>
              <a:ea typeface="Calibri"/>
              <a:cs typeface="Calibri"/>
              <a:sym typeface="Calibri"/>
            </a:endParaRPr>
          </a:p>
        </p:txBody>
      </p:sp>
      <p:sp>
        <p:nvSpPr>
          <p:cNvPr id="268" name="Google Shape;268;p19"/>
          <p:cNvSpPr/>
          <p:nvPr/>
        </p:nvSpPr>
        <p:spPr>
          <a:xfrm>
            <a:off x="4572000" y="2103120"/>
            <a:ext cx="3657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1050"/>
              <a:buFont typeface="Calibri"/>
              <a:buNone/>
            </a:pPr>
            <a:r>
              <a:rPr b="0" i="0" lang="en-US" sz="1050" u="none" cap="none" strike="noStrike">
                <a:solidFill>
                  <a:srgbClr val="8B949E"/>
                </a:solidFill>
                <a:latin typeface="Calibri"/>
                <a:ea typeface="Calibri"/>
                <a:cs typeface="Calibri"/>
                <a:sym typeface="Calibri"/>
              </a:rPr>
              <a:t>one Bloomberg seat/yr — OROS runs a year for ~1% of that</a:t>
            </a:r>
            <a:endParaRPr b="0" i="0" sz="1050" u="none" cap="none" strike="noStrike">
              <a:solidFill>
                <a:schemeClr val="dk1"/>
              </a:solidFill>
              <a:latin typeface="Calibri"/>
              <a:ea typeface="Calibri"/>
              <a:cs typeface="Calibri"/>
              <a:sym typeface="Calibri"/>
            </a:endParaRPr>
          </a:p>
        </p:txBody>
      </p:sp>
      <p:sp>
        <p:nvSpPr>
          <p:cNvPr id="269" name="Google Shape;269;p19"/>
          <p:cNvSpPr/>
          <p:nvPr/>
        </p:nvSpPr>
        <p:spPr>
          <a:xfrm>
            <a:off x="8549640" y="1417320"/>
            <a:ext cx="36576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A6FF"/>
              </a:buClr>
              <a:buSzPts val="3600"/>
              <a:buFont typeface="Calibri"/>
              <a:buNone/>
            </a:pPr>
            <a:r>
              <a:rPr b="1" i="0" lang="en-US" sz="3600" u="none" cap="none" strike="noStrike">
                <a:solidFill>
                  <a:srgbClr val="58A6FF"/>
                </a:solidFill>
                <a:latin typeface="Calibri"/>
                <a:ea typeface="Calibri"/>
                <a:cs typeface="Calibri"/>
                <a:sym typeface="Calibri"/>
              </a:rPr>
              <a:t>$49.2B</a:t>
            </a:r>
            <a:endParaRPr b="0" i="0" sz="3600" u="none" cap="none" strike="noStrike">
              <a:solidFill>
                <a:schemeClr val="dk1"/>
              </a:solidFill>
              <a:latin typeface="Calibri"/>
              <a:ea typeface="Calibri"/>
              <a:cs typeface="Calibri"/>
              <a:sym typeface="Calibri"/>
            </a:endParaRPr>
          </a:p>
        </p:txBody>
      </p:sp>
      <p:sp>
        <p:nvSpPr>
          <p:cNvPr id="270" name="Google Shape;270;p19"/>
          <p:cNvSpPr/>
          <p:nvPr/>
        </p:nvSpPr>
        <p:spPr>
          <a:xfrm>
            <a:off x="8549640" y="2103120"/>
            <a:ext cx="3657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1050"/>
              <a:buFont typeface="Calibri"/>
              <a:buNone/>
            </a:pPr>
            <a:r>
              <a:rPr b="0" i="0" lang="en-US" sz="1050" u="none" cap="none" strike="noStrike">
                <a:solidFill>
                  <a:srgbClr val="8B949E"/>
                </a:solidFill>
                <a:latin typeface="Calibri"/>
                <a:ea typeface="Calibri"/>
                <a:cs typeface="Calibri"/>
                <a:sym typeface="Calibri"/>
              </a:rPr>
              <a:t>2025 market-data spend (Burton-Taylor) + robo growing 29.6%/yr</a:t>
            </a:r>
            <a:endParaRPr b="0" i="0" sz="1050" u="none" cap="none" strike="noStrike">
              <a:solidFill>
                <a:schemeClr val="dk1"/>
              </a:solidFill>
              <a:latin typeface="Calibri"/>
              <a:ea typeface="Calibri"/>
              <a:cs typeface="Calibri"/>
              <a:sym typeface="Calibri"/>
            </a:endParaRPr>
          </a:p>
        </p:txBody>
      </p:sp>
      <p:sp>
        <p:nvSpPr>
          <p:cNvPr id="271" name="Google Shape;271;p19"/>
          <p:cNvSpPr/>
          <p:nvPr/>
        </p:nvSpPr>
        <p:spPr>
          <a:xfrm>
            <a:off x="640080" y="2880360"/>
            <a:ext cx="11018520" cy="1371600"/>
          </a:xfrm>
          <a:prstGeom prst="roundRect">
            <a:avLst>
              <a:gd fmla="val 5333" name="adj"/>
            </a:avLst>
          </a:prstGeom>
          <a:solidFill>
            <a:srgbClr val="161B22"/>
          </a:solidFill>
          <a:ln cap="flat" cmpd="sng" w="12700">
            <a:solidFill>
              <a:srgbClr val="3036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9"/>
          <p:cNvSpPr/>
          <p:nvPr/>
        </p:nvSpPr>
        <p:spPr>
          <a:xfrm>
            <a:off x="868680" y="3063240"/>
            <a:ext cx="1060704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1300"/>
              <a:buFont typeface="Calibri"/>
              <a:buNone/>
            </a:pPr>
            <a:r>
              <a:rPr b="0" i="0" lang="en-US" sz="1300" u="none" cap="none" strike="noStrike">
                <a:solidFill>
                  <a:srgbClr val="E6EDF3"/>
                </a:solidFill>
                <a:latin typeface="Calibri"/>
                <a:ea typeface="Calibri"/>
                <a:cs typeface="Calibri"/>
                <a:sym typeface="Calibri"/>
              </a:rPr>
              <a:t>Scenario, not forecast: at TradingView-style $24/mo — 1,000 subscribers = $288K ARR at 90%+ margins; 10,000 (~1% of TradingView's paying base) = $2.9M ARR. TradingView's ~$173M revenue proves retail pays for analysis tools.</a:t>
            </a:r>
            <a:endParaRPr b="0" i="0" sz="1300" u="none" cap="none" strike="noStrike">
              <a:solidFill>
                <a:schemeClr val="dk1"/>
              </a:solidFill>
              <a:latin typeface="Calibri"/>
              <a:ea typeface="Calibri"/>
              <a:cs typeface="Calibri"/>
              <a:sym typeface="Calibri"/>
            </a:endParaRPr>
          </a:p>
        </p:txBody>
      </p:sp>
      <p:sp>
        <p:nvSpPr>
          <p:cNvPr id="273" name="Google Shape;273;p19"/>
          <p:cNvSpPr/>
          <p:nvPr/>
        </p:nvSpPr>
        <p:spPr>
          <a:xfrm>
            <a:off x="640080" y="4572000"/>
            <a:ext cx="1101852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1300"/>
              <a:buFont typeface="Calibri"/>
              <a:buNone/>
            </a:pPr>
            <a:r>
              <a:rPr b="0" i="0" lang="en-US" sz="1300" u="none" cap="none" strike="noStrike">
                <a:solidFill>
                  <a:srgbClr val="E6EDF3"/>
                </a:solidFill>
                <a:latin typeface="Calibri"/>
                <a:ea typeface="Calibri"/>
                <a:cs typeface="Calibri"/>
                <a:sym typeface="Calibri"/>
              </a:rPr>
              <a:t>Positioning: not Bloomberg's 325,000 seats — the tens of millions Bloomberg ignores. In that wedge the differentiator is trust: a public, timestamped, self-graded record. Closest category: robo-advisory — OROS is its agentic, transparent next generation.</a:t>
            </a:r>
            <a:endParaRPr b="0" i="0" sz="1300" u="none" cap="none" strike="noStrike">
              <a:solidFill>
                <a:schemeClr val="dk1"/>
              </a:solidFill>
              <a:latin typeface="Calibri"/>
              <a:ea typeface="Calibri"/>
              <a:cs typeface="Calibri"/>
              <a:sym typeface="Calibri"/>
            </a:endParaRPr>
          </a:p>
        </p:txBody>
      </p:sp>
      <p:sp>
        <p:nvSpPr>
          <p:cNvPr id="274" name="Google Shape;274;p19"/>
          <p:cNvSpPr/>
          <p:nvPr/>
        </p:nvSpPr>
        <p:spPr>
          <a:xfrm>
            <a:off x="502920" y="6199632"/>
            <a:ext cx="11155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7681"/>
              </a:buClr>
              <a:buSzPts val="800"/>
              <a:buFont typeface="Calibri"/>
              <a:buNone/>
            </a:pPr>
            <a:r>
              <a:rPr b="0" i="1" lang="en-US" sz="800" u="none" cap="none" strike="noStrike">
                <a:solidFill>
                  <a:srgbClr val="6E7681"/>
                </a:solidFill>
                <a:latin typeface="Calibri"/>
                <a:ea typeface="Calibri"/>
                <a:cs typeface="Calibri"/>
                <a:sym typeface="Calibri"/>
              </a:rPr>
              <a:t>Sources: marketsmedia.com (Burton-Taylor) · wallstreetprep.com terminal pricing · getlatka.com/tradingview · mordorintelligence.com · fortunebusinessinsights.com</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279" name="Shape 279"/>
        <p:cNvGrpSpPr/>
        <p:nvPr/>
      </p:nvGrpSpPr>
      <p:grpSpPr>
        <a:xfrm>
          <a:off x="0" y="0"/>
          <a:ext cx="0" cy="0"/>
          <a:chOff x="0" y="0"/>
          <a:chExt cx="0" cy="0"/>
        </a:xfrm>
      </p:grpSpPr>
      <p:sp>
        <p:nvSpPr>
          <p:cNvPr id="280" name="Google Shape;280;p20"/>
          <p:cNvSpPr/>
          <p:nvPr/>
        </p:nvSpPr>
        <p:spPr>
          <a:xfrm>
            <a:off x="457200" y="6519672"/>
            <a:ext cx="8778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850"/>
              <a:buFont typeface="Calibri"/>
              <a:buNone/>
            </a:pPr>
            <a:r>
              <a:rPr b="0" i="0" lang="en-US" sz="850" u="none" cap="none" strike="noStrike">
                <a:solidFill>
                  <a:srgbClr val="8B949E"/>
                </a:solidFill>
                <a:latin typeface="Calibri"/>
                <a:ea typeface="Calibri"/>
                <a:cs typeface="Calibri"/>
                <a:sym typeface="Calibri"/>
              </a:rPr>
              <a:t>OROS · Fordham MSAIB Capstone · simulated paper trading · educational, not financial advice</a:t>
            </a:r>
            <a:endParaRPr b="0" i="0" sz="850" u="none" cap="none" strike="noStrike">
              <a:solidFill>
                <a:schemeClr val="dk1"/>
              </a:solidFill>
              <a:latin typeface="Calibri"/>
              <a:ea typeface="Calibri"/>
              <a:cs typeface="Calibri"/>
              <a:sym typeface="Calibri"/>
            </a:endParaRPr>
          </a:p>
        </p:txBody>
      </p:sp>
      <p:sp>
        <p:nvSpPr>
          <p:cNvPr id="281" name="Google Shape;281;p20"/>
          <p:cNvSpPr/>
          <p:nvPr/>
        </p:nvSpPr>
        <p:spPr>
          <a:xfrm>
            <a:off x="502920" y="274320"/>
            <a:ext cx="11155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020"/>
              </a:buClr>
              <a:buSzPts val="1150"/>
              <a:buFont typeface="Calibri"/>
              <a:buNone/>
            </a:pPr>
            <a:r>
              <a:rPr b="1" i="0" lang="en-US" sz="1150" u="none" cap="none" strike="noStrike">
                <a:solidFill>
                  <a:srgbClr val="E8A020"/>
                </a:solidFill>
                <a:latin typeface="Calibri"/>
                <a:ea typeface="Calibri"/>
                <a:cs typeface="Calibri"/>
                <a:sym typeface="Calibri"/>
              </a:rPr>
              <a:t>SECTION 8 · LIMITATIONS &amp; ONGOING RESEARCH</a:t>
            </a:r>
            <a:endParaRPr b="0" i="0" sz="1150" u="none" cap="none" strike="noStrike">
              <a:solidFill>
                <a:schemeClr val="dk1"/>
              </a:solidFill>
              <a:latin typeface="Calibri"/>
              <a:ea typeface="Calibri"/>
              <a:cs typeface="Calibri"/>
              <a:sym typeface="Calibri"/>
            </a:endParaRPr>
          </a:p>
        </p:txBody>
      </p:sp>
      <p:sp>
        <p:nvSpPr>
          <p:cNvPr id="282" name="Google Shape;282;p20"/>
          <p:cNvSpPr/>
          <p:nvPr/>
        </p:nvSpPr>
        <p:spPr>
          <a:xfrm>
            <a:off x="475488" y="530352"/>
            <a:ext cx="112471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2700"/>
              <a:buFont typeface="Calibri"/>
              <a:buNone/>
            </a:pPr>
            <a:r>
              <a:rPr b="1" i="0" lang="en-US" sz="2700" u="none" cap="none" strike="noStrike">
                <a:solidFill>
                  <a:srgbClr val="E6EDF3"/>
                </a:solidFill>
                <a:latin typeface="Calibri"/>
                <a:ea typeface="Calibri"/>
                <a:cs typeface="Calibri"/>
                <a:sym typeface="Calibri"/>
              </a:rPr>
              <a:t>Four Open Questions, Researched in Public</a:t>
            </a:r>
            <a:endParaRPr b="0" i="0" sz="2700" u="none" cap="none" strike="noStrike">
              <a:solidFill>
                <a:schemeClr val="dk1"/>
              </a:solidFill>
              <a:latin typeface="Calibri"/>
              <a:ea typeface="Calibri"/>
              <a:cs typeface="Calibri"/>
              <a:sym typeface="Calibri"/>
            </a:endParaRPr>
          </a:p>
        </p:txBody>
      </p:sp>
      <p:sp>
        <p:nvSpPr>
          <p:cNvPr id="283" name="Google Shape;283;p20"/>
          <p:cNvSpPr/>
          <p:nvPr/>
        </p:nvSpPr>
        <p:spPr>
          <a:xfrm>
            <a:off x="640080" y="1371600"/>
            <a:ext cx="11018520" cy="1060704"/>
          </a:xfrm>
          <a:prstGeom prst="roundRect">
            <a:avLst>
              <a:gd fmla="val 6034" name="adj"/>
            </a:avLst>
          </a:prstGeom>
          <a:solidFill>
            <a:srgbClr val="161B22"/>
          </a:solidFill>
          <a:ln cap="flat" cmpd="sng" w="12700">
            <a:solidFill>
              <a:srgbClr val="3036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20"/>
          <p:cNvSpPr/>
          <p:nvPr/>
        </p:nvSpPr>
        <p:spPr>
          <a:xfrm>
            <a:off x="822960" y="1444752"/>
            <a:ext cx="32918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5149"/>
              </a:buClr>
              <a:buSzPts val="1300"/>
              <a:buFont typeface="Calibri"/>
              <a:buNone/>
            </a:pPr>
            <a:r>
              <a:rPr b="1" i="0" lang="en-US" sz="1300" u="none" cap="none" strike="noStrike">
                <a:solidFill>
                  <a:srgbClr val="F85149"/>
                </a:solidFill>
                <a:latin typeface="Calibri"/>
                <a:ea typeface="Calibri"/>
                <a:cs typeface="Calibri"/>
                <a:sym typeface="Calibri"/>
              </a:rPr>
              <a:t>1 · Statistical significance</a:t>
            </a:r>
            <a:endParaRPr b="0" i="0" sz="1300" u="none" cap="none" strike="noStrike">
              <a:solidFill>
                <a:schemeClr val="dk1"/>
              </a:solidFill>
              <a:latin typeface="Calibri"/>
              <a:ea typeface="Calibri"/>
              <a:cs typeface="Calibri"/>
              <a:sym typeface="Calibri"/>
            </a:endParaRPr>
          </a:p>
        </p:txBody>
      </p:sp>
      <p:sp>
        <p:nvSpPr>
          <p:cNvPr id="285" name="Google Shape;285;p20"/>
          <p:cNvSpPr/>
          <p:nvPr/>
        </p:nvSpPr>
        <p:spPr>
          <a:xfrm>
            <a:off x="4297680" y="1444752"/>
            <a:ext cx="722376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1150"/>
              <a:buFont typeface="Calibri"/>
              <a:buNone/>
            </a:pPr>
            <a:r>
              <a:rPr b="0" i="0" lang="en-US" sz="1150" u="none" cap="none" strike="noStrike">
                <a:solidFill>
                  <a:srgbClr val="E6EDF3"/>
                </a:solidFill>
                <a:latin typeface="Calibri"/>
                <a:ea typeface="Calibri"/>
                <a:cs typeface="Calibri"/>
                <a:sym typeface="Calibri"/>
              </a:rPr>
              <a:t>17 sessions, one regime — no inference claimed. The record accumulates daily by design.</a:t>
            </a:r>
            <a:endParaRPr b="0" i="0" sz="1150" u="none" cap="none" strike="noStrike">
              <a:solidFill>
                <a:schemeClr val="dk1"/>
              </a:solidFill>
              <a:latin typeface="Calibri"/>
              <a:ea typeface="Calibri"/>
              <a:cs typeface="Calibri"/>
              <a:sym typeface="Calibri"/>
            </a:endParaRPr>
          </a:p>
        </p:txBody>
      </p:sp>
      <p:sp>
        <p:nvSpPr>
          <p:cNvPr id="286" name="Google Shape;286;p20"/>
          <p:cNvSpPr/>
          <p:nvPr/>
        </p:nvSpPr>
        <p:spPr>
          <a:xfrm>
            <a:off x="640080" y="2560320"/>
            <a:ext cx="11018520" cy="1060704"/>
          </a:xfrm>
          <a:prstGeom prst="roundRect">
            <a:avLst>
              <a:gd fmla="val 6034" name="adj"/>
            </a:avLst>
          </a:prstGeom>
          <a:solidFill>
            <a:srgbClr val="161B22"/>
          </a:solidFill>
          <a:ln cap="flat" cmpd="sng" w="12700">
            <a:solidFill>
              <a:srgbClr val="3036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0"/>
          <p:cNvSpPr/>
          <p:nvPr/>
        </p:nvSpPr>
        <p:spPr>
          <a:xfrm>
            <a:off x="822960" y="2633472"/>
            <a:ext cx="32918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A6FF"/>
              </a:buClr>
              <a:buSzPts val="1300"/>
              <a:buFont typeface="Calibri"/>
              <a:buNone/>
            </a:pPr>
            <a:r>
              <a:rPr b="1" i="0" lang="en-US" sz="1300" u="none" cap="none" strike="noStrike">
                <a:solidFill>
                  <a:srgbClr val="58A6FF"/>
                </a:solidFill>
                <a:latin typeface="Calibri"/>
                <a:ea typeface="Calibri"/>
                <a:cs typeface="Calibri"/>
                <a:sym typeface="Calibri"/>
              </a:rPr>
              <a:t>2 · No backtest — deliberately</a:t>
            </a:r>
            <a:endParaRPr b="0" i="0" sz="1300" u="none" cap="none" strike="noStrike">
              <a:solidFill>
                <a:schemeClr val="dk1"/>
              </a:solidFill>
              <a:latin typeface="Calibri"/>
              <a:ea typeface="Calibri"/>
              <a:cs typeface="Calibri"/>
              <a:sym typeface="Calibri"/>
            </a:endParaRPr>
          </a:p>
        </p:txBody>
      </p:sp>
      <p:sp>
        <p:nvSpPr>
          <p:cNvPr id="288" name="Google Shape;288;p20"/>
          <p:cNvSpPr/>
          <p:nvPr/>
        </p:nvSpPr>
        <p:spPr>
          <a:xfrm>
            <a:off x="4297680" y="2633472"/>
            <a:ext cx="722376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1150"/>
              <a:buFont typeface="Calibri"/>
              <a:buNone/>
            </a:pPr>
            <a:r>
              <a:rPr b="0" i="0" lang="en-US" sz="1150" u="none" cap="none" strike="noStrike">
                <a:solidFill>
                  <a:srgbClr val="E6EDF3"/>
                </a:solidFill>
                <a:latin typeface="Calibri"/>
                <a:ea typeface="Calibri"/>
                <a:cs typeface="Calibri"/>
                <a:sym typeface="Calibri"/>
              </a:rPr>
              <a:t>Forward-only avoids look-ahead and survivorship bias. Journaled before the open, graded at the close.</a:t>
            </a:r>
            <a:endParaRPr b="0" i="0" sz="1150" u="none" cap="none" strike="noStrike">
              <a:solidFill>
                <a:schemeClr val="dk1"/>
              </a:solidFill>
              <a:latin typeface="Calibri"/>
              <a:ea typeface="Calibri"/>
              <a:cs typeface="Calibri"/>
              <a:sym typeface="Calibri"/>
            </a:endParaRPr>
          </a:p>
        </p:txBody>
      </p:sp>
      <p:sp>
        <p:nvSpPr>
          <p:cNvPr id="289" name="Google Shape;289;p20"/>
          <p:cNvSpPr/>
          <p:nvPr/>
        </p:nvSpPr>
        <p:spPr>
          <a:xfrm>
            <a:off x="640080" y="3749040"/>
            <a:ext cx="11018520" cy="1060704"/>
          </a:xfrm>
          <a:prstGeom prst="roundRect">
            <a:avLst>
              <a:gd fmla="val 6034" name="adj"/>
            </a:avLst>
          </a:prstGeom>
          <a:solidFill>
            <a:srgbClr val="161B22"/>
          </a:solidFill>
          <a:ln cap="flat" cmpd="sng" w="12700">
            <a:solidFill>
              <a:srgbClr val="3036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0"/>
          <p:cNvSpPr/>
          <p:nvPr/>
        </p:nvSpPr>
        <p:spPr>
          <a:xfrm>
            <a:off x="822960" y="3822192"/>
            <a:ext cx="32918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020"/>
              </a:buClr>
              <a:buSzPts val="1300"/>
              <a:buFont typeface="Calibri"/>
              <a:buNone/>
            </a:pPr>
            <a:r>
              <a:rPr b="1" i="0" lang="en-US" sz="1300" u="none" cap="none" strike="noStrike">
                <a:solidFill>
                  <a:srgbClr val="E8A020"/>
                </a:solidFill>
                <a:latin typeface="Calibri"/>
                <a:ea typeface="Calibri"/>
                <a:cs typeface="Calibri"/>
                <a:sym typeface="Calibri"/>
              </a:rPr>
              <a:t>3 · Ablation &amp; classifier study</a:t>
            </a:r>
            <a:endParaRPr b="0" i="0" sz="1300" u="none" cap="none" strike="noStrike">
              <a:solidFill>
                <a:schemeClr val="dk1"/>
              </a:solidFill>
              <a:latin typeface="Calibri"/>
              <a:ea typeface="Calibri"/>
              <a:cs typeface="Calibri"/>
              <a:sym typeface="Calibri"/>
            </a:endParaRPr>
          </a:p>
        </p:txBody>
      </p:sp>
      <p:sp>
        <p:nvSpPr>
          <p:cNvPr id="291" name="Google Shape;291;p20"/>
          <p:cNvSpPr/>
          <p:nvPr/>
        </p:nvSpPr>
        <p:spPr>
          <a:xfrm>
            <a:off x="4297680" y="3822192"/>
            <a:ext cx="722376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1150"/>
              <a:buFont typeface="Calibri"/>
              <a:buNone/>
            </a:pPr>
            <a:r>
              <a:rPr b="0" i="0" lang="en-US" sz="1150" u="none" cap="none" strike="noStrike">
                <a:solidFill>
                  <a:srgbClr val="E6EDF3"/>
                </a:solidFill>
                <a:latin typeface="Calibri"/>
                <a:ea typeface="Calibri"/>
                <a:cs typeface="Calibri"/>
                <a:sym typeface="Calibri"/>
              </a:rPr>
              <a:t>Which agent earns its keep? Two classifier fixes came from human review THIS WEEK — encoded within hours. The meta-model is this study.</a:t>
            </a:r>
            <a:endParaRPr b="0" i="0" sz="1150" u="none" cap="none" strike="noStrike">
              <a:solidFill>
                <a:schemeClr val="dk1"/>
              </a:solidFill>
              <a:latin typeface="Calibri"/>
              <a:ea typeface="Calibri"/>
              <a:cs typeface="Calibri"/>
              <a:sym typeface="Calibri"/>
            </a:endParaRPr>
          </a:p>
        </p:txBody>
      </p:sp>
      <p:sp>
        <p:nvSpPr>
          <p:cNvPr id="292" name="Google Shape;292;p20"/>
          <p:cNvSpPr/>
          <p:nvPr/>
        </p:nvSpPr>
        <p:spPr>
          <a:xfrm>
            <a:off x="640080" y="4937760"/>
            <a:ext cx="11018520" cy="1060704"/>
          </a:xfrm>
          <a:prstGeom prst="roundRect">
            <a:avLst>
              <a:gd fmla="val 6034" name="adj"/>
            </a:avLst>
          </a:prstGeom>
          <a:solidFill>
            <a:srgbClr val="161B22"/>
          </a:solidFill>
          <a:ln cap="flat" cmpd="sng" w="12700">
            <a:solidFill>
              <a:srgbClr val="3036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20"/>
          <p:cNvSpPr/>
          <p:nvPr/>
        </p:nvSpPr>
        <p:spPr>
          <a:xfrm>
            <a:off x="822960" y="5010912"/>
            <a:ext cx="32918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020"/>
              </a:buClr>
              <a:buSzPts val="1300"/>
              <a:buFont typeface="Calibri"/>
              <a:buNone/>
            </a:pPr>
            <a:r>
              <a:rPr b="1" i="0" lang="en-US" sz="1300" u="none" cap="none" strike="noStrike">
                <a:solidFill>
                  <a:srgbClr val="E8A020"/>
                </a:solidFill>
                <a:latin typeface="Calibri"/>
                <a:ea typeface="Calibri"/>
                <a:cs typeface="Calibri"/>
                <a:sym typeface="Calibri"/>
              </a:rPr>
              <a:t>4 · Cost realism</a:t>
            </a:r>
            <a:endParaRPr b="0" i="0" sz="1300" u="none" cap="none" strike="noStrike">
              <a:solidFill>
                <a:schemeClr val="dk1"/>
              </a:solidFill>
              <a:latin typeface="Calibri"/>
              <a:ea typeface="Calibri"/>
              <a:cs typeface="Calibri"/>
              <a:sym typeface="Calibri"/>
            </a:endParaRPr>
          </a:p>
        </p:txBody>
      </p:sp>
      <p:sp>
        <p:nvSpPr>
          <p:cNvPr id="294" name="Google Shape;294;p20"/>
          <p:cNvSpPr/>
          <p:nvPr/>
        </p:nvSpPr>
        <p:spPr>
          <a:xfrm>
            <a:off x="4297680" y="5010912"/>
            <a:ext cx="722376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1150"/>
              <a:buFont typeface="Calibri"/>
              <a:buNone/>
            </a:pPr>
            <a:r>
              <a:rPr b="0" i="0" lang="en-US" sz="1150" u="none" cap="none" strike="noStrike">
                <a:solidFill>
                  <a:srgbClr val="E6EDF3"/>
                </a:solidFill>
                <a:latin typeface="Calibri"/>
                <a:ea typeface="Calibri"/>
                <a:cs typeface="Calibri"/>
                <a:sym typeface="Calibri"/>
              </a:rPr>
              <a:t>Paper fills flatter results. Broker-verified paper (Alpaca) is roadmap item one. Real robo-advisers are SEC/FINRA-regulated; OROS deliberately is not — it proposes, journals, and never trades.</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299" name="Shape 299"/>
        <p:cNvGrpSpPr/>
        <p:nvPr/>
      </p:nvGrpSpPr>
      <p:grpSpPr>
        <a:xfrm>
          <a:off x="0" y="0"/>
          <a:ext cx="0" cy="0"/>
          <a:chOff x="0" y="0"/>
          <a:chExt cx="0" cy="0"/>
        </a:xfrm>
      </p:grpSpPr>
      <p:sp>
        <p:nvSpPr>
          <p:cNvPr id="300" name="Google Shape;300;p21"/>
          <p:cNvSpPr/>
          <p:nvPr/>
        </p:nvSpPr>
        <p:spPr>
          <a:xfrm>
            <a:off x="457200" y="6519672"/>
            <a:ext cx="8778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850"/>
              <a:buFont typeface="Calibri"/>
              <a:buNone/>
            </a:pPr>
            <a:r>
              <a:rPr b="0" i="0" lang="en-US" sz="850" u="none" cap="none" strike="noStrike">
                <a:solidFill>
                  <a:srgbClr val="8B949E"/>
                </a:solidFill>
                <a:latin typeface="Calibri"/>
                <a:ea typeface="Calibri"/>
                <a:cs typeface="Calibri"/>
                <a:sym typeface="Calibri"/>
              </a:rPr>
              <a:t>OROS · Fordham MSAIB Capstone · simulated paper trading · educational, not financial advice</a:t>
            </a:r>
            <a:endParaRPr b="0" i="0" sz="850" u="none" cap="none" strike="noStrike">
              <a:solidFill>
                <a:schemeClr val="dk1"/>
              </a:solidFill>
              <a:latin typeface="Calibri"/>
              <a:ea typeface="Calibri"/>
              <a:cs typeface="Calibri"/>
              <a:sym typeface="Calibri"/>
            </a:endParaRPr>
          </a:p>
        </p:txBody>
      </p:sp>
      <p:sp>
        <p:nvSpPr>
          <p:cNvPr id="301" name="Google Shape;301;p21"/>
          <p:cNvSpPr/>
          <p:nvPr/>
        </p:nvSpPr>
        <p:spPr>
          <a:xfrm>
            <a:off x="502920" y="274320"/>
            <a:ext cx="11155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020"/>
              </a:buClr>
              <a:buSzPts val="1150"/>
              <a:buFont typeface="Calibri"/>
              <a:buNone/>
            </a:pPr>
            <a:r>
              <a:rPr b="1" i="0" lang="en-US" sz="1150" u="none" cap="none" strike="noStrike">
                <a:solidFill>
                  <a:srgbClr val="E8A020"/>
                </a:solidFill>
                <a:latin typeface="Calibri"/>
                <a:ea typeface="Calibri"/>
                <a:cs typeface="Calibri"/>
                <a:sym typeface="Calibri"/>
              </a:rPr>
              <a:t>SECTION 9 · FUTURE ENHANCEMENTS</a:t>
            </a:r>
            <a:endParaRPr b="0" i="0" sz="1150" u="none" cap="none" strike="noStrike">
              <a:solidFill>
                <a:schemeClr val="dk1"/>
              </a:solidFill>
              <a:latin typeface="Calibri"/>
              <a:ea typeface="Calibri"/>
              <a:cs typeface="Calibri"/>
              <a:sym typeface="Calibri"/>
            </a:endParaRPr>
          </a:p>
        </p:txBody>
      </p:sp>
      <p:sp>
        <p:nvSpPr>
          <p:cNvPr id="302" name="Google Shape;302;p21"/>
          <p:cNvSpPr/>
          <p:nvPr/>
        </p:nvSpPr>
        <p:spPr>
          <a:xfrm>
            <a:off x="475488" y="530352"/>
            <a:ext cx="112471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2700"/>
              <a:buFont typeface="Calibri"/>
              <a:buNone/>
            </a:pPr>
            <a:r>
              <a:rPr b="1" lang="en-US" sz="2700">
                <a:solidFill>
                  <a:srgbClr val="E6EDF3"/>
                </a:solidFill>
                <a:latin typeface="Calibri"/>
                <a:ea typeface="Calibri"/>
                <a:cs typeface="Calibri"/>
                <a:sym typeface="Calibri"/>
              </a:rPr>
              <a:t>Transparency</a:t>
            </a:r>
            <a:r>
              <a:rPr b="1" lang="en-US" sz="2700">
                <a:solidFill>
                  <a:srgbClr val="E6EDF3"/>
                </a:solidFill>
                <a:latin typeface="Calibri"/>
                <a:ea typeface="Calibri"/>
                <a:cs typeface="Calibri"/>
                <a:sym typeface="Calibri"/>
              </a:rPr>
              <a:t> </a:t>
            </a:r>
            <a:r>
              <a:rPr b="1" i="0" lang="en-US" sz="2700" u="none" cap="none" strike="noStrike">
                <a:solidFill>
                  <a:srgbClr val="E6EDF3"/>
                </a:solidFill>
                <a:latin typeface="Calibri"/>
                <a:ea typeface="Calibri"/>
                <a:cs typeface="Calibri"/>
                <a:sym typeface="Calibri"/>
              </a:rPr>
              <a:t>Builds </a:t>
            </a:r>
            <a:r>
              <a:rPr b="1" lang="en-US" sz="2700">
                <a:solidFill>
                  <a:srgbClr val="E6EDF3"/>
                </a:solidFill>
                <a:latin typeface="Calibri"/>
                <a:ea typeface="Calibri"/>
                <a:cs typeface="Calibri"/>
                <a:sym typeface="Calibri"/>
              </a:rPr>
              <a:t>a</a:t>
            </a:r>
            <a:r>
              <a:rPr b="1" i="0" lang="en-US" sz="2700" u="none" cap="none" strike="noStrike">
                <a:solidFill>
                  <a:srgbClr val="E6EDF3"/>
                </a:solidFill>
                <a:latin typeface="Calibri"/>
                <a:ea typeface="Calibri"/>
                <a:cs typeface="Calibri"/>
                <a:sym typeface="Calibri"/>
              </a:rPr>
              <a:t> Community</a:t>
            </a:r>
            <a:endParaRPr b="0" i="0" sz="2700" u="none" cap="none" strike="noStrike">
              <a:solidFill>
                <a:schemeClr val="dk1"/>
              </a:solidFill>
              <a:latin typeface="Calibri"/>
              <a:ea typeface="Calibri"/>
              <a:cs typeface="Calibri"/>
              <a:sym typeface="Calibri"/>
            </a:endParaRPr>
          </a:p>
        </p:txBody>
      </p:sp>
      <p:pic>
        <p:nvPicPr>
          <p:cNvPr descr="future_4.png" id="303" name="Google Shape;303;p21"/>
          <p:cNvPicPr preferRelativeResize="0"/>
          <p:nvPr/>
        </p:nvPicPr>
        <p:blipFill rotWithShape="1">
          <a:blip r:embed="rId3">
            <a:alphaModFix/>
          </a:blip>
          <a:srcRect b="0" l="0" r="0" t="0"/>
          <a:stretch/>
        </p:blipFill>
        <p:spPr>
          <a:xfrm>
            <a:off x="548640" y="1298448"/>
            <a:ext cx="5486400" cy="2167128"/>
          </a:xfrm>
          <a:prstGeom prst="rect">
            <a:avLst/>
          </a:prstGeom>
          <a:noFill/>
          <a:ln>
            <a:noFill/>
          </a:ln>
        </p:spPr>
      </p:pic>
      <p:sp>
        <p:nvSpPr>
          <p:cNvPr id="304" name="Google Shape;304;p21"/>
          <p:cNvSpPr/>
          <p:nvPr/>
        </p:nvSpPr>
        <p:spPr>
          <a:xfrm>
            <a:off x="548640" y="3520440"/>
            <a:ext cx="5486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1050"/>
              <a:buFont typeface="Calibri"/>
              <a:buNone/>
            </a:pPr>
            <a:r>
              <a:rPr b="0" i="0" lang="en-US" sz="1050" u="none" cap="none" strike="noStrike">
                <a:solidFill>
                  <a:srgbClr val="8B949E"/>
                </a:solidFill>
                <a:latin typeface="Calibri"/>
                <a:ea typeface="Calibri"/>
                <a:cs typeface="Calibri"/>
                <a:sym typeface="Calibri"/>
              </a:rPr>
              <a:t>Robinhood: 'Let your agent trade' — market access for AI agents via an MCP server</a:t>
            </a:r>
            <a:endParaRPr b="0" i="0" sz="1050" u="none" cap="none" strike="noStrike">
              <a:solidFill>
                <a:schemeClr val="dk1"/>
              </a:solidFill>
              <a:latin typeface="Calibri"/>
              <a:ea typeface="Calibri"/>
              <a:cs typeface="Calibri"/>
              <a:sym typeface="Calibri"/>
            </a:endParaRPr>
          </a:p>
        </p:txBody>
      </p:sp>
      <p:pic>
        <p:nvPicPr>
          <p:cNvPr descr="future_2.png" id="305" name="Google Shape;305;p21"/>
          <p:cNvPicPr preferRelativeResize="0"/>
          <p:nvPr/>
        </p:nvPicPr>
        <p:blipFill rotWithShape="1">
          <a:blip r:embed="rId4">
            <a:alphaModFix/>
          </a:blip>
          <a:srcRect b="0" l="0" r="0" t="0"/>
          <a:stretch/>
        </p:blipFill>
        <p:spPr>
          <a:xfrm>
            <a:off x="6263640" y="1298448"/>
            <a:ext cx="3465576" cy="2167128"/>
          </a:xfrm>
          <a:prstGeom prst="rect">
            <a:avLst/>
          </a:prstGeom>
          <a:noFill/>
          <a:ln>
            <a:noFill/>
          </a:ln>
        </p:spPr>
      </p:pic>
      <p:sp>
        <p:nvSpPr>
          <p:cNvPr id="306" name="Google Shape;306;p21"/>
          <p:cNvSpPr/>
          <p:nvPr/>
        </p:nvSpPr>
        <p:spPr>
          <a:xfrm>
            <a:off x="6263640" y="3520440"/>
            <a:ext cx="3465576"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1050"/>
              <a:buFont typeface="Calibri"/>
              <a:buNone/>
            </a:pPr>
            <a:r>
              <a:rPr b="0" i="0" lang="en-US" sz="1050" u="none" cap="none" strike="noStrike">
                <a:solidFill>
                  <a:srgbClr val="8B949E"/>
                </a:solidFill>
                <a:latin typeface="Calibri"/>
                <a:ea typeface="Calibri"/>
                <a:cs typeface="Calibri"/>
                <a:sym typeface="Calibri"/>
              </a:rPr>
              <a:t>Coinbase for Agents — agent-native access</a:t>
            </a:r>
            <a:endParaRPr b="0" i="0" sz="1050" u="none" cap="none" strike="noStrike">
              <a:solidFill>
                <a:schemeClr val="dk1"/>
              </a:solidFill>
              <a:latin typeface="Calibri"/>
              <a:ea typeface="Calibri"/>
              <a:cs typeface="Calibri"/>
              <a:sym typeface="Calibri"/>
            </a:endParaRPr>
          </a:p>
        </p:txBody>
      </p:sp>
      <p:pic>
        <p:nvPicPr>
          <p:cNvPr descr="future_1.png" id="307" name="Google Shape;307;p21"/>
          <p:cNvPicPr preferRelativeResize="0"/>
          <p:nvPr/>
        </p:nvPicPr>
        <p:blipFill rotWithShape="1">
          <a:blip r:embed="rId5">
            <a:alphaModFix/>
          </a:blip>
          <a:srcRect b="0" l="0" r="0" t="0"/>
          <a:stretch/>
        </p:blipFill>
        <p:spPr>
          <a:xfrm>
            <a:off x="548640" y="3913632"/>
            <a:ext cx="3182112" cy="1965960"/>
          </a:xfrm>
          <a:prstGeom prst="rect">
            <a:avLst/>
          </a:prstGeom>
          <a:noFill/>
          <a:ln>
            <a:noFill/>
          </a:ln>
        </p:spPr>
      </p:pic>
      <p:sp>
        <p:nvSpPr>
          <p:cNvPr id="308" name="Google Shape;308;p21"/>
          <p:cNvSpPr/>
          <p:nvPr/>
        </p:nvSpPr>
        <p:spPr>
          <a:xfrm>
            <a:off x="548640" y="5934456"/>
            <a:ext cx="3182112"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1050"/>
              <a:buFont typeface="Calibri"/>
              <a:buNone/>
            </a:pPr>
            <a:r>
              <a:rPr b="0" i="0" lang="en-US" sz="1050" u="none" cap="none" strike="noStrike">
                <a:solidFill>
                  <a:srgbClr val="8B949E"/>
                </a:solidFill>
                <a:latin typeface="Calibri"/>
                <a:ea typeface="Calibri"/>
                <a:cs typeface="Calibri"/>
                <a:sym typeface="Calibri"/>
              </a:rPr>
              <a:t>Bloomberg: JPMorgan's agents beat the 60/40 (Jul 2026)</a:t>
            </a:r>
            <a:endParaRPr b="0" i="0" sz="1050" u="none" cap="none" strike="noStrike">
              <a:solidFill>
                <a:schemeClr val="dk1"/>
              </a:solidFill>
              <a:latin typeface="Calibri"/>
              <a:ea typeface="Calibri"/>
              <a:cs typeface="Calibri"/>
              <a:sym typeface="Calibri"/>
            </a:endParaRPr>
          </a:p>
        </p:txBody>
      </p:sp>
      <p:pic>
        <p:nvPicPr>
          <p:cNvPr descr="future_3.png" id="309" name="Google Shape;309;p21"/>
          <p:cNvPicPr preferRelativeResize="0"/>
          <p:nvPr/>
        </p:nvPicPr>
        <p:blipFill rotWithShape="1">
          <a:blip r:embed="rId6">
            <a:alphaModFix/>
          </a:blip>
          <a:srcRect b="0" l="0" r="0" t="0"/>
          <a:stretch/>
        </p:blipFill>
        <p:spPr>
          <a:xfrm>
            <a:off x="3977640" y="3913632"/>
            <a:ext cx="2359152" cy="1965960"/>
          </a:xfrm>
          <a:prstGeom prst="rect">
            <a:avLst/>
          </a:prstGeom>
          <a:noFill/>
          <a:ln>
            <a:noFill/>
          </a:ln>
        </p:spPr>
      </p:pic>
      <p:sp>
        <p:nvSpPr>
          <p:cNvPr id="310" name="Google Shape;310;p21"/>
          <p:cNvSpPr/>
          <p:nvPr/>
        </p:nvSpPr>
        <p:spPr>
          <a:xfrm>
            <a:off x="3977640" y="5934456"/>
            <a:ext cx="2359152"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1050"/>
              <a:buFont typeface="Calibri"/>
              <a:buNone/>
            </a:pPr>
            <a:r>
              <a:rPr b="0" i="0" lang="en-US" sz="1050" u="none" cap="none" strike="noStrike">
                <a:solidFill>
                  <a:srgbClr val="8B949E"/>
                </a:solidFill>
                <a:latin typeface="Calibri"/>
                <a:ea typeface="Calibri"/>
                <a:cs typeface="Calibri"/>
                <a:sym typeface="Calibri"/>
              </a:rPr>
              <a:t>Vanguard — robo at giant scale</a:t>
            </a:r>
            <a:endParaRPr b="0" i="0" sz="1050" u="none" cap="none" strike="noStrike">
              <a:solidFill>
                <a:schemeClr val="dk1"/>
              </a:solidFill>
              <a:latin typeface="Calibri"/>
              <a:ea typeface="Calibri"/>
              <a:cs typeface="Calibri"/>
              <a:sym typeface="Calibri"/>
            </a:endParaRPr>
          </a:p>
        </p:txBody>
      </p:sp>
      <p:sp>
        <p:nvSpPr>
          <p:cNvPr id="311" name="Google Shape;311;p21"/>
          <p:cNvSpPr/>
          <p:nvPr/>
        </p:nvSpPr>
        <p:spPr>
          <a:xfrm>
            <a:off x="6583690" y="3909070"/>
            <a:ext cx="4526400" cy="2167200"/>
          </a:xfrm>
          <a:prstGeom prst="roundRect">
            <a:avLst>
              <a:gd fmla="val 3376" name="adj"/>
            </a:avLst>
          </a:prstGeom>
          <a:solidFill>
            <a:srgbClr val="161B22"/>
          </a:solidFill>
          <a:ln cap="flat" cmpd="sng" w="15225">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1"/>
          <p:cNvSpPr/>
          <p:nvPr/>
        </p:nvSpPr>
        <p:spPr>
          <a:xfrm>
            <a:off x="7360920" y="4023360"/>
            <a:ext cx="4206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020"/>
              </a:buClr>
              <a:buSzPts val="1150"/>
              <a:buFont typeface="Calibri"/>
              <a:buNone/>
            </a:pPr>
            <a:r>
              <a:rPr b="1" i="0" lang="en-US" sz="1150" u="none" cap="none" strike="noStrike">
                <a:solidFill>
                  <a:srgbClr val="E8A020"/>
                </a:solidFill>
                <a:latin typeface="Calibri"/>
                <a:ea typeface="Calibri"/>
                <a:cs typeface="Calibri"/>
                <a:sym typeface="Calibri"/>
              </a:rPr>
              <a:t>OROS'S NEXT STEPS</a:t>
            </a:r>
            <a:endParaRPr b="0" i="0" sz="1150" u="none" cap="none" strike="noStrike">
              <a:solidFill>
                <a:schemeClr val="dk1"/>
              </a:solidFill>
              <a:latin typeface="Calibri"/>
              <a:ea typeface="Calibri"/>
              <a:cs typeface="Calibri"/>
              <a:sym typeface="Calibri"/>
            </a:endParaRPr>
          </a:p>
        </p:txBody>
      </p:sp>
      <p:sp>
        <p:nvSpPr>
          <p:cNvPr id="313" name="Google Shape;313;p21"/>
          <p:cNvSpPr/>
          <p:nvPr/>
        </p:nvSpPr>
        <p:spPr>
          <a:xfrm>
            <a:off x="548640" y="6236208"/>
            <a:ext cx="11109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020"/>
              </a:buClr>
              <a:buSzPts val="1050"/>
              <a:buFont typeface="Calibri"/>
              <a:buNone/>
            </a:pPr>
            <a:r>
              <a:rPr b="1" i="1" lang="en-US" sz="1050" u="none" cap="none" strike="noStrike">
                <a:solidFill>
                  <a:srgbClr val="E8A020"/>
                </a:solidFill>
                <a:latin typeface="Calibri"/>
                <a:ea typeface="Calibri"/>
                <a:cs typeface="Calibri"/>
                <a:sym typeface="Calibri"/>
              </a:rPr>
              <a:t>When Robinhood ships agent market access and JPMorgan's agents beat the 60/40, the category is no longer speculative — the differentiator left is trust, and community is how trust compounds.</a:t>
            </a:r>
            <a:endParaRPr b="0" i="0" sz="1050" u="none" cap="none" strike="noStrike">
              <a:solidFill>
                <a:schemeClr val="dk1"/>
              </a:solidFill>
              <a:latin typeface="Calibri"/>
              <a:ea typeface="Calibri"/>
              <a:cs typeface="Calibri"/>
              <a:sym typeface="Calibri"/>
            </a:endParaRPr>
          </a:p>
        </p:txBody>
      </p:sp>
      <p:pic>
        <p:nvPicPr>
          <p:cNvPr id="314" name="Google Shape;314;p21"/>
          <p:cNvPicPr preferRelativeResize="0"/>
          <p:nvPr/>
        </p:nvPicPr>
        <p:blipFill>
          <a:blip r:embed="rId7">
            <a:alphaModFix/>
          </a:blip>
          <a:stretch>
            <a:fillRect/>
          </a:stretch>
        </p:blipFill>
        <p:spPr>
          <a:xfrm>
            <a:off x="6483875" y="3913625"/>
            <a:ext cx="5174725" cy="2313425"/>
          </a:xfrm>
          <a:prstGeom prst="rect">
            <a:avLst/>
          </a:prstGeom>
          <a:solidFill>
            <a:srgbClr val="161B22"/>
          </a:solidFill>
          <a:ln cap="flat" cmpd="sng" w="15225">
            <a:solidFill>
              <a:srgbClr val="E8A020"/>
            </a:solidFill>
            <a:prstDash val="solid"/>
            <a:round/>
            <a:headEnd len="sm" w="sm" type="none"/>
            <a:tailEnd len="sm" w="sm" type="none"/>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319" name="Shape 319"/>
        <p:cNvGrpSpPr/>
        <p:nvPr/>
      </p:nvGrpSpPr>
      <p:grpSpPr>
        <a:xfrm>
          <a:off x="0" y="0"/>
          <a:ext cx="0" cy="0"/>
          <a:chOff x="0" y="0"/>
          <a:chExt cx="0" cy="0"/>
        </a:xfrm>
      </p:grpSpPr>
      <p:sp>
        <p:nvSpPr>
          <p:cNvPr id="320" name="Google Shape;320;p22"/>
          <p:cNvSpPr/>
          <p:nvPr/>
        </p:nvSpPr>
        <p:spPr>
          <a:xfrm>
            <a:off x="502920" y="274320"/>
            <a:ext cx="11155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020"/>
              </a:buClr>
              <a:buSzPts val="1150"/>
              <a:buFont typeface="Calibri"/>
              <a:buNone/>
            </a:pPr>
            <a:r>
              <a:rPr b="1" i="0" lang="en-US" sz="1150" u="none" cap="none" strike="noStrike">
                <a:solidFill>
                  <a:srgbClr val="E8A020"/>
                </a:solidFill>
                <a:latin typeface="Calibri"/>
                <a:ea typeface="Calibri"/>
                <a:cs typeface="Calibri"/>
                <a:sym typeface="Calibri"/>
              </a:rPr>
              <a:t>SECTION 10 · CONCLUSIONS &amp; TAKEAWAY</a:t>
            </a:r>
            <a:endParaRPr b="0" i="0" sz="1150" u="none" cap="none" strike="noStrike">
              <a:solidFill>
                <a:schemeClr val="dk1"/>
              </a:solidFill>
              <a:latin typeface="Calibri"/>
              <a:ea typeface="Calibri"/>
              <a:cs typeface="Calibri"/>
              <a:sym typeface="Calibri"/>
            </a:endParaRPr>
          </a:p>
        </p:txBody>
      </p:sp>
      <p:sp>
        <p:nvSpPr>
          <p:cNvPr id="321" name="Google Shape;321;p22"/>
          <p:cNvSpPr/>
          <p:nvPr/>
        </p:nvSpPr>
        <p:spPr>
          <a:xfrm>
            <a:off x="475488" y="530352"/>
            <a:ext cx="112471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2700"/>
              <a:buFont typeface="Calibri"/>
              <a:buNone/>
            </a:pPr>
            <a:r>
              <a:rPr b="1" i="0" lang="en-US" sz="2700" u="none" cap="none" strike="noStrike">
                <a:solidFill>
                  <a:srgbClr val="E6EDF3"/>
                </a:solidFill>
                <a:latin typeface="Calibri"/>
                <a:ea typeface="Calibri"/>
                <a:cs typeface="Calibri"/>
                <a:sym typeface="Calibri"/>
              </a:rPr>
              <a:t>What This Capstone Demonstrates</a:t>
            </a:r>
            <a:endParaRPr b="0" i="0" sz="2700" u="none" cap="none" strike="noStrike">
              <a:solidFill>
                <a:schemeClr val="dk1"/>
              </a:solidFill>
              <a:latin typeface="Calibri"/>
              <a:ea typeface="Calibri"/>
              <a:cs typeface="Calibri"/>
              <a:sym typeface="Calibri"/>
            </a:endParaRPr>
          </a:p>
        </p:txBody>
      </p:sp>
      <p:sp>
        <p:nvSpPr>
          <p:cNvPr id="322" name="Google Shape;322;p22"/>
          <p:cNvSpPr/>
          <p:nvPr/>
        </p:nvSpPr>
        <p:spPr>
          <a:xfrm>
            <a:off x="640080" y="1371600"/>
            <a:ext cx="11018520" cy="841248"/>
          </a:xfrm>
          <a:prstGeom prst="roundRect">
            <a:avLst>
              <a:gd fmla="val 7609" name="adj"/>
            </a:avLst>
          </a:prstGeom>
          <a:solidFill>
            <a:srgbClr val="161B22"/>
          </a:solidFill>
          <a:ln cap="flat" cmpd="sng" w="12700">
            <a:solidFill>
              <a:srgbClr val="3036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22"/>
          <p:cNvSpPr/>
          <p:nvPr/>
        </p:nvSpPr>
        <p:spPr>
          <a:xfrm>
            <a:off x="822960" y="1435608"/>
            <a:ext cx="379476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A6FF"/>
              </a:buClr>
              <a:buSzPts val="1250"/>
              <a:buFont typeface="Calibri"/>
              <a:buNone/>
            </a:pPr>
            <a:r>
              <a:rPr b="1" i="0" lang="en-US" sz="1250" u="none" cap="none" strike="noStrike">
                <a:solidFill>
                  <a:srgbClr val="58A6FF"/>
                </a:solidFill>
                <a:latin typeface="Calibri"/>
                <a:ea typeface="Calibri"/>
                <a:cs typeface="Calibri"/>
                <a:sym typeface="Calibri"/>
              </a:rPr>
              <a:t>1 · Navigating Extreme Market Volatility</a:t>
            </a:r>
            <a:endParaRPr b="0" i="0" sz="1250" u="none" cap="none" strike="noStrike">
              <a:solidFill>
                <a:schemeClr val="dk1"/>
              </a:solidFill>
              <a:latin typeface="Calibri"/>
              <a:ea typeface="Calibri"/>
              <a:cs typeface="Calibri"/>
              <a:sym typeface="Calibri"/>
            </a:endParaRPr>
          </a:p>
        </p:txBody>
      </p:sp>
      <p:sp>
        <p:nvSpPr>
          <p:cNvPr id="324" name="Google Shape;324;p22"/>
          <p:cNvSpPr/>
          <p:nvPr/>
        </p:nvSpPr>
        <p:spPr>
          <a:xfrm>
            <a:off x="4754880" y="1435608"/>
            <a:ext cx="676656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1100"/>
              <a:buFont typeface="Calibri"/>
              <a:buNone/>
            </a:pPr>
            <a:r>
              <a:rPr b="0" i="0" lang="en-US" sz="1100" u="none" cap="none" strike="noStrike">
                <a:solidFill>
                  <a:srgbClr val="E6EDF3"/>
                </a:solidFill>
                <a:latin typeface="Calibri"/>
                <a:ea typeface="Calibri"/>
                <a:cs typeface="Calibri"/>
                <a:sym typeface="Calibri"/>
              </a:rPr>
              <a:t>Regime-aware exposure and journaled exits kept the live book nearly flat on SPY's worst days — cash treated as a decision, never leftovers.</a:t>
            </a:r>
            <a:endParaRPr b="0" i="0" sz="1100" u="none" cap="none" strike="noStrike">
              <a:solidFill>
                <a:schemeClr val="dk1"/>
              </a:solidFill>
              <a:latin typeface="Calibri"/>
              <a:ea typeface="Calibri"/>
              <a:cs typeface="Calibri"/>
              <a:sym typeface="Calibri"/>
            </a:endParaRPr>
          </a:p>
        </p:txBody>
      </p:sp>
      <p:sp>
        <p:nvSpPr>
          <p:cNvPr id="325" name="Google Shape;325;p22"/>
          <p:cNvSpPr/>
          <p:nvPr/>
        </p:nvSpPr>
        <p:spPr>
          <a:xfrm>
            <a:off x="640080" y="2340864"/>
            <a:ext cx="11018520" cy="841248"/>
          </a:xfrm>
          <a:prstGeom prst="roundRect">
            <a:avLst>
              <a:gd fmla="val 7609" name="adj"/>
            </a:avLst>
          </a:prstGeom>
          <a:solidFill>
            <a:srgbClr val="161B22"/>
          </a:solidFill>
          <a:ln cap="flat" cmpd="sng" w="12700">
            <a:solidFill>
              <a:srgbClr val="3036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2"/>
          <p:cNvSpPr/>
          <p:nvPr/>
        </p:nvSpPr>
        <p:spPr>
          <a:xfrm>
            <a:off x="822960" y="2404872"/>
            <a:ext cx="379476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020"/>
              </a:buClr>
              <a:buSzPts val="1250"/>
              <a:buFont typeface="Calibri"/>
              <a:buNone/>
            </a:pPr>
            <a:r>
              <a:rPr b="1" i="0" lang="en-US" sz="1250" u="none" cap="none" strike="noStrike">
                <a:solidFill>
                  <a:srgbClr val="E8A020"/>
                </a:solidFill>
                <a:latin typeface="Calibri"/>
                <a:ea typeface="Calibri"/>
                <a:cs typeface="Calibri"/>
                <a:sym typeface="Calibri"/>
              </a:rPr>
              <a:t>2 · Democratizing Institutional-Grade Strategies</a:t>
            </a:r>
            <a:endParaRPr b="0" i="0" sz="1250" u="none" cap="none" strike="noStrike">
              <a:solidFill>
                <a:schemeClr val="dk1"/>
              </a:solidFill>
              <a:latin typeface="Calibri"/>
              <a:ea typeface="Calibri"/>
              <a:cs typeface="Calibri"/>
              <a:sym typeface="Calibri"/>
            </a:endParaRPr>
          </a:p>
        </p:txBody>
      </p:sp>
      <p:sp>
        <p:nvSpPr>
          <p:cNvPr id="327" name="Google Shape;327;p22"/>
          <p:cNvSpPr/>
          <p:nvPr/>
        </p:nvSpPr>
        <p:spPr>
          <a:xfrm>
            <a:off x="4754880" y="2404872"/>
            <a:ext cx="676656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1100"/>
              <a:buFont typeface="Calibri"/>
              <a:buNone/>
            </a:pPr>
            <a:r>
              <a:rPr b="0" i="0" lang="en-US" sz="1100" u="none" cap="none" strike="noStrike">
                <a:solidFill>
                  <a:srgbClr val="E6EDF3"/>
                </a:solidFill>
                <a:latin typeface="Calibri"/>
                <a:ea typeface="Calibri"/>
                <a:cs typeface="Calibri"/>
                <a:sym typeface="Calibri"/>
              </a:rPr>
              <a:t>A 31-agent research desk running published, peer-reviewed strategy families — for roughly $23 a month instead of a $27,660 terminal seat.</a:t>
            </a:r>
            <a:endParaRPr b="0" i="0" sz="1100" u="none" cap="none" strike="noStrike">
              <a:solidFill>
                <a:schemeClr val="dk1"/>
              </a:solidFill>
              <a:latin typeface="Calibri"/>
              <a:ea typeface="Calibri"/>
              <a:cs typeface="Calibri"/>
              <a:sym typeface="Calibri"/>
            </a:endParaRPr>
          </a:p>
        </p:txBody>
      </p:sp>
      <p:sp>
        <p:nvSpPr>
          <p:cNvPr id="328" name="Google Shape;328;p22"/>
          <p:cNvSpPr/>
          <p:nvPr/>
        </p:nvSpPr>
        <p:spPr>
          <a:xfrm>
            <a:off x="640080" y="3310128"/>
            <a:ext cx="11018520" cy="841248"/>
          </a:xfrm>
          <a:prstGeom prst="roundRect">
            <a:avLst>
              <a:gd fmla="val 7609" name="adj"/>
            </a:avLst>
          </a:prstGeom>
          <a:solidFill>
            <a:srgbClr val="161B22"/>
          </a:solidFill>
          <a:ln cap="flat" cmpd="sng" w="12700">
            <a:solidFill>
              <a:srgbClr val="3036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22"/>
          <p:cNvSpPr/>
          <p:nvPr/>
        </p:nvSpPr>
        <p:spPr>
          <a:xfrm>
            <a:off x="822960" y="3374136"/>
            <a:ext cx="379476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A6FF"/>
              </a:buClr>
              <a:buSzPts val="1250"/>
              <a:buFont typeface="Calibri"/>
              <a:buNone/>
            </a:pPr>
            <a:r>
              <a:rPr b="1" i="0" lang="en-US" sz="1250" u="none" cap="none" strike="noStrike">
                <a:solidFill>
                  <a:srgbClr val="58A6FF"/>
                </a:solidFill>
                <a:latin typeface="Calibri"/>
                <a:ea typeface="Calibri"/>
                <a:cs typeface="Calibri"/>
                <a:sym typeface="Calibri"/>
              </a:rPr>
              <a:t>3 · Scaling Operational Efficiency</a:t>
            </a:r>
            <a:endParaRPr b="0" i="0" sz="1250" u="none" cap="none" strike="noStrike">
              <a:solidFill>
                <a:schemeClr val="dk1"/>
              </a:solidFill>
              <a:latin typeface="Calibri"/>
              <a:ea typeface="Calibri"/>
              <a:cs typeface="Calibri"/>
              <a:sym typeface="Calibri"/>
            </a:endParaRPr>
          </a:p>
        </p:txBody>
      </p:sp>
      <p:sp>
        <p:nvSpPr>
          <p:cNvPr id="330" name="Google Shape;330;p22"/>
          <p:cNvSpPr/>
          <p:nvPr/>
        </p:nvSpPr>
        <p:spPr>
          <a:xfrm>
            <a:off x="4754880" y="3374136"/>
            <a:ext cx="676656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1100"/>
              <a:buFont typeface="Calibri"/>
              <a:buNone/>
            </a:pPr>
            <a:r>
              <a:rPr b="0" i="0" lang="en-US" sz="1100" u="none" cap="none" strike="noStrike">
                <a:solidFill>
                  <a:srgbClr val="E6EDF3"/>
                </a:solidFill>
                <a:latin typeface="Calibri"/>
                <a:ea typeface="Calibri"/>
                <a:cs typeface="Calibri"/>
                <a:sym typeface="Calibri"/>
              </a:rPr>
              <a:t>One student, zero hands on the keyboard: 45 autonomous builds, two broadcasts a day, and one journaled record that every surface must match.</a:t>
            </a:r>
            <a:endParaRPr b="0" i="0" sz="1100" u="none" cap="none" strike="noStrike">
              <a:solidFill>
                <a:schemeClr val="dk1"/>
              </a:solidFill>
              <a:latin typeface="Calibri"/>
              <a:ea typeface="Calibri"/>
              <a:cs typeface="Calibri"/>
              <a:sym typeface="Calibri"/>
            </a:endParaRPr>
          </a:p>
        </p:txBody>
      </p:sp>
      <p:sp>
        <p:nvSpPr>
          <p:cNvPr id="331" name="Google Shape;331;p22"/>
          <p:cNvSpPr/>
          <p:nvPr/>
        </p:nvSpPr>
        <p:spPr>
          <a:xfrm>
            <a:off x="640080" y="4279392"/>
            <a:ext cx="11018520" cy="841248"/>
          </a:xfrm>
          <a:prstGeom prst="roundRect">
            <a:avLst>
              <a:gd fmla="val 7609" name="adj"/>
            </a:avLst>
          </a:prstGeom>
          <a:solidFill>
            <a:srgbClr val="161B22"/>
          </a:solidFill>
          <a:ln cap="flat" cmpd="sng" w="12700">
            <a:solidFill>
              <a:srgbClr val="3036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22"/>
          <p:cNvSpPr/>
          <p:nvPr/>
        </p:nvSpPr>
        <p:spPr>
          <a:xfrm>
            <a:off x="822960" y="4343400"/>
            <a:ext cx="379476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020"/>
              </a:buClr>
              <a:buSzPts val="1250"/>
              <a:buFont typeface="Calibri"/>
              <a:buNone/>
            </a:pPr>
            <a:r>
              <a:rPr b="1" i="0" lang="en-US" sz="1250" u="none" cap="none" strike="noStrike">
                <a:solidFill>
                  <a:srgbClr val="E8A020"/>
                </a:solidFill>
                <a:latin typeface="Calibri"/>
                <a:ea typeface="Calibri"/>
                <a:cs typeface="Calibri"/>
                <a:sym typeface="Calibri"/>
              </a:rPr>
              <a:t>4 · Overcoming Legacy Software Limitations</a:t>
            </a:r>
            <a:endParaRPr b="0" i="0" sz="1250" u="none" cap="none" strike="noStrike">
              <a:solidFill>
                <a:schemeClr val="dk1"/>
              </a:solidFill>
              <a:latin typeface="Calibri"/>
              <a:ea typeface="Calibri"/>
              <a:cs typeface="Calibri"/>
              <a:sym typeface="Calibri"/>
            </a:endParaRPr>
          </a:p>
        </p:txBody>
      </p:sp>
      <p:sp>
        <p:nvSpPr>
          <p:cNvPr id="333" name="Google Shape;333;p22"/>
          <p:cNvSpPr/>
          <p:nvPr/>
        </p:nvSpPr>
        <p:spPr>
          <a:xfrm>
            <a:off x="4754880" y="4343400"/>
            <a:ext cx="676656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1100"/>
              <a:buFont typeface="Calibri"/>
              <a:buNone/>
            </a:pPr>
            <a:r>
              <a:rPr b="0" i="0" lang="en-US" sz="1100" u="none" cap="none" strike="noStrike">
                <a:solidFill>
                  <a:srgbClr val="E6EDF3"/>
                </a:solidFill>
                <a:latin typeface="Calibri"/>
                <a:ea typeface="Calibri"/>
                <a:cs typeface="Calibri"/>
                <a:sym typeface="Calibri"/>
              </a:rPr>
              <a:t>Where robo-advisors are static questionnaires, OROS converses, explains, grades itself — and encodes a human correction within hours.</a:t>
            </a:r>
            <a:endParaRPr b="0" i="0" sz="1100" u="none" cap="none" strike="noStrike">
              <a:solidFill>
                <a:schemeClr val="dk1"/>
              </a:solidFill>
              <a:latin typeface="Calibri"/>
              <a:ea typeface="Calibri"/>
              <a:cs typeface="Calibri"/>
              <a:sym typeface="Calibri"/>
            </a:endParaRPr>
          </a:p>
        </p:txBody>
      </p:sp>
      <p:sp>
        <p:nvSpPr>
          <p:cNvPr id="334" name="Google Shape;334;p22"/>
          <p:cNvSpPr/>
          <p:nvPr/>
        </p:nvSpPr>
        <p:spPr>
          <a:xfrm>
            <a:off x="1005840" y="5349240"/>
            <a:ext cx="1014984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A020"/>
              </a:buClr>
              <a:buSzPts val="1600"/>
              <a:buFont typeface="Calibri"/>
              <a:buNone/>
            </a:pPr>
            <a:r>
              <a:rPr b="1" i="1" lang="en-US" sz="1600" u="none" cap="none" strike="noStrike">
                <a:solidFill>
                  <a:srgbClr val="E8A020"/>
                </a:solidFill>
                <a:latin typeface="Calibri"/>
                <a:ea typeface="Calibri"/>
                <a:cs typeface="Calibri"/>
                <a:sym typeface="Calibri"/>
              </a:rPr>
              <a:t>“I see a future where everyone has a financial advisor — and public markets earn the trust we grant gold and oil. OROS is one student-sized step toward that.”</a:t>
            </a:r>
            <a:endParaRPr b="0" i="0" sz="1600" u="none" cap="none" strike="noStrike">
              <a:solidFill>
                <a:schemeClr val="dk1"/>
              </a:solidFill>
              <a:latin typeface="Calibri"/>
              <a:ea typeface="Calibri"/>
              <a:cs typeface="Calibri"/>
              <a:sym typeface="Calibri"/>
            </a:endParaRPr>
          </a:p>
        </p:txBody>
      </p:sp>
      <p:sp>
        <p:nvSpPr>
          <p:cNvPr id="335" name="Google Shape;335;p22"/>
          <p:cNvSpPr/>
          <p:nvPr/>
        </p:nvSpPr>
        <p:spPr>
          <a:xfrm>
            <a:off x="1005840" y="6172200"/>
            <a:ext cx="1014984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6EDF3"/>
              </a:buClr>
              <a:buSzPts val="1200"/>
              <a:buFont typeface="Calibri"/>
              <a:buNone/>
            </a:pPr>
            <a:r>
              <a:rPr b="0" i="1" lang="en-US" sz="1200" u="none" cap="none" strike="noStrike">
                <a:solidFill>
                  <a:srgbClr val="E6EDF3"/>
                </a:solidFill>
                <a:latin typeface="Calibri"/>
                <a:ea typeface="Calibri"/>
                <a:cs typeface="Calibri"/>
                <a:sym typeface="Calibri"/>
              </a:rPr>
              <a:t>“The system proposes; it never trades. The record is public — win or lose.”   — thank you · OROS Market Desk on YouTube · journals open for review</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