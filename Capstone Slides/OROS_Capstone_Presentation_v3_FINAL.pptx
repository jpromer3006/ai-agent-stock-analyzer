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Open with the show of hands: who has a financial advisor? Almost nobody. Who has a brokerage app? Everyone. That gap is where this capstone lives. Then the one-liner: an AI agent team that runs a research desk by itself and publishes its record, win or lose. Frame as research: journaled, auditable, simulated money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Read the room the flow diagram first, then speak the paragraph naturally — it is written to be said aloud: minimums, fees, emotion, speed, and the mass-customization paradox, then automation's answer to all five. Land the gold line: a trillion dollars proves cost is solved — nobody shows their reasoning, so conversation is not. And OROS's own position in this industry is deliberate: it proposes and journals; it never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All pictures, minimal reading. Left: the burnout — one human, thousands of charts, 3 AM; reviewing 500 charts manually is a 33-hour night. Center: the behavior gap — emotion buys the euphoric top and sells the panic bottom, and the market recovers without them; misaligned incentives and emotional cycles are exactly why governance and journaled rules matter. Right: the punchline stats — 60 to 73 percent of ALL U.S. equity volume is already algorithmic, and the industry is racing to build more bots. The machines already run the market; the question is whether anyone shows their reasoning. That is the governance gap OROS answers with journals.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Walk the diagram: regulators above, three pillars below — capital, service, machinery. Then the paragraph, naturally. Two nuances for the committee: traditional advisors are not eliminated — their role shifts to coaching and complex planning; and the governance tier is not decoration — the SEC/UBS YES-strategy case shows what happens when complex products lack transparency. Land the gold line: OROS gives investors four doors in, builders auditable journals, and regulators a system that logs everything and never executes. That is why 'proposes, never trades' is a design principle, not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Correct count, three tiers: seven pipeline roles on the left run the daily loop; the right panel is the bench — EIGHTEEN sector specialists, each reading its industry's own SEC filings with sector-specific tools (a REIT graded on funds-from-operations, a bank on deposits, a biotech on its trial pipeline), routed by the Classifier; plus the research voices and the three dialogue agents. Thirty-one agents, one journaled truth. Close on the doctrine — the answer to the LLM-in-finance objection.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Two windows into the same honesty. Left: the agent workflow itself — when the Sector Specialist analyzes a company, its tool calls stream onto the screen: which SEC filing it pulled, which metric it computed, in order. Nothing happens behind a curtain. Right: the public channel — the same agents' conclusions broadcast twice a day, timestamped forever, including the days with nothing to say. Say the gold line slowly: a robo-advisor asks for trust; OROS manufactures it by exposure. Then hand off: now let me show you what those agents actually produce — the scanner.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Be factual and specific: structured financials come from SEC EDGAR's XBRL — never scraped PDFs — with a compliant User-Agent and rate limiting; the universe comes from Nasdaq Trader's own listing files; prices from Yahoo Finance cached nightly for all 500; macro from FRED. Unstructured: the 10-K text itself, chunked into a vector store respecting Item boundaries, plus VADER-scored headlines and StockTwits attention. Then point at the screenshot: the system writes its own bibliography — numbered footnotes and a live EDGAR link by CIK in every memo. State the limits before they ask: delayed quotes, filing lag, quota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This is the landing screen: the whole market's weather, then your list's scan. Stage cards double as navigation. Emphasize the timestamped provenance — these figures came from the overnight autonomous run and match the video and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 money moment: an 85% bull-probability name REFUSED because volume hasn't confirmed. Read the two gate cards aloud — pass and fail. No entry without proof of strength; a WATCH label is the system practicing patience in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Agentic Autonomous Mode: the system chose mandate, risk, and universe from data. Point at the blend banner (the Playbook), the risk score, and mention the bench — the journal of names it REFUSED, with reasons. Customization: check different Playbooks — sprinter, swing, patient growth, value — same rules, different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seconds. Built live the night before this presentation, and it reruns live in the demo. Claude nominated NVIDIA, Tesla, AMD; the deterministic gates refused all three and sized the 12 survivors so cautiously the book held 53% cash. The audition sheet shows every nomination with its verdict — the safety architecture made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The Research tab's Historian: overhead supply zones from ten years of price, seasonality from 46 years of calendar. This is the EDA layer — anomaly detection by context. Mention: every claim in the memo cites SEC filings.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The direct answer to Investopedia's 'lack of human touch.' Read the three headers aloud — What the Build Shows, Why It's Included, What I Can't Say. The refusal is the feature: educational conversation with enforced limits, in the Portfolio tab, the Historian, and the YouTube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Every surface derives from one journaled record — the report PDF, Nathan's glance digest, the app landing view, and both broadcasts. Say it as the trust property: they cannot disagree, by construction. Mention the research memo of the day rides along, SEC-cited.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GitHub Actions runs the desk twice daily: scan, build, render, voice, publish, email, journal — laptop closed. Tonight's episode aired the corrected classifier and the holdings scene. Play 20 seconds of today's episode here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The honest forward chart — every point journaled, finish line on presentation day. Say the caveat before they do: 17 sessions in one regime proves process, not alpha. Then the audit: we read our own reports skeptically, found phantom drops, fixed and published. Self-grading includes the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Left: defense — the days the system refused to lose. Right: the biography chart — development era shaded honestly, go-live, then the machine's daily heartbeat. Every point on both charts is a JSON file I can open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seconds. Lead with the seventy cents — the number nobody expects, and it is journaled, not estimated. One Bloomberg seat costs 100x OROS's whole year. The scenario is labeled scenario; the margins are evidence because the cost line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Say each limitation before they can — every one ships with its study design. Number 3 is the pride point: BND and HOOD were both re-classified this week because a human questioned the label and the framework's own logic settled it. That is how an autonomous system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Walk the evidence: Robinhood is shipping 'Let your agent trade' through an MCP server — the exact rail a system like OROS would plug into for broker-verified execution; Coinbase built agent-native access; JPMorgan — the same bank from our course case — has agents beating the 60/40 in backtests as of July 2026; Vanguard runs robo at giant scale. The rails exist. OROS's roadmap rides them — bring-your-own portfolio first, then agent-API paper fills — and adds the thing none of these ship: a community that learns in public, open journals, a channel that grades itself. Trust compounds socially; that is section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slow. Four conclusions, one line of evidence each: volatility — the flat book on SPY's worst days; democratization — institutional discipline at 1% of a terminal seat; efficiency — 45 autonomous builds and two daily shows with no hands; legacy — the advisor that converses and self-corrects within hours. Then your statement, slowly — it is the emotional center. End on the end-card quote, thank Professors Zhou, Ettl, and Tang, and invite the quant review: the journals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1554480"/>
            <a:ext cx="11274552" cy="914400"/>
          </a:xfrm>
          <a:prstGeom prst="rect">
            <a:avLst/>
          </a:prstGeom>
          <a:noFill/>
          <a:ln/>
        </p:spPr>
        <p:txBody>
          <a:bodyPr wrap="square" lIns="0" tIns="0" rIns="0" bIns="0" rtlCol="0" anchor="ctr"/>
          <a:lstStyle/>
          <a:p>
            <a:pPr algn="ctr" indent="0" marL="0">
              <a:buNone/>
            </a:pPr>
            <a:r>
              <a:rPr lang="en-US" sz="5400" b="1" dirty="0">
                <a:solidFill>
                  <a:srgbClr val="E6EDF3"/>
                </a:solidFill>
                <a:latin typeface="Calibri" pitchFamily="34" charset="0"/>
                <a:ea typeface="Calibri" pitchFamily="34" charset="-122"/>
                <a:cs typeface="Calibri" pitchFamily="34" charset="-120"/>
              </a:rPr>
              <a:t>OROS</a:t>
            </a:r>
            <a:endParaRPr lang="en-US" sz="5400" dirty="0"/>
          </a:p>
        </p:txBody>
      </p:sp>
      <p:sp>
        <p:nvSpPr>
          <p:cNvPr id="3" name="Text 1"/>
          <p:cNvSpPr/>
          <p:nvPr/>
        </p:nvSpPr>
        <p:spPr>
          <a:xfrm>
            <a:off x="822960" y="2560320"/>
            <a:ext cx="10515600" cy="457200"/>
          </a:xfrm>
          <a:prstGeom prst="rect">
            <a:avLst/>
          </a:prstGeom>
          <a:noFill/>
          <a:ln/>
        </p:spPr>
        <p:txBody>
          <a:bodyPr wrap="square" lIns="0" tIns="0" rIns="0" bIns="0" rtlCol="0" anchor="ctr"/>
          <a:lstStyle/>
          <a:p>
            <a:pPr algn="ctr" indent="0" marL="0">
              <a:buNone/>
            </a:pPr>
            <a:r>
              <a:rPr lang="en-US" sz="1800" dirty="0">
                <a:solidFill>
                  <a:srgbClr val="E8A020"/>
                </a:solidFill>
                <a:latin typeface="Calibri" pitchFamily="34" charset="0"/>
                <a:ea typeface="Calibri" pitchFamily="34" charset="-122"/>
                <a:cs typeface="Calibri" pitchFamily="34" charset="-120"/>
              </a:rPr>
              <a:t>An Autonomous Agentic Market Analyst — a research prototype of robo-advisory's next generation</a:t>
            </a:r>
            <a:endParaRPr lang="en-US" sz="1800" dirty="0"/>
          </a:p>
        </p:txBody>
      </p:sp>
      <p:sp>
        <p:nvSpPr>
          <p:cNvPr id="4" name="Text 2"/>
          <p:cNvSpPr/>
          <p:nvPr/>
        </p:nvSpPr>
        <p:spPr>
          <a:xfrm>
            <a:off x="1554480" y="3200400"/>
            <a:ext cx="9052560" cy="731520"/>
          </a:xfrm>
          <a:prstGeom prst="rect">
            <a:avLst/>
          </a:prstGeom>
          <a:noFill/>
          <a:ln/>
        </p:spPr>
        <p:txBody>
          <a:bodyPr wrap="square" lIns="0" tIns="0" rIns="0" bIns="0" rtlCol="0" anchor="ctr"/>
          <a:lstStyle/>
          <a:p>
            <a:pPr algn="ctr" indent="0" marL="0">
              <a:buNone/>
            </a:pPr>
            <a:r>
              <a:rPr lang="en-US" sz="1400" i="1" dirty="0">
                <a:solidFill>
                  <a:srgbClr val="E6EDF3"/>
                </a:solidFill>
                <a:latin typeface="Calibri" pitchFamily="34" charset="0"/>
                <a:ea typeface="Calibri" pitchFamily="34" charset="-122"/>
                <a:cs typeface="Calibri" pitchFamily="34" charset="-120"/>
              </a:rPr>
              <a:t>It scans 500 stocks nightly, builds risk-sized simulated portfolios, explains every decision on YouTube twice a day, and grades its own record in public — the advisor that shows its work.</a:t>
            </a:r>
            <a:endParaRPr lang="en-US" sz="1400" dirty="0"/>
          </a:p>
        </p:txBody>
      </p:sp>
      <p:sp>
        <p:nvSpPr>
          <p:cNvPr id="5" name="Text 3"/>
          <p:cNvSpPr/>
          <p:nvPr/>
        </p:nvSpPr>
        <p:spPr>
          <a:xfrm>
            <a:off x="1280160" y="4206240"/>
            <a:ext cx="9601200" cy="109728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JP Romero · Fordham MSAIB · July 29, 2026</a:t>
            </a:r>
            <a:endParaRPr lang="en-US" sz="1200" dirty="0"/>
          </a:p>
          <a:p>
            <a:pPr algn="ctr" indent="0" marL="0">
              <a:buNone/>
            </a:pPr>
            <a:r>
              <a:rPr lang="en-US" sz="1200" dirty="0">
                <a:solidFill>
                  <a:srgbClr val="8B949E"/>
                </a:solidFill>
                <a:latin typeface="Calibri" pitchFamily="34" charset="0"/>
                <a:ea typeface="Calibri" pitchFamily="34" charset="-122"/>
                <a:cs typeface="Calibri" pitchFamily="34" charset="-120"/>
              </a:rPr>
              <a:t>Research under Prof. Yi Tang's Stock Prediction initiative — methods and results open to review by finance quant faculty and students</a:t>
            </a:r>
            <a:endParaRPr lang="en-US" sz="1200" dirty="0"/>
          </a:p>
          <a:p>
            <a:pPr algn="ctr" indent="0" marL="0">
              <a:buNone/>
            </a:pPr>
            <a:r>
              <a:rPr lang="en-US" sz="1200" dirty="0">
                <a:solidFill>
                  <a:srgbClr val="8B949E"/>
                </a:solidFill>
                <a:latin typeface="Calibri" pitchFamily="34" charset="0"/>
                <a:ea typeface="Calibri" pitchFamily="34" charset="-122"/>
                <a:cs typeface="Calibri" pitchFamily="34" charset="-120"/>
              </a:rPr>
              <a:t>Advisors: Dr. Yilu Zhou · Prof. Markus Ettl · Prof. Yi Tang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SECTIONS 1–2 · THE CORE BUSINESS PROBLEM</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Human-Led Financial Decision-Making Is Expensive, Slow, and Emotional</a:t>
            </a:r>
            <a:endParaRPr lang="en-US" sz="2700" dirty="0"/>
          </a:p>
        </p:txBody>
      </p:sp>
      <p:sp>
        <p:nvSpPr>
          <p:cNvPr id="5" name="Shape 3"/>
          <p:cNvSpPr/>
          <p:nvPr/>
        </p:nvSpPr>
        <p:spPr>
          <a:xfrm>
            <a:off x="1280160" y="1371600"/>
            <a:ext cx="4023360" cy="868680"/>
          </a:xfrm>
          <a:prstGeom prst="roundRect">
            <a:avLst>
              <a:gd name="adj" fmla="val 8421"/>
            </a:avLst>
          </a:prstGeom>
          <a:solidFill>
            <a:srgbClr val="161B22"/>
          </a:solidFill>
          <a:ln w="19050">
            <a:solidFill>
              <a:srgbClr val="58A6FF"/>
            </a:solidFill>
            <a:prstDash val="solid"/>
          </a:ln>
        </p:spPr>
      </p:sp>
      <p:sp>
        <p:nvSpPr>
          <p:cNvPr id="6" name="Text 4"/>
          <p:cNvSpPr/>
          <p:nvPr/>
        </p:nvSpPr>
        <p:spPr>
          <a:xfrm>
            <a:off x="1417320" y="1444752"/>
            <a:ext cx="3749040" cy="274320"/>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TRADITIONAL WEALTH MANAGEMENT</a:t>
            </a:r>
            <a:endParaRPr lang="en-US" sz="1100" dirty="0"/>
          </a:p>
        </p:txBody>
      </p:sp>
      <p:sp>
        <p:nvSpPr>
          <p:cNvPr id="7" name="Text 5"/>
          <p:cNvSpPr/>
          <p:nvPr/>
        </p:nvSpPr>
        <p:spPr>
          <a:xfrm>
            <a:off x="1417320" y="1737360"/>
            <a:ext cx="3749040" cy="36576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high fees · human bias · slow execution</a:t>
            </a:r>
            <a:endParaRPr lang="en-US" sz="1150" dirty="0"/>
          </a:p>
        </p:txBody>
      </p:sp>
      <p:sp>
        <p:nvSpPr>
          <p:cNvPr id="8" name="Text 6"/>
          <p:cNvSpPr/>
          <p:nvPr/>
        </p:nvSpPr>
        <p:spPr>
          <a:xfrm>
            <a:off x="5349240" y="1572768"/>
            <a:ext cx="1737360" cy="457200"/>
          </a:xfrm>
          <a:prstGeom prst="rect">
            <a:avLst/>
          </a:prstGeom>
          <a:noFill/>
          <a:ln/>
        </p:spPr>
        <p:txBody>
          <a:bodyPr wrap="square" lIns="0" tIns="0" rIns="0" bIns="0" rtlCol="0" anchor="ctr"/>
          <a:lstStyle/>
          <a:p>
            <a:pPr algn="ctr" indent="0" marL="0">
              <a:buNone/>
            </a:pPr>
            <a:r>
              <a:rPr lang="en-US" sz="1250" b="1" dirty="0">
                <a:solidFill>
                  <a:srgbClr val="E8A020"/>
                </a:solidFill>
                <a:latin typeface="Calibri" pitchFamily="34" charset="0"/>
                <a:ea typeface="Calibri" pitchFamily="34" charset="-122"/>
                <a:cs typeface="Calibri" pitchFamily="34" charset="-120"/>
              </a:rPr>
              <a:t>→  solved by  →</a:t>
            </a:r>
            <a:endParaRPr lang="en-US" sz="1250" dirty="0"/>
          </a:p>
        </p:txBody>
      </p:sp>
      <p:sp>
        <p:nvSpPr>
          <p:cNvPr id="9" name="Shape 7"/>
          <p:cNvSpPr/>
          <p:nvPr/>
        </p:nvSpPr>
        <p:spPr>
          <a:xfrm>
            <a:off x="7132320" y="1371600"/>
            <a:ext cx="4023360" cy="868680"/>
          </a:xfrm>
          <a:prstGeom prst="roundRect">
            <a:avLst>
              <a:gd name="adj" fmla="val 8421"/>
            </a:avLst>
          </a:prstGeom>
          <a:solidFill>
            <a:srgbClr val="161B22"/>
          </a:solidFill>
          <a:ln w="19050">
            <a:solidFill>
              <a:srgbClr val="E8A020"/>
            </a:solidFill>
            <a:prstDash val="solid"/>
          </a:ln>
        </p:spPr>
      </p:sp>
      <p:sp>
        <p:nvSpPr>
          <p:cNvPr id="10" name="Text 8"/>
          <p:cNvSpPr/>
          <p:nvPr/>
        </p:nvSpPr>
        <p:spPr>
          <a:xfrm>
            <a:off x="7269480" y="1444752"/>
            <a:ext cx="3749040" cy="274320"/>
          </a:xfrm>
          <a:prstGeom prst="rect">
            <a:avLst/>
          </a:prstGeom>
          <a:noFill/>
          <a:ln/>
        </p:spPr>
        <p:txBody>
          <a:bodyPr wrap="square" lIns="0" tIns="0" rIns="0" bIns="0" rtlCol="0" anchor="ctr"/>
          <a:lstStyle/>
          <a:p>
            <a:pPr indent="0" marL="0">
              <a:buNone/>
            </a:pPr>
            <a:r>
              <a:rPr lang="en-US" sz="1100" b="1" dirty="0">
                <a:solidFill>
                  <a:srgbClr val="E8A020"/>
                </a:solidFill>
                <a:latin typeface="Calibri" pitchFamily="34" charset="0"/>
                <a:ea typeface="Calibri" pitchFamily="34" charset="-122"/>
                <a:cs typeface="Calibri" pitchFamily="34" charset="-120"/>
              </a:rPr>
              <a:t>ROBO-ADVISORS &amp; AGENTIC AI</a:t>
            </a:r>
            <a:endParaRPr lang="en-US" sz="1100" dirty="0"/>
          </a:p>
        </p:txBody>
      </p:sp>
      <p:sp>
        <p:nvSpPr>
          <p:cNvPr id="11" name="Text 9"/>
          <p:cNvSpPr/>
          <p:nvPr/>
        </p:nvSpPr>
        <p:spPr>
          <a:xfrm>
            <a:off x="7269480" y="1737360"/>
            <a:ext cx="3749040" cy="36576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low cost · algorithmic logic · real-time autonomy</a:t>
            </a:r>
            <a:endParaRPr lang="en-US" sz="1150" dirty="0"/>
          </a:p>
        </p:txBody>
      </p:sp>
      <p:sp>
        <p:nvSpPr>
          <p:cNvPr id="12" name="Text 10"/>
          <p:cNvSpPr/>
          <p:nvPr/>
        </p:nvSpPr>
        <p:spPr>
          <a:xfrm>
            <a:off x="1280160" y="2606040"/>
            <a:ext cx="9875520" cy="1737360"/>
          </a:xfrm>
          <a:prstGeom prst="rect">
            <a:avLst/>
          </a:prstGeom>
          <a:noFill/>
          <a:ln/>
        </p:spPr>
        <p:txBody>
          <a:bodyPr wrap="square" lIns="0" tIns="0" rIns="0" bIns="0" rtlCol="0" anchor="ctr"/>
          <a:lstStyle/>
          <a:p>
            <a:pPr indent="0" marL="0">
              <a:lnSpc>
                <a:spcPct val="125000"/>
              </a:lnSpc>
              <a:buNone/>
            </a:pPr>
            <a:r>
              <a:rPr lang="en-US" sz="1350" dirty="0">
                <a:solidFill>
                  <a:srgbClr val="E6EDF3"/>
                </a:solidFill>
                <a:latin typeface="Calibri" pitchFamily="34" charset="0"/>
                <a:ea typeface="Calibri" pitchFamily="34" charset="-122"/>
                <a:cs typeface="Calibri" pitchFamily="34" charset="-120"/>
              </a:rPr>
              <a:t>The fundamental problem that robo-advisors and agentic trading exist to solve is the inefficiency, cost, and emotional bias of human-led financial decision-making. Traditional wealth management needs $100,000-plus minimums to justify an advisor's time, and passes a 1–2% annual fee down to the client. Human investors panic-sell crashes, overbuy hype, and can process only a fraction of the market's data before fatigue sets in — while markets themselves move in milliseconds, far faster than human analysis and manual order routing. And hand-tailoring rebalancing, risk profiles, and tax optimization for thousands of individual accounts is humanly impossible: the mass-customization paradox.</a:t>
            </a:r>
            <a:endParaRPr lang="en-US" sz="1350" dirty="0"/>
          </a:p>
        </p:txBody>
      </p:sp>
      <p:sp>
        <p:nvSpPr>
          <p:cNvPr id="13" name="Text 11"/>
          <p:cNvSpPr/>
          <p:nvPr/>
        </p:nvSpPr>
        <p:spPr>
          <a:xfrm>
            <a:off x="1280160" y="4434840"/>
            <a:ext cx="9875520" cy="914400"/>
          </a:xfrm>
          <a:prstGeom prst="rect">
            <a:avLst/>
          </a:prstGeom>
          <a:noFill/>
          <a:ln/>
        </p:spPr>
        <p:txBody>
          <a:bodyPr wrap="square" lIns="0" tIns="0" rIns="0" bIns="0" rtlCol="0" anchor="ctr"/>
          <a:lstStyle/>
          <a:p>
            <a:pPr indent="0" marL="0">
              <a:lnSpc>
                <a:spcPct val="125000"/>
              </a:lnSpc>
              <a:buNone/>
            </a:pPr>
            <a:r>
              <a:rPr lang="en-US" sz="1350" dirty="0">
                <a:solidFill>
                  <a:srgbClr val="E6EDF3"/>
                </a:solidFill>
                <a:latin typeface="Calibri" pitchFamily="34" charset="0"/>
                <a:ea typeface="Calibri" pitchFamily="34" charset="-122"/>
                <a:cs typeface="Calibri" pitchFamily="34" charset="-120"/>
              </a:rPr>
              <a:t>Automation answers each of these at once: portfolios served profitably at $0–$500 minimums, management fees near 0.25%, logic-based strategies running 24/7 without emotion or cognitive limits, and personalization delivered at machine scale through daily automated account reviews.</a:t>
            </a:r>
            <a:endParaRPr lang="en-US" sz="1350" dirty="0"/>
          </a:p>
        </p:txBody>
      </p:sp>
      <p:sp>
        <p:nvSpPr>
          <p:cNvPr id="14" name="Text 12"/>
          <p:cNvSpPr/>
          <p:nvPr/>
        </p:nvSpPr>
        <p:spPr>
          <a:xfrm>
            <a:off x="1280160" y="5532120"/>
            <a:ext cx="9875520" cy="365760"/>
          </a:xfrm>
          <a:prstGeom prst="rect">
            <a:avLst/>
          </a:prstGeom>
          <a:noFill/>
          <a:ln/>
        </p:spPr>
        <p:txBody>
          <a:bodyPr wrap="square" lIns="0" tIns="0" rIns="0" bIns="0" rtlCol="0" anchor="ctr"/>
          <a:lstStyle/>
          <a:p>
            <a:pPr indent="0" marL="0">
              <a:buNone/>
            </a:pPr>
            <a:r>
              <a:rPr lang="en-US" sz="1250" b="1" i="1" dirty="0">
                <a:solidFill>
                  <a:srgbClr val="E8A020"/>
                </a:solidFill>
                <a:latin typeface="Calibri" pitchFamily="34" charset="0"/>
                <a:ea typeface="Calibri" pitchFamily="34" charset="-122"/>
                <a:cs typeface="Calibri" pitchFamily="34" charset="-120"/>
              </a:rPr>
              <a:t>The opportunity: $1T+ already managed · $18.5B→$67.8B by 2031 (29.6% CAGR). Cost is solved; conversation is not. That is OROS's gap.</a:t>
            </a:r>
            <a:endParaRPr lang="en-US" sz="1250" dirty="0"/>
          </a:p>
        </p:txBody>
      </p:sp>
      <p:sp>
        <p:nvSpPr>
          <p:cNvPr id="15" name="Text 13"/>
          <p:cNvSpPr/>
          <p:nvPr/>
        </p:nvSpPr>
        <p:spPr>
          <a:xfrm>
            <a:off x="502920" y="6199632"/>
            <a:ext cx="11155680" cy="274320"/>
          </a:xfrm>
          <a:prstGeom prst="rect">
            <a:avLst/>
          </a:prstGeom>
          <a:noFill/>
          <a:ln/>
        </p:spPr>
        <p:txBody>
          <a:bodyPr wrap="square" lIns="0" tIns="0" rIns="0" bIns="0" rtlCol="0" anchor="ctr"/>
          <a:lstStyle/>
          <a:p>
            <a:pPr indent="0" marL="0">
              <a:buNone/>
            </a:pPr>
            <a:r>
              <a:rPr lang="en-US" sz="800" i="1" dirty="0">
                <a:solidFill>
                  <a:srgbClr val="6E7681"/>
                </a:solidFill>
                <a:latin typeface="Calibri" pitchFamily="34" charset="0"/>
                <a:ea typeface="Calibri" pitchFamily="34" charset="-122"/>
                <a:cs typeface="Calibri" pitchFamily="34" charset="-120"/>
              </a:rPr>
              <a:t>Sources: cepr.org (Skiera robo-advisers) · researchgate.net robo-advisor design · condorcapital.com Robo Report · truthifi.com · tradealgo.com · investor.gov · investopedia.com · mordorintelligence.com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SECTIONS 1–2 · THE HUMAN COST</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Why This Problem Is Real — and Already Being Automated</a:t>
            </a:r>
            <a:endParaRPr lang="en-US" sz="2700" dirty="0"/>
          </a:p>
        </p:txBody>
      </p:sp>
      <p:pic>
        <p:nvPicPr>
          <p:cNvPr id="5" name="Image 0" descr="burnout.png">    </p:cNvPr>
          <p:cNvPicPr>
            <a:picLocks noChangeAspect="1"/>
          </p:cNvPicPr>
          <p:nvPr/>
        </p:nvPicPr>
        <p:blipFill>
          <a:blip r:embed="rId1"/>
          <a:stretch>
            <a:fillRect/>
          </a:stretch>
        </p:blipFill>
        <p:spPr>
          <a:xfrm>
            <a:off x="548640" y="1325880"/>
            <a:ext cx="3931920" cy="2944368"/>
          </a:xfrm>
          <a:prstGeom prst="rect">
            <a:avLst/>
          </a:prstGeom>
        </p:spPr>
      </p:pic>
      <p:pic>
        <p:nvPicPr>
          <p:cNvPr id="6" name="Image 1" descr="emotional.png">    </p:cNvPr>
          <p:cNvPicPr>
            <a:picLocks noChangeAspect="1"/>
          </p:cNvPicPr>
          <p:nvPr/>
        </p:nvPicPr>
        <p:blipFill>
          <a:blip r:embed="rId2"/>
          <a:stretch>
            <a:fillRect/>
          </a:stretch>
        </p:blipFill>
        <p:spPr>
          <a:xfrm>
            <a:off x="4617720" y="1325880"/>
            <a:ext cx="3931920" cy="2944368"/>
          </a:xfrm>
          <a:prstGeom prst="rect">
            <a:avLst/>
          </a:prstGeom>
        </p:spPr>
      </p:pic>
      <p:pic>
        <p:nvPicPr>
          <p:cNvPr id="7" name="Image 2" descr="shot_tradealgo.png">    </p:cNvPr>
          <p:cNvPicPr>
            <a:picLocks noChangeAspect="1"/>
          </p:cNvPicPr>
          <p:nvPr/>
        </p:nvPicPr>
        <p:blipFill>
          <a:blip r:embed="rId3"/>
          <a:stretch>
            <a:fillRect/>
          </a:stretch>
        </p:blipFill>
        <p:spPr>
          <a:xfrm>
            <a:off x="8686800" y="1325880"/>
            <a:ext cx="3017520" cy="1920240"/>
          </a:xfrm>
          <a:prstGeom prst="rect">
            <a:avLst/>
          </a:prstGeom>
        </p:spPr>
      </p:pic>
      <p:pic>
        <p:nvPicPr>
          <p:cNvPr id="8" name="Image 3" descr="shot_biz4.png">    </p:cNvPr>
          <p:cNvPicPr>
            <a:picLocks noChangeAspect="1"/>
          </p:cNvPicPr>
          <p:nvPr/>
        </p:nvPicPr>
        <p:blipFill>
          <a:blip r:embed="rId4"/>
          <a:stretch>
            <a:fillRect/>
          </a:stretch>
        </p:blipFill>
        <p:spPr>
          <a:xfrm>
            <a:off x="8686800" y="3401568"/>
            <a:ext cx="2331720" cy="2926080"/>
          </a:xfrm>
          <a:prstGeom prst="rect">
            <a:avLst/>
          </a:prstGeom>
        </p:spPr>
      </p:pic>
      <p:sp>
        <p:nvSpPr>
          <p:cNvPr id="9" name="Text 3"/>
          <p:cNvSpPr/>
          <p:nvPr/>
        </p:nvSpPr>
        <p:spPr>
          <a:xfrm>
            <a:off x="8686800" y="3291840"/>
            <a:ext cx="3017520" cy="0"/>
          </a:xfrm>
          <a:prstGeom prst="rect">
            <a:avLst/>
          </a:prstGeom>
          <a:noFill/>
          <a:ln/>
        </p:spPr>
        <p:txBody>
          <a:bodyPr wrap="square" lIns="0" tIns="0" rIns="0" bIns="0" rtlCol="0" anchor="ctr"/>
          <a:lstStyle/>
          <a:p>
            <a:pPr indent="0" marL="0">
              <a:buNone/>
            </a:pPr>
            <a:r>
              <a:rPr lang="en-US" sz="100" dirty="0">
                <a:solidFill>
                  <a:srgbClr val="0D1117"/>
                </a:solidFill>
                <a:latin typeface="Calibri" pitchFamily="34" charset="0"/>
                <a:ea typeface="Calibri" pitchFamily="34" charset="-122"/>
                <a:cs typeface="Calibri" pitchFamily="34" charset="-120"/>
              </a:rPr>
              <a:t>Algorithmic trading already accounts for 60–73% of ALL U.S. equity volume (TradeAlgo) — and the industry is racing to build more (Biz4Group, 2026).</a:t>
            </a:r>
            <a:endParaRPr lang="en-US" sz="100" dirty="0"/>
          </a:p>
        </p:txBody>
      </p:sp>
      <p:sp>
        <p:nvSpPr>
          <p:cNvPr id="10" name="Text 4"/>
          <p:cNvSpPr/>
          <p:nvPr/>
        </p:nvSpPr>
        <p:spPr>
          <a:xfrm>
            <a:off x="548640" y="4572000"/>
            <a:ext cx="8001000" cy="822960"/>
          </a:xfrm>
          <a:prstGeom prst="rect">
            <a:avLst/>
          </a:prstGeom>
          <a:noFill/>
          <a:ln/>
        </p:spPr>
        <p:txBody>
          <a:bodyPr wrap="square" lIns="0" tIns="0" rIns="0" bIns="0" rtlCol="0" anchor="ctr"/>
          <a:lstStyle/>
          <a:p>
            <a:pPr indent="0" marL="0">
              <a:lnSpc>
                <a:spcPct val="120000"/>
              </a:lnSpc>
              <a:buNone/>
            </a:pPr>
            <a:r>
              <a:rPr lang="en-US" sz="1300" i="1" dirty="0">
                <a:solidFill>
                  <a:srgbClr val="E8A020"/>
                </a:solidFill>
                <a:latin typeface="Calibri" pitchFamily="34" charset="0"/>
                <a:ea typeface="Calibri" pitchFamily="34" charset="-122"/>
                <a:cs typeface="Calibri" pitchFamily="34" charset="-120"/>
              </a:rPr>
              <a:t>The machines already trade most of the market. The humans left behind burn out at 3 AM or sell the panic — and no one shows them the reasoning. Transparency is not a feature request; it is governance.</a:t>
            </a:r>
            <a:endParaRPr lang="en-US" sz="1300" dirty="0"/>
          </a:p>
        </p:txBody>
      </p:sp>
      <p:sp>
        <p:nvSpPr>
          <p:cNvPr id="11" name="Text 5"/>
          <p:cNvSpPr/>
          <p:nvPr/>
        </p:nvSpPr>
        <p:spPr>
          <a:xfrm>
            <a:off x="548640" y="5623560"/>
            <a:ext cx="11064240" cy="3657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60–73% of U.S. equity volume is already algorithmic (TradeAlgo, 2026) · the build-a-bot industry is booming (Biz4Group)</a:t>
            </a:r>
            <a:endParaRPr lang="en-US" sz="1100" dirty="0"/>
          </a:p>
        </p:txBody>
      </p:sp>
      <p:sp>
        <p:nvSpPr>
          <p:cNvPr id="12" name="Text 6"/>
          <p:cNvSpPr/>
          <p:nvPr/>
        </p:nvSpPr>
        <p:spPr>
          <a:xfrm>
            <a:off x="502920" y="6199632"/>
            <a:ext cx="11155680" cy="274320"/>
          </a:xfrm>
          <a:prstGeom prst="rect">
            <a:avLst/>
          </a:prstGeom>
          <a:noFill/>
          <a:ln/>
        </p:spPr>
        <p:txBody>
          <a:bodyPr wrap="square" lIns="0" tIns="0" rIns="0" bIns="0" rtlCol="0" anchor="ctr"/>
          <a:lstStyle/>
          <a:p>
            <a:pPr indent="0" marL="0">
              <a:buNone/>
            </a:pPr>
            <a:r>
              <a:rPr lang="en-US" sz="800" i="1" dirty="0">
                <a:solidFill>
                  <a:srgbClr val="6E7681"/>
                </a:solidFill>
                <a:latin typeface="Calibri" pitchFamily="34" charset="0"/>
                <a:ea typeface="Calibri" pitchFamily="34" charset="-122"/>
                <a:cs typeface="Calibri" pitchFamily="34" charset="-120"/>
              </a:rPr>
              <a:t>Sources: tradealgo.com · biz4group.com · illustrations: OROS (original)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3 · CORE STAKEHOLDERS</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Builders, Users, and Regulators — the Whole Ecosystem Has Skin in This</a:t>
            </a:r>
            <a:endParaRPr lang="en-US" sz="2700" dirty="0"/>
          </a:p>
        </p:txBody>
      </p:sp>
      <p:sp>
        <p:nvSpPr>
          <p:cNvPr id="5" name="Shape 3"/>
          <p:cNvSpPr/>
          <p:nvPr/>
        </p:nvSpPr>
        <p:spPr>
          <a:xfrm>
            <a:off x="4069080" y="1298448"/>
            <a:ext cx="4023360" cy="731520"/>
          </a:xfrm>
          <a:prstGeom prst="roundRect">
            <a:avLst>
              <a:gd name="adj" fmla="val 10000"/>
            </a:avLst>
          </a:prstGeom>
          <a:solidFill>
            <a:srgbClr val="161B22"/>
          </a:solidFill>
          <a:ln w="19050">
            <a:solidFill>
              <a:srgbClr val="E8A020"/>
            </a:solidFill>
            <a:prstDash val="solid"/>
          </a:ln>
        </p:spPr>
      </p:sp>
      <p:sp>
        <p:nvSpPr>
          <p:cNvPr id="6" name="Text 4"/>
          <p:cNvSpPr/>
          <p:nvPr/>
        </p:nvSpPr>
        <p:spPr>
          <a:xfrm>
            <a:off x="4206240" y="1371600"/>
            <a:ext cx="3749040" cy="274320"/>
          </a:xfrm>
          <a:prstGeom prst="rect">
            <a:avLst/>
          </a:prstGeom>
          <a:noFill/>
          <a:ln/>
        </p:spPr>
        <p:txBody>
          <a:bodyPr wrap="square" lIns="0" tIns="0" rIns="0" bIns="0" rtlCol="0" anchor="ctr"/>
          <a:lstStyle/>
          <a:p>
            <a:pPr indent="0" marL="0">
              <a:buNone/>
            </a:pPr>
            <a:r>
              <a:rPr lang="en-US" sz="1100" b="1" dirty="0">
                <a:solidFill>
                  <a:srgbClr val="E8A020"/>
                </a:solidFill>
                <a:latin typeface="Calibri" pitchFamily="34" charset="0"/>
                <a:ea typeface="Calibri" pitchFamily="34" charset="-122"/>
                <a:cs typeface="Calibri" pitchFamily="34" charset="-120"/>
              </a:rPr>
              <a:t>REGULATORS — SEC · FINRA · Compliance</a:t>
            </a:r>
            <a:endParaRPr lang="en-US" sz="1100" dirty="0"/>
          </a:p>
        </p:txBody>
      </p:sp>
      <p:sp>
        <p:nvSpPr>
          <p:cNvPr id="7" name="Text 5"/>
          <p:cNvSpPr/>
          <p:nvPr/>
        </p:nvSpPr>
        <p:spPr>
          <a:xfrm>
            <a:off x="4206240" y="1645920"/>
            <a:ext cx="3749040" cy="32004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market integrity · algorithmic fairness · AI transparency</a:t>
            </a:r>
            <a:endParaRPr lang="en-US" sz="1000" dirty="0"/>
          </a:p>
        </p:txBody>
      </p:sp>
      <p:sp>
        <p:nvSpPr>
          <p:cNvPr id="8" name="Text 6"/>
          <p:cNvSpPr/>
          <p:nvPr/>
        </p:nvSpPr>
        <p:spPr>
          <a:xfrm>
            <a:off x="5870448" y="2048256"/>
            <a:ext cx="457200" cy="320040"/>
          </a:xfrm>
          <a:prstGeom prst="rect">
            <a:avLst/>
          </a:prstGeom>
          <a:noFill/>
          <a:ln/>
        </p:spPr>
        <p:txBody>
          <a:bodyPr wrap="square" lIns="0" tIns="0" rIns="0" bIns="0" rtlCol="0" anchor="ctr"/>
          <a:lstStyle/>
          <a:p>
            <a:pPr algn="ctr" indent="0" marL="0">
              <a:buNone/>
            </a:pPr>
            <a:r>
              <a:rPr lang="en-US" sz="1600" b="1" dirty="0">
                <a:solidFill>
                  <a:srgbClr val="E8A020"/>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640080" y="2395728"/>
            <a:ext cx="3337560" cy="777240"/>
          </a:xfrm>
          <a:prstGeom prst="roundRect">
            <a:avLst>
              <a:gd name="adj" fmla="val 9412"/>
            </a:avLst>
          </a:prstGeom>
          <a:solidFill>
            <a:srgbClr val="161B22"/>
          </a:solidFill>
          <a:ln w="19050">
            <a:solidFill>
              <a:srgbClr val="58A6FF"/>
            </a:solidFill>
            <a:prstDash val="solid"/>
          </a:ln>
        </p:spPr>
      </p:sp>
      <p:sp>
        <p:nvSpPr>
          <p:cNvPr id="10" name="Text 8"/>
          <p:cNvSpPr/>
          <p:nvPr/>
        </p:nvSpPr>
        <p:spPr>
          <a:xfrm>
            <a:off x="768096" y="2459736"/>
            <a:ext cx="3108960" cy="274320"/>
          </a:xfrm>
          <a:prstGeom prst="rect">
            <a:avLst/>
          </a:prstGeom>
          <a:noFill/>
          <a:ln/>
        </p:spPr>
        <p:txBody>
          <a:bodyPr wrap="square" lIns="0" tIns="0" rIns="0" bIns="0" rtlCol="0" anchor="ctr"/>
          <a:lstStyle/>
          <a:p>
            <a:pPr indent="0" marL="0">
              <a:buNone/>
            </a:pPr>
            <a:r>
              <a:rPr lang="en-US" sz="950" b="1" dirty="0">
                <a:solidFill>
                  <a:srgbClr val="58A6FF"/>
                </a:solidFill>
                <a:latin typeface="Calibri" pitchFamily="34" charset="0"/>
                <a:ea typeface="Calibri" pitchFamily="34" charset="-122"/>
                <a:cs typeface="Calibri" pitchFamily="34" charset="-120"/>
              </a:rPr>
              <a:t>RETAIL &amp; INSTITUTIONAL INVESTORS</a:t>
            </a:r>
            <a:endParaRPr lang="en-US" sz="950" dirty="0"/>
          </a:p>
        </p:txBody>
      </p:sp>
      <p:sp>
        <p:nvSpPr>
          <p:cNvPr id="11" name="Text 9"/>
          <p:cNvSpPr/>
          <p:nvPr/>
        </p:nvSpPr>
        <p:spPr>
          <a:xfrm>
            <a:off x="768096" y="2734056"/>
            <a:ext cx="3108960" cy="365760"/>
          </a:xfrm>
          <a:prstGeom prst="rect">
            <a:avLst/>
          </a:prstGeom>
          <a:noFill/>
          <a:ln/>
        </p:spPr>
        <p:txBody>
          <a:bodyPr wrap="square" lIns="0" tIns="0" rIns="0" bIns="0" rtlCol="0" anchor="ctr"/>
          <a:lstStyle/>
          <a:p>
            <a:pPr indent="0" marL="0">
              <a:buNone/>
            </a:pPr>
            <a:r>
              <a:rPr lang="en-US" sz="950" dirty="0">
                <a:solidFill>
                  <a:srgbClr val="E6EDF3"/>
                </a:solidFill>
                <a:latin typeface="Calibri" pitchFamily="34" charset="0"/>
                <a:ea typeface="Calibri" pitchFamily="34" charset="-122"/>
                <a:cs typeface="Calibri" pitchFamily="34" charset="-120"/>
              </a:rPr>
              <a:t>the capital — low fees, inclusion, alpha</a:t>
            </a:r>
            <a:endParaRPr lang="en-US" sz="950" dirty="0"/>
          </a:p>
        </p:txBody>
      </p:sp>
      <p:sp>
        <p:nvSpPr>
          <p:cNvPr id="12" name="Shape 10"/>
          <p:cNvSpPr/>
          <p:nvPr/>
        </p:nvSpPr>
        <p:spPr>
          <a:xfrm>
            <a:off x="4434840" y="2395728"/>
            <a:ext cx="3337560" cy="777240"/>
          </a:xfrm>
          <a:prstGeom prst="roundRect">
            <a:avLst>
              <a:gd name="adj" fmla="val 9412"/>
            </a:avLst>
          </a:prstGeom>
          <a:solidFill>
            <a:srgbClr val="161B22"/>
          </a:solidFill>
          <a:ln w="19050">
            <a:solidFill>
              <a:srgbClr val="58A6FF"/>
            </a:solidFill>
            <a:prstDash val="solid"/>
          </a:ln>
        </p:spPr>
      </p:sp>
      <p:sp>
        <p:nvSpPr>
          <p:cNvPr id="13" name="Text 11"/>
          <p:cNvSpPr/>
          <p:nvPr/>
        </p:nvSpPr>
        <p:spPr>
          <a:xfrm>
            <a:off x="4562856" y="2459736"/>
            <a:ext cx="3108960" cy="274320"/>
          </a:xfrm>
          <a:prstGeom prst="rect">
            <a:avLst/>
          </a:prstGeom>
          <a:noFill/>
          <a:ln/>
        </p:spPr>
        <p:txBody>
          <a:bodyPr wrap="square" lIns="0" tIns="0" rIns="0" bIns="0" rtlCol="0" anchor="ctr"/>
          <a:lstStyle/>
          <a:p>
            <a:pPr indent="0" marL="0">
              <a:buNone/>
            </a:pPr>
            <a:r>
              <a:rPr lang="en-US" sz="950" b="1" dirty="0">
                <a:solidFill>
                  <a:srgbClr val="58A6FF"/>
                </a:solidFill>
                <a:latin typeface="Calibri" pitchFamily="34" charset="0"/>
                <a:ea typeface="Calibri" pitchFamily="34" charset="-122"/>
                <a:cs typeface="Calibri" pitchFamily="34" charset="-120"/>
              </a:rPr>
              <a:t>FINANCIAL FIRMS — BANKS &amp; WEALTH</a:t>
            </a:r>
            <a:endParaRPr lang="en-US" sz="950" dirty="0"/>
          </a:p>
        </p:txBody>
      </p:sp>
      <p:sp>
        <p:nvSpPr>
          <p:cNvPr id="14" name="Text 12"/>
          <p:cNvSpPr/>
          <p:nvPr/>
        </p:nvSpPr>
        <p:spPr>
          <a:xfrm>
            <a:off x="4562856" y="2734056"/>
            <a:ext cx="3108960" cy="365760"/>
          </a:xfrm>
          <a:prstGeom prst="rect">
            <a:avLst/>
          </a:prstGeom>
          <a:noFill/>
          <a:ln/>
        </p:spPr>
        <p:txBody>
          <a:bodyPr wrap="square" lIns="0" tIns="0" rIns="0" bIns="0" rtlCol="0" anchor="ctr"/>
          <a:lstStyle/>
          <a:p>
            <a:pPr indent="0" marL="0">
              <a:buNone/>
            </a:pPr>
            <a:r>
              <a:rPr lang="en-US" sz="950" dirty="0">
                <a:solidFill>
                  <a:srgbClr val="E6EDF3"/>
                </a:solidFill>
                <a:latin typeface="Calibri" pitchFamily="34" charset="0"/>
                <a:ea typeface="Calibri" pitchFamily="34" charset="-122"/>
                <a:cs typeface="Calibri" pitchFamily="34" charset="-120"/>
              </a:rPr>
              <a:t>the service — scale, lower OpEx, new roles</a:t>
            </a:r>
            <a:endParaRPr lang="en-US" sz="950" dirty="0"/>
          </a:p>
        </p:txBody>
      </p:sp>
      <p:sp>
        <p:nvSpPr>
          <p:cNvPr id="15" name="Shape 13"/>
          <p:cNvSpPr/>
          <p:nvPr/>
        </p:nvSpPr>
        <p:spPr>
          <a:xfrm>
            <a:off x="8229600" y="2395728"/>
            <a:ext cx="3337560" cy="777240"/>
          </a:xfrm>
          <a:prstGeom prst="roundRect">
            <a:avLst>
              <a:gd name="adj" fmla="val 9412"/>
            </a:avLst>
          </a:prstGeom>
          <a:solidFill>
            <a:srgbClr val="161B22"/>
          </a:solidFill>
          <a:ln w="19050">
            <a:solidFill>
              <a:srgbClr val="58A6FF"/>
            </a:solidFill>
            <a:prstDash val="solid"/>
          </a:ln>
        </p:spPr>
      </p:sp>
      <p:sp>
        <p:nvSpPr>
          <p:cNvPr id="16" name="Text 14"/>
          <p:cNvSpPr/>
          <p:nvPr/>
        </p:nvSpPr>
        <p:spPr>
          <a:xfrm>
            <a:off x="8357616" y="2459736"/>
            <a:ext cx="3108960" cy="274320"/>
          </a:xfrm>
          <a:prstGeom prst="rect">
            <a:avLst/>
          </a:prstGeom>
          <a:noFill/>
          <a:ln/>
        </p:spPr>
        <p:txBody>
          <a:bodyPr wrap="square" lIns="0" tIns="0" rIns="0" bIns="0" rtlCol="0" anchor="ctr"/>
          <a:lstStyle/>
          <a:p>
            <a:pPr indent="0" marL="0">
              <a:buNone/>
            </a:pPr>
            <a:r>
              <a:rPr lang="en-US" sz="950" b="1" dirty="0">
                <a:solidFill>
                  <a:srgbClr val="58A6FF"/>
                </a:solidFill>
                <a:latin typeface="Calibri" pitchFamily="34" charset="0"/>
                <a:ea typeface="Calibri" pitchFamily="34" charset="-122"/>
                <a:cs typeface="Calibri" pitchFamily="34" charset="-120"/>
              </a:rPr>
              <a:t>TECH BUILDERS — AI, DATA, SECURITY</a:t>
            </a:r>
            <a:endParaRPr lang="en-US" sz="950" dirty="0"/>
          </a:p>
        </p:txBody>
      </p:sp>
      <p:sp>
        <p:nvSpPr>
          <p:cNvPr id="17" name="Text 15"/>
          <p:cNvSpPr/>
          <p:nvPr/>
        </p:nvSpPr>
        <p:spPr>
          <a:xfrm>
            <a:off x="8357616" y="2734056"/>
            <a:ext cx="3108960" cy="365760"/>
          </a:xfrm>
          <a:prstGeom prst="rect">
            <a:avLst/>
          </a:prstGeom>
          <a:noFill/>
          <a:ln/>
        </p:spPr>
        <p:txBody>
          <a:bodyPr wrap="square" lIns="0" tIns="0" rIns="0" bIns="0" rtlCol="0" anchor="ctr"/>
          <a:lstStyle/>
          <a:p>
            <a:pPr indent="0" marL="0">
              <a:buNone/>
            </a:pPr>
            <a:r>
              <a:rPr lang="en-US" sz="950" dirty="0">
                <a:solidFill>
                  <a:srgbClr val="E6EDF3"/>
                </a:solidFill>
                <a:latin typeface="Calibri" pitchFamily="34" charset="0"/>
                <a:ea typeface="Calibri" pitchFamily="34" charset="-122"/>
                <a:cs typeface="Calibri" pitchFamily="34" charset="-120"/>
              </a:rPr>
              <a:t>the machinery — models, feeds, safeguards</a:t>
            </a:r>
            <a:endParaRPr lang="en-US" sz="950" dirty="0"/>
          </a:p>
        </p:txBody>
      </p:sp>
      <p:sp>
        <p:nvSpPr>
          <p:cNvPr id="18" name="Text 16"/>
          <p:cNvSpPr/>
          <p:nvPr/>
        </p:nvSpPr>
        <p:spPr>
          <a:xfrm>
            <a:off x="4041648" y="2615184"/>
            <a:ext cx="384048" cy="320040"/>
          </a:xfrm>
          <a:prstGeom prst="rect">
            <a:avLst/>
          </a:prstGeom>
          <a:noFill/>
          <a:ln/>
        </p:spPr>
        <p:txBody>
          <a:bodyPr wrap="square" lIns="0" tIns="0" rIns="0" bIns="0" rtlCol="0" anchor="ctr"/>
          <a:lstStyle/>
          <a:p>
            <a:pPr algn="ctr" indent="0" marL="0">
              <a:buNone/>
            </a:pPr>
            <a:r>
              <a:rPr lang="en-US" sz="1500" b="1" dirty="0">
                <a:solidFill>
                  <a:srgbClr val="8B949E"/>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7818120" y="2615184"/>
            <a:ext cx="384048" cy="320040"/>
          </a:xfrm>
          <a:prstGeom prst="rect">
            <a:avLst/>
          </a:prstGeom>
          <a:noFill/>
          <a:ln/>
        </p:spPr>
        <p:txBody>
          <a:bodyPr wrap="square" lIns="0" tIns="0" rIns="0" bIns="0" rtlCol="0" anchor="ctr"/>
          <a:lstStyle/>
          <a:p>
            <a:pPr algn="ctr" indent="0" marL="0">
              <a:buNone/>
            </a:pPr>
            <a:r>
              <a:rPr lang="en-US" sz="1500" b="1" dirty="0">
                <a:solidFill>
                  <a:srgbClr val="8B949E"/>
                </a:solidFill>
                <a:latin typeface="Calibri" pitchFamily="34" charset="0"/>
                <a:ea typeface="Calibri" pitchFamily="34" charset="-122"/>
                <a:cs typeface="Calibri" pitchFamily="34" charset="-120"/>
              </a:rPr>
              <a:t>←</a:t>
            </a:r>
            <a:endParaRPr lang="en-US" sz="1500" dirty="0"/>
          </a:p>
        </p:txBody>
      </p:sp>
      <p:sp>
        <p:nvSpPr>
          <p:cNvPr id="20" name="Text 18"/>
          <p:cNvSpPr/>
          <p:nvPr/>
        </p:nvSpPr>
        <p:spPr>
          <a:xfrm>
            <a:off x="822960" y="3520440"/>
            <a:ext cx="10515600" cy="1920240"/>
          </a:xfrm>
          <a:prstGeom prst="rect">
            <a:avLst/>
          </a:prstGeom>
          <a:noFill/>
          <a:ln/>
        </p:spPr>
        <p:txBody>
          <a:bodyPr wrap="square" lIns="0" tIns="0" rIns="0" bIns="0" rtlCol="0" anchor="ctr"/>
          <a:lstStyle/>
          <a:p>
            <a:pPr indent="0" marL="0">
              <a:lnSpc>
                <a:spcPct val="125000"/>
              </a:lnSpc>
              <a:buNone/>
            </a:pPr>
            <a:r>
              <a:rPr lang="en-US" sz="1250" dirty="0">
                <a:solidFill>
                  <a:srgbClr val="E6EDF3"/>
                </a:solidFill>
                <a:latin typeface="Calibri" pitchFamily="34" charset="0"/>
                <a:ea typeface="Calibri" pitchFamily="34" charset="-122"/>
                <a:cs typeface="Calibri" pitchFamily="34" charset="-120"/>
              </a:rPr>
              <a:t>The stakeholders span the whole financial ecosystem — those who provide the capital, those who serve it, those who build the machinery, and those who police it. Retail investors want low-fee management and inclusion without six-figure minimums, while hedge funds and pension managers want alpha and cheaper execution. Wealth firms and banks gain scale and lower operating costs — as traditional advisors shift from portfolio construction toward coaching and estate planning. Behind them, FinTech engineers maintain the models and safeguards, data providers like Bloomberg supply the feeds, and cybersecurity teams protect the APIs from manipulation. Above it all, the SEC and FINRA — plus internal risk officers — enforce fairness, transparency, and fiduciary duty, watching for breached thresholds and flash crashes.</a:t>
            </a:r>
            <a:endParaRPr lang="en-US" sz="1250" dirty="0"/>
          </a:p>
        </p:txBody>
      </p:sp>
      <p:sp>
        <p:nvSpPr>
          <p:cNvPr id="21" name="Text 19"/>
          <p:cNvSpPr/>
          <p:nvPr/>
        </p:nvSpPr>
        <p:spPr>
          <a:xfrm>
            <a:off x="822960" y="5577840"/>
            <a:ext cx="10515600" cy="502920"/>
          </a:xfrm>
          <a:prstGeom prst="rect">
            <a:avLst/>
          </a:prstGeom>
          <a:noFill/>
          <a:ln/>
        </p:spPr>
        <p:txBody>
          <a:bodyPr wrap="square" lIns="0" tIns="0" rIns="0" bIns="0" rtlCol="0" anchor="ctr"/>
          <a:lstStyle/>
          <a:p>
            <a:pPr indent="0" marL="0">
              <a:buNone/>
            </a:pPr>
            <a:r>
              <a:rPr lang="en-US" sz="1250" b="1" i="1" dirty="0">
                <a:solidFill>
                  <a:srgbClr val="E8A020"/>
                </a:solidFill>
                <a:latin typeface="Calibri" pitchFamily="34" charset="0"/>
                <a:ea typeface="Calibri" pitchFamily="34" charset="-122"/>
                <a:cs typeface="Calibri" pitchFamily="34" charset="-120"/>
              </a:rPr>
              <a:t>OROS compresses this map into one transparent system: investor-facing doors (video, report, computation, chat), builder-grade journals — and a regulator's dream: every decision logged, disclosed, and never executed.</a:t>
            </a:r>
            <a:endParaRPr lang="en-US" sz="1250" dirty="0"/>
          </a:p>
        </p:txBody>
      </p:sp>
      <p:sp>
        <p:nvSpPr>
          <p:cNvPr id="22" name="Text 20"/>
          <p:cNvSpPr/>
          <p:nvPr/>
        </p:nvSpPr>
        <p:spPr>
          <a:xfrm>
            <a:off x="502920" y="6199632"/>
            <a:ext cx="11155680" cy="274320"/>
          </a:xfrm>
          <a:prstGeom prst="rect">
            <a:avLst/>
          </a:prstGeom>
          <a:noFill/>
          <a:ln/>
        </p:spPr>
        <p:txBody>
          <a:bodyPr wrap="square" lIns="0" tIns="0" rIns="0" bIns="0" rtlCol="0" anchor="ctr"/>
          <a:lstStyle/>
          <a:p>
            <a:pPr indent="0" marL="0">
              <a:buNone/>
            </a:pPr>
            <a:r>
              <a:rPr lang="en-US" sz="800" i="1" dirty="0">
                <a:solidFill>
                  <a:srgbClr val="6E7681"/>
                </a:solidFill>
                <a:latin typeface="Calibri" pitchFamily="34" charset="0"/>
                <a:ea typeface="Calibri" pitchFamily="34" charset="-122"/>
                <a:cs typeface="Calibri" pitchFamily="34" charset="-120"/>
              </a:rPr>
              <a:t>Sources: academic.oup.com (Current Legal Problems) · sec.gov · hedgefundalpha.com · investmentnews.com (SEC/UBS YES case) · siskolegal.com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4 · SOLUTION OVERVIEW</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An Agent Team, Not a Model — 31 Agents, Three Tiers</a:t>
            </a:r>
            <a:endParaRPr lang="en-US" sz="2700" dirty="0"/>
          </a:p>
        </p:txBody>
      </p:sp>
      <p:sp>
        <p:nvSpPr>
          <p:cNvPr id="5" name="Shape 3"/>
          <p:cNvSpPr/>
          <p:nvPr/>
        </p:nvSpPr>
        <p:spPr>
          <a:xfrm>
            <a:off x="502920" y="1371600"/>
            <a:ext cx="3383280" cy="548640"/>
          </a:xfrm>
          <a:prstGeom prst="roundRect">
            <a:avLst>
              <a:gd name="adj" fmla="val 10000"/>
            </a:avLst>
          </a:prstGeom>
          <a:solidFill>
            <a:srgbClr val="161B22"/>
          </a:solidFill>
          <a:ln w="12700">
            <a:solidFill>
              <a:srgbClr val="30363D"/>
            </a:solidFill>
            <a:prstDash val="solid"/>
          </a:ln>
        </p:spPr>
      </p:sp>
      <p:sp>
        <p:nvSpPr>
          <p:cNvPr id="6" name="Text 4"/>
          <p:cNvSpPr/>
          <p:nvPr/>
        </p:nvSpPr>
        <p:spPr>
          <a:xfrm>
            <a:off x="640080" y="1417320"/>
            <a:ext cx="3154680" cy="457200"/>
          </a:xfrm>
          <a:prstGeom prst="rect">
            <a:avLst/>
          </a:prstGeom>
          <a:noFill/>
          <a:ln/>
        </p:spPr>
        <p:txBody>
          <a:bodyPr wrap="square" lIns="0" tIns="0" rIns="0" bIns="0" rtlCol="0" anchor="ctr"/>
          <a:lstStyle/>
          <a:p>
            <a:pPr indent="0" marL="0">
              <a:buNone/>
            </a:pPr>
            <a:r>
              <a:rPr lang="en-US" sz="1150" b="1" dirty="0">
                <a:solidFill>
                  <a:srgbClr val="58A6FF"/>
                </a:solidFill>
                <a:latin typeface="Calibri" pitchFamily="34" charset="0"/>
                <a:ea typeface="Calibri" pitchFamily="34" charset="-122"/>
                <a:cs typeface="Calibri" pitchFamily="34" charset="-120"/>
              </a:rPr>
              <a:t>DataAgent</a:t>
            </a:r>
            <a:endParaRPr lang="en-US" sz="1150" dirty="0"/>
          </a:p>
        </p:txBody>
      </p:sp>
      <p:sp>
        <p:nvSpPr>
          <p:cNvPr id="7" name="Text 5"/>
          <p:cNvSpPr/>
          <p:nvPr/>
        </p:nvSpPr>
        <p:spPr>
          <a:xfrm>
            <a:off x="4023360" y="1389888"/>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prices · SEC XBRL · FRED · sentiment</a:t>
            </a:r>
            <a:endParaRPr lang="en-US" sz="1000" dirty="0"/>
          </a:p>
        </p:txBody>
      </p:sp>
      <p:sp>
        <p:nvSpPr>
          <p:cNvPr id="8" name="Shape 6"/>
          <p:cNvSpPr/>
          <p:nvPr/>
        </p:nvSpPr>
        <p:spPr>
          <a:xfrm>
            <a:off x="502920" y="2039112"/>
            <a:ext cx="3383280" cy="548640"/>
          </a:xfrm>
          <a:prstGeom prst="roundRect">
            <a:avLst>
              <a:gd name="adj" fmla="val 10000"/>
            </a:avLst>
          </a:prstGeom>
          <a:solidFill>
            <a:srgbClr val="161B22"/>
          </a:solidFill>
          <a:ln w="12700">
            <a:solidFill>
              <a:srgbClr val="30363D"/>
            </a:solidFill>
            <a:prstDash val="solid"/>
          </a:ln>
        </p:spPr>
      </p:sp>
      <p:sp>
        <p:nvSpPr>
          <p:cNvPr id="9" name="Text 7"/>
          <p:cNvSpPr/>
          <p:nvPr/>
        </p:nvSpPr>
        <p:spPr>
          <a:xfrm>
            <a:off x="640080" y="2084832"/>
            <a:ext cx="3154680" cy="457200"/>
          </a:xfrm>
          <a:prstGeom prst="rect">
            <a:avLst/>
          </a:prstGeom>
          <a:noFill/>
          <a:ln/>
        </p:spPr>
        <p:txBody>
          <a:bodyPr wrap="square" lIns="0" tIns="0" rIns="0" bIns="0" rtlCol="0" anchor="ctr"/>
          <a:lstStyle/>
          <a:p>
            <a:pPr indent="0" marL="0">
              <a:buNone/>
            </a:pPr>
            <a:r>
              <a:rPr lang="en-US" sz="1150" b="1" dirty="0">
                <a:solidFill>
                  <a:srgbClr val="E8A020"/>
                </a:solidFill>
                <a:latin typeface="Calibri" pitchFamily="34" charset="0"/>
                <a:ea typeface="Calibri" pitchFamily="34" charset="-122"/>
                <a:cs typeface="Calibri" pitchFamily="34" charset="-120"/>
              </a:rPr>
              <a:t>RegimeAgent</a:t>
            </a:r>
            <a:endParaRPr lang="en-US" sz="1150" dirty="0"/>
          </a:p>
        </p:txBody>
      </p:sp>
      <p:sp>
        <p:nvSpPr>
          <p:cNvPr id="10" name="Text 8"/>
          <p:cNvSpPr/>
          <p:nvPr/>
        </p:nvSpPr>
        <p:spPr>
          <a:xfrm>
            <a:off x="4023360" y="2057400"/>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the whole market's stage + VIX → risk appetite</a:t>
            </a:r>
            <a:endParaRPr lang="en-US" sz="1000" dirty="0"/>
          </a:p>
        </p:txBody>
      </p:sp>
      <p:sp>
        <p:nvSpPr>
          <p:cNvPr id="11" name="Shape 9"/>
          <p:cNvSpPr/>
          <p:nvPr/>
        </p:nvSpPr>
        <p:spPr>
          <a:xfrm>
            <a:off x="502920" y="2706624"/>
            <a:ext cx="3383280" cy="548640"/>
          </a:xfrm>
          <a:prstGeom prst="roundRect">
            <a:avLst>
              <a:gd name="adj" fmla="val 10000"/>
            </a:avLst>
          </a:prstGeom>
          <a:solidFill>
            <a:srgbClr val="161B22"/>
          </a:solidFill>
          <a:ln w="12700">
            <a:solidFill>
              <a:srgbClr val="30363D"/>
            </a:solidFill>
            <a:prstDash val="solid"/>
          </a:ln>
        </p:spPr>
      </p:sp>
      <p:sp>
        <p:nvSpPr>
          <p:cNvPr id="12" name="Text 10"/>
          <p:cNvSpPr/>
          <p:nvPr/>
        </p:nvSpPr>
        <p:spPr>
          <a:xfrm>
            <a:off x="640080" y="2752344"/>
            <a:ext cx="3154680" cy="457200"/>
          </a:xfrm>
          <a:prstGeom prst="rect">
            <a:avLst/>
          </a:prstGeom>
          <a:noFill/>
          <a:ln/>
        </p:spPr>
        <p:txBody>
          <a:bodyPr wrap="square" lIns="0" tIns="0" rIns="0" bIns="0" rtlCol="0" anchor="ctr"/>
          <a:lstStyle/>
          <a:p>
            <a:pPr indent="0" marL="0">
              <a:buNone/>
            </a:pPr>
            <a:r>
              <a:rPr lang="en-US" sz="1150" b="1" dirty="0">
                <a:solidFill>
                  <a:srgbClr val="3FB950"/>
                </a:solidFill>
                <a:latin typeface="Calibri" pitchFamily="34" charset="0"/>
                <a:ea typeface="Calibri" pitchFamily="34" charset="-122"/>
                <a:cs typeface="Calibri" pitchFamily="34" charset="-120"/>
              </a:rPr>
              <a:t>ScannerAgent + Classifier</a:t>
            </a:r>
            <a:endParaRPr lang="en-US" sz="1150" dirty="0"/>
          </a:p>
        </p:txBody>
      </p:sp>
      <p:sp>
        <p:nvSpPr>
          <p:cNvPr id="13" name="Text 11"/>
          <p:cNvSpPr/>
          <p:nvPr/>
        </p:nvSpPr>
        <p:spPr>
          <a:xfrm>
            <a:off x="4023360" y="2724912"/>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500 names staged nightly; each ticker routed to its sector specialist</a:t>
            </a:r>
            <a:endParaRPr lang="en-US" sz="1000" dirty="0"/>
          </a:p>
        </p:txBody>
      </p:sp>
      <p:sp>
        <p:nvSpPr>
          <p:cNvPr id="14" name="Shape 12"/>
          <p:cNvSpPr/>
          <p:nvPr/>
        </p:nvSpPr>
        <p:spPr>
          <a:xfrm>
            <a:off x="502920" y="3374136"/>
            <a:ext cx="3383280" cy="548640"/>
          </a:xfrm>
          <a:prstGeom prst="roundRect">
            <a:avLst>
              <a:gd name="adj" fmla="val 10000"/>
            </a:avLst>
          </a:prstGeom>
          <a:solidFill>
            <a:srgbClr val="161B22"/>
          </a:solidFill>
          <a:ln w="12700">
            <a:solidFill>
              <a:srgbClr val="30363D"/>
            </a:solidFill>
            <a:prstDash val="solid"/>
          </a:ln>
        </p:spPr>
      </p:sp>
      <p:sp>
        <p:nvSpPr>
          <p:cNvPr id="15" name="Text 13"/>
          <p:cNvSpPr/>
          <p:nvPr/>
        </p:nvSpPr>
        <p:spPr>
          <a:xfrm>
            <a:off x="640080" y="3419856"/>
            <a:ext cx="3154680" cy="457200"/>
          </a:xfrm>
          <a:prstGeom prst="rect">
            <a:avLst/>
          </a:prstGeom>
          <a:noFill/>
          <a:ln/>
        </p:spPr>
        <p:txBody>
          <a:bodyPr wrap="square" lIns="0" tIns="0" rIns="0" bIns="0" rtlCol="0" anchor="ctr"/>
          <a:lstStyle/>
          <a:p>
            <a:pPr indent="0" marL="0">
              <a:buNone/>
            </a:pPr>
            <a:r>
              <a:rPr lang="en-US" sz="1150" b="1" dirty="0">
                <a:solidFill>
                  <a:srgbClr val="E6EDF3"/>
                </a:solidFill>
                <a:latin typeface="Calibri" pitchFamily="34" charset="0"/>
                <a:ea typeface="Calibri" pitchFamily="34" charset="-122"/>
                <a:cs typeface="Calibri" pitchFamily="34" charset="-120"/>
              </a:rPr>
              <a:t>RouterAgent + MemoryAgent</a:t>
            </a:r>
            <a:endParaRPr lang="en-US" sz="1150" dirty="0"/>
          </a:p>
        </p:txBody>
      </p:sp>
      <p:sp>
        <p:nvSpPr>
          <p:cNvPr id="16" name="Text 14"/>
          <p:cNvSpPr/>
          <p:nvPr/>
        </p:nvSpPr>
        <p:spPr>
          <a:xfrm>
            <a:off x="4023360" y="3392424"/>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blends 8 strategy traditions; tilts toward what has WORKED (forward record)</a:t>
            </a:r>
            <a:endParaRPr lang="en-US" sz="1000" dirty="0"/>
          </a:p>
        </p:txBody>
      </p:sp>
      <p:sp>
        <p:nvSpPr>
          <p:cNvPr id="17" name="Shape 15"/>
          <p:cNvSpPr/>
          <p:nvPr/>
        </p:nvSpPr>
        <p:spPr>
          <a:xfrm>
            <a:off x="502920" y="4041648"/>
            <a:ext cx="3383280" cy="548640"/>
          </a:xfrm>
          <a:prstGeom prst="roundRect">
            <a:avLst>
              <a:gd name="adj" fmla="val 10000"/>
            </a:avLst>
          </a:prstGeom>
          <a:solidFill>
            <a:srgbClr val="161B22"/>
          </a:solidFill>
          <a:ln w="12700">
            <a:solidFill>
              <a:srgbClr val="30363D"/>
            </a:solidFill>
            <a:prstDash val="solid"/>
          </a:ln>
        </p:spPr>
      </p:sp>
      <p:sp>
        <p:nvSpPr>
          <p:cNvPr id="18" name="Text 16"/>
          <p:cNvSpPr/>
          <p:nvPr/>
        </p:nvSpPr>
        <p:spPr>
          <a:xfrm>
            <a:off x="640080" y="4087368"/>
            <a:ext cx="3154680" cy="457200"/>
          </a:xfrm>
          <a:prstGeom prst="rect">
            <a:avLst/>
          </a:prstGeom>
          <a:noFill/>
          <a:ln/>
        </p:spPr>
        <p:txBody>
          <a:bodyPr wrap="square" lIns="0" tIns="0" rIns="0" bIns="0" rtlCol="0" anchor="ctr"/>
          <a:lstStyle/>
          <a:p>
            <a:pPr indent="0" marL="0">
              <a:buNone/>
            </a:pPr>
            <a:r>
              <a:rPr lang="en-US" sz="1150" b="1" dirty="0">
                <a:solidFill>
                  <a:srgbClr val="3FB950"/>
                </a:solidFill>
                <a:latin typeface="Calibri" pitchFamily="34" charset="0"/>
                <a:ea typeface="Calibri" pitchFamily="34" charset="-122"/>
                <a:cs typeface="Calibri" pitchFamily="34" charset="-120"/>
              </a:rPr>
              <a:t>ConstructionAgent</a:t>
            </a:r>
            <a:endParaRPr lang="en-US" sz="1150" dirty="0"/>
          </a:p>
        </p:txBody>
      </p:sp>
      <p:sp>
        <p:nvSpPr>
          <p:cNvPr id="19" name="Text 17"/>
          <p:cNvSpPr/>
          <p:nvPr/>
        </p:nvSpPr>
        <p:spPr>
          <a:xfrm>
            <a:off x="4023360" y="4059936"/>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selects and risk-sizes one concentrated book</a:t>
            </a:r>
            <a:endParaRPr lang="en-US" sz="1000" dirty="0"/>
          </a:p>
        </p:txBody>
      </p:sp>
      <p:sp>
        <p:nvSpPr>
          <p:cNvPr id="20" name="Shape 18"/>
          <p:cNvSpPr/>
          <p:nvPr/>
        </p:nvSpPr>
        <p:spPr>
          <a:xfrm>
            <a:off x="502920" y="4709160"/>
            <a:ext cx="3383280" cy="548640"/>
          </a:xfrm>
          <a:prstGeom prst="roundRect">
            <a:avLst>
              <a:gd name="adj" fmla="val 10000"/>
            </a:avLst>
          </a:prstGeom>
          <a:solidFill>
            <a:srgbClr val="161B22"/>
          </a:solidFill>
          <a:ln w="12700">
            <a:solidFill>
              <a:srgbClr val="30363D"/>
            </a:solidFill>
            <a:prstDash val="solid"/>
          </a:ln>
        </p:spPr>
      </p:sp>
      <p:sp>
        <p:nvSpPr>
          <p:cNvPr id="21" name="Text 19"/>
          <p:cNvSpPr/>
          <p:nvPr/>
        </p:nvSpPr>
        <p:spPr>
          <a:xfrm>
            <a:off x="640080" y="4754880"/>
            <a:ext cx="3154680" cy="457200"/>
          </a:xfrm>
          <a:prstGeom prst="rect">
            <a:avLst/>
          </a:prstGeom>
          <a:noFill/>
          <a:ln/>
        </p:spPr>
        <p:txBody>
          <a:bodyPr wrap="square" lIns="0" tIns="0" rIns="0" bIns="0" rtlCol="0" anchor="ctr"/>
          <a:lstStyle/>
          <a:p>
            <a:pPr indent="0" marL="0">
              <a:buNone/>
            </a:pPr>
            <a:r>
              <a:rPr lang="en-US" sz="1150" b="1" dirty="0">
                <a:solidFill>
                  <a:srgbClr val="F85149"/>
                </a:solidFill>
                <a:latin typeface="Calibri" pitchFamily="34" charset="0"/>
                <a:ea typeface="Calibri" pitchFamily="34" charset="-122"/>
                <a:cs typeface="Calibri" pitchFamily="34" charset="-120"/>
              </a:rPr>
              <a:t>RiskAgent — veto power</a:t>
            </a:r>
            <a:endParaRPr lang="en-US" sz="1150" dirty="0"/>
          </a:p>
        </p:txBody>
      </p:sp>
      <p:sp>
        <p:nvSpPr>
          <p:cNvPr id="22" name="Text 20"/>
          <p:cNvSpPr/>
          <p:nvPr/>
        </p:nvSpPr>
        <p:spPr>
          <a:xfrm>
            <a:off x="4023360" y="4727448"/>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1.25%/name · 6% wallet · sector caps · earnings blackouts · throttle</a:t>
            </a:r>
            <a:endParaRPr lang="en-US" sz="1000" dirty="0"/>
          </a:p>
        </p:txBody>
      </p:sp>
      <p:sp>
        <p:nvSpPr>
          <p:cNvPr id="23" name="Shape 21"/>
          <p:cNvSpPr/>
          <p:nvPr/>
        </p:nvSpPr>
        <p:spPr>
          <a:xfrm>
            <a:off x="502920" y="5376672"/>
            <a:ext cx="3383280" cy="548640"/>
          </a:xfrm>
          <a:prstGeom prst="roundRect">
            <a:avLst>
              <a:gd name="adj" fmla="val 10000"/>
            </a:avLst>
          </a:prstGeom>
          <a:solidFill>
            <a:srgbClr val="161B22"/>
          </a:solidFill>
          <a:ln w="12700">
            <a:solidFill>
              <a:srgbClr val="30363D"/>
            </a:solidFill>
            <a:prstDash val="solid"/>
          </a:ln>
        </p:spPr>
      </p:sp>
      <p:sp>
        <p:nvSpPr>
          <p:cNvPr id="24" name="Text 22"/>
          <p:cNvSpPr/>
          <p:nvPr/>
        </p:nvSpPr>
        <p:spPr>
          <a:xfrm>
            <a:off x="640080" y="5422392"/>
            <a:ext cx="3154680" cy="457200"/>
          </a:xfrm>
          <a:prstGeom prst="rect">
            <a:avLst/>
          </a:prstGeom>
          <a:noFill/>
          <a:ln/>
        </p:spPr>
        <p:txBody>
          <a:bodyPr wrap="square" lIns="0" tIns="0" rIns="0" bIns="0" rtlCol="0" anchor="ctr"/>
          <a:lstStyle/>
          <a:p>
            <a:pPr indent="0" marL="0">
              <a:buNone/>
            </a:pPr>
            <a:r>
              <a:rPr lang="en-US" sz="1150" b="1" dirty="0">
                <a:solidFill>
                  <a:srgbClr val="E8A020"/>
                </a:solidFill>
                <a:latin typeface="Calibri" pitchFamily="34" charset="0"/>
                <a:ea typeface="Calibri" pitchFamily="34" charset="-122"/>
                <a:cs typeface="Calibri" pitchFamily="34" charset="-120"/>
              </a:rPr>
              <a:t>The Desk</a:t>
            </a:r>
            <a:endParaRPr lang="en-US" sz="1150" dirty="0"/>
          </a:p>
        </p:txBody>
      </p:sp>
      <p:sp>
        <p:nvSpPr>
          <p:cNvPr id="25" name="Text 23"/>
          <p:cNvSpPr/>
          <p:nvPr/>
        </p:nvSpPr>
        <p:spPr>
          <a:xfrm>
            <a:off x="4023360" y="5394960"/>
            <a:ext cx="3291840" cy="51206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renders, voices, publishes, emails — then grades itself at the close</a:t>
            </a:r>
            <a:endParaRPr lang="en-US" sz="1000" dirty="0"/>
          </a:p>
        </p:txBody>
      </p:sp>
      <p:sp>
        <p:nvSpPr>
          <p:cNvPr id="26" name="Shape 24"/>
          <p:cNvSpPr/>
          <p:nvPr/>
        </p:nvSpPr>
        <p:spPr>
          <a:xfrm>
            <a:off x="7543800" y="1371600"/>
            <a:ext cx="4160520" cy="3291840"/>
          </a:xfrm>
          <a:prstGeom prst="roundRect">
            <a:avLst>
              <a:gd name="adj" fmla="val 2222"/>
            </a:avLst>
          </a:prstGeom>
          <a:solidFill>
            <a:srgbClr val="161B22"/>
          </a:solidFill>
          <a:ln w="12700">
            <a:solidFill>
              <a:srgbClr val="30363D"/>
            </a:solidFill>
            <a:prstDash val="solid"/>
          </a:ln>
        </p:spPr>
      </p:sp>
      <p:sp>
        <p:nvSpPr>
          <p:cNvPr id="27" name="Text 25"/>
          <p:cNvSpPr/>
          <p:nvPr/>
        </p:nvSpPr>
        <p:spPr>
          <a:xfrm>
            <a:off x="7726680" y="1481328"/>
            <a:ext cx="3840480" cy="2743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THE SPECIALIST BENCH — 18 sector agents</a:t>
            </a:r>
            <a:endParaRPr lang="en-US" sz="1200" dirty="0"/>
          </a:p>
        </p:txBody>
      </p:sp>
      <p:sp>
        <p:nvSpPr>
          <p:cNvPr id="28" name="Text 26"/>
          <p:cNvSpPr/>
          <p:nvPr/>
        </p:nvSpPr>
        <p:spPr>
          <a:xfrm>
            <a:off x="7726680" y="1810512"/>
            <a:ext cx="3840480" cy="1554480"/>
          </a:xfrm>
          <a:prstGeom prst="rect">
            <a:avLst/>
          </a:prstGeom>
          <a:noFill/>
          <a:ln/>
        </p:spPr>
        <p:txBody>
          <a:bodyPr wrap="square" lIns="0" tIns="0" rIns="0" bIns="0" rtlCol="0" anchor="ctr"/>
          <a:lstStyle/>
          <a:p>
            <a:pPr indent="0" marL="0">
              <a:lnSpc>
                <a:spcPct val="120000"/>
              </a:lnSpc>
              <a:buNone/>
            </a:pPr>
            <a:r>
              <a:rPr lang="en-US" sz="1050" dirty="0">
                <a:solidFill>
                  <a:srgbClr val="E6EDF3"/>
                </a:solidFill>
                <a:latin typeface="Calibri" pitchFamily="34" charset="0"/>
                <a:ea typeface="Calibri" pitchFamily="34" charset="-122"/>
                <a:cs typeface="Calibri" pitchFamily="34" charset="-120"/>
              </a:rPr>
              <a:t>REIT · Bank · Insurance · Energy · Utilities · Industrials · Defense · Semiconductors · Software · Tech · AI-Compute · Consumer · Healthcare · Pharma &amp; MedDevice · Biotech · Infrastructure · Funds/ETF · Generic</a:t>
            </a:r>
            <a:endParaRPr lang="en-US" sz="1050" dirty="0"/>
          </a:p>
        </p:txBody>
      </p:sp>
      <p:sp>
        <p:nvSpPr>
          <p:cNvPr id="29" name="Text 27"/>
          <p:cNvSpPr/>
          <p:nvPr/>
        </p:nvSpPr>
        <p:spPr>
          <a:xfrm>
            <a:off x="7726680" y="3429000"/>
            <a:ext cx="3840480" cy="1097280"/>
          </a:xfrm>
          <a:prstGeom prst="rect">
            <a:avLst/>
          </a:prstGeom>
          <a:noFill/>
          <a:ln/>
        </p:spPr>
        <p:txBody>
          <a:bodyPr wrap="square" lIns="0" tIns="0" rIns="0" bIns="0" rtlCol="0" anchor="ctr"/>
          <a:lstStyle/>
          <a:p>
            <a:pPr indent="0" marL="0">
              <a:buNone/>
            </a:pPr>
            <a:r>
              <a:rPr lang="en-US" sz="950" i="1" dirty="0">
                <a:solidFill>
                  <a:srgbClr val="8B949E"/>
                </a:solidFill>
                <a:latin typeface="Calibri" pitchFamily="34" charset="0"/>
                <a:ea typeface="Calibri" pitchFamily="34" charset="-122"/>
                <a:cs typeface="Calibri" pitchFamily="34" charset="-120"/>
              </a:rPr>
              <a:t>Each reads its industry's own SEC filings with sector-specific tools — a REIT is graded on FFO, a bank on deposits, a biotech on its pipeline.</a:t>
            </a:r>
            <a:endParaRPr lang="en-US" sz="950" dirty="0"/>
          </a:p>
        </p:txBody>
      </p:sp>
      <p:sp>
        <p:nvSpPr>
          <p:cNvPr id="30" name="Shape 28"/>
          <p:cNvSpPr/>
          <p:nvPr/>
        </p:nvSpPr>
        <p:spPr>
          <a:xfrm>
            <a:off x="7543800" y="4800600"/>
            <a:ext cx="4160520" cy="1234440"/>
          </a:xfrm>
          <a:prstGeom prst="roundRect">
            <a:avLst>
              <a:gd name="adj" fmla="val 5926"/>
            </a:avLst>
          </a:prstGeom>
          <a:solidFill>
            <a:srgbClr val="161B22"/>
          </a:solidFill>
          <a:ln w="12700">
            <a:solidFill>
              <a:srgbClr val="30363D"/>
            </a:solidFill>
            <a:prstDash val="solid"/>
          </a:ln>
        </p:spPr>
      </p:sp>
      <p:sp>
        <p:nvSpPr>
          <p:cNvPr id="31" name="Text 29"/>
          <p:cNvSpPr/>
          <p:nvPr/>
        </p:nvSpPr>
        <p:spPr>
          <a:xfrm>
            <a:off x="7726680" y="4937760"/>
            <a:ext cx="3840480" cy="960120"/>
          </a:xfrm>
          <a:prstGeom prst="rect">
            <a:avLst/>
          </a:prstGeom>
          <a:noFill/>
          <a:ln/>
        </p:spPr>
        <p:txBody>
          <a:bodyPr wrap="square" lIns="0" tIns="0" rIns="0" bIns="0" rtlCol="0" anchor="ctr"/>
          <a:lstStyle/>
          <a:p>
            <a:pPr indent="0" marL="0">
              <a:lnSpc>
                <a:spcPct val="130000"/>
              </a:lnSpc>
              <a:buNone/>
            </a:pPr>
            <a:r>
              <a:rPr lang="en-US" sz="1050" dirty="0">
                <a:solidFill>
                  <a:srgbClr val="E6EDF3"/>
                </a:solidFill>
                <a:latin typeface="Calibri" pitchFamily="34" charset="0"/>
                <a:ea typeface="Calibri" pitchFamily="34" charset="-122"/>
                <a:cs typeface="Calibri" pitchFamily="34" charset="-120"/>
              </a:rPr>
              <a:t>RESEARCH VOICES — Chartist Strategist · Sentiment Analyst</a:t>
            </a:r>
            <a:endParaRPr lang="en-US" sz="1050" dirty="0"/>
          </a:p>
          <a:p>
            <a:pPr indent="0" marL="0">
              <a:lnSpc>
                <a:spcPct val="130000"/>
              </a:lnSpc>
              <a:buNone/>
            </a:pPr>
            <a:r>
              <a:rPr lang="en-US" sz="1050" dirty="0">
                <a:solidFill>
                  <a:srgbClr val="E6EDF3"/>
                </a:solidFill>
                <a:latin typeface="Calibri" pitchFamily="34" charset="0"/>
                <a:ea typeface="Calibri" pitchFamily="34" charset="-122"/>
                <a:cs typeface="Calibri" pitchFamily="34" charset="-120"/>
              </a:rPr>
              <a:t>DIALOGUE — Ask OROS · Script Assistant · Claude Scout</a:t>
            </a:r>
            <a:endParaRPr lang="en-US" sz="1050" dirty="0"/>
          </a:p>
        </p:txBody>
      </p:sp>
      <p:sp>
        <p:nvSpPr>
          <p:cNvPr id="32" name="Text 30"/>
          <p:cNvSpPr/>
          <p:nvPr/>
        </p:nvSpPr>
        <p:spPr>
          <a:xfrm>
            <a:off x="502920" y="5870448"/>
            <a:ext cx="11201400" cy="384048"/>
          </a:xfrm>
          <a:prstGeom prst="rect">
            <a:avLst/>
          </a:prstGeom>
          <a:noFill/>
          <a:ln/>
        </p:spPr>
        <p:txBody>
          <a:bodyPr wrap="square" lIns="0" tIns="0" rIns="0" bIns="0" rtlCol="0" anchor="ctr"/>
          <a:lstStyle/>
          <a:p>
            <a:pPr indent="0" marL="0">
              <a:buNone/>
            </a:pPr>
            <a:r>
              <a:rPr lang="en-US" sz="1200" i="1" dirty="0">
                <a:solidFill>
                  <a:srgbClr val="E8A020"/>
                </a:solidFill>
                <a:latin typeface="Calibri" pitchFamily="34" charset="0"/>
                <a:ea typeface="Calibri" pitchFamily="34" charset="-122"/>
                <a:cs typeface="Calibri" pitchFamily="34" charset="-120"/>
              </a:rPr>
              <a:t>The doctrine: agents nominate and narrate; deterministic arithmetic sizes every position. A hallucination cannot size a trade.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4 · SOLUTION — TRANSPARENCY BY DESIGN</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The Agents Work With the Door Open</a:t>
            </a:r>
            <a:endParaRPr lang="en-US" sz="2700" dirty="0"/>
          </a:p>
        </p:txBody>
      </p:sp>
      <p:pic>
        <p:nvPicPr>
          <p:cNvPr id="5" name="Image 0" descr="image13.png">    </p:cNvPr>
          <p:cNvPicPr>
            <a:picLocks noChangeAspect="1"/>
          </p:cNvPicPr>
          <p:nvPr/>
        </p:nvPicPr>
        <p:blipFill>
          <a:blip r:embed="rId1"/>
          <a:stretch>
            <a:fillRect/>
          </a:stretch>
        </p:blipFill>
        <p:spPr>
          <a:xfrm>
            <a:off x="548640" y="1371600"/>
            <a:ext cx="5532120" cy="3108960"/>
          </a:xfrm>
          <a:prstGeom prst="rect">
            <a:avLst/>
          </a:prstGeom>
        </p:spPr>
      </p:pic>
      <p:sp>
        <p:nvSpPr>
          <p:cNvPr id="6" name="Text 3"/>
          <p:cNvSpPr/>
          <p:nvPr/>
        </p:nvSpPr>
        <p:spPr>
          <a:xfrm>
            <a:off x="548640" y="4535424"/>
            <a:ext cx="553212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Inside the app: the Sector Specialist's tool calls render LIVE — every SEC lookup, every claim, visible as the agent works.</a:t>
            </a:r>
            <a:endParaRPr lang="en-US" sz="1050" dirty="0"/>
          </a:p>
        </p:txBody>
      </p:sp>
      <p:pic>
        <p:nvPicPr>
          <p:cNvPr id="7" name="Image 1" descr="yt_playlist.png">    </p:cNvPr>
          <p:cNvPicPr>
            <a:picLocks noChangeAspect="1"/>
          </p:cNvPicPr>
          <p:nvPr/>
        </p:nvPicPr>
        <p:blipFill>
          <a:blip r:embed="rId2"/>
          <a:stretch>
            <a:fillRect/>
          </a:stretch>
        </p:blipFill>
        <p:spPr>
          <a:xfrm>
            <a:off x="6263640" y="1371600"/>
            <a:ext cx="5532120" cy="3108960"/>
          </a:xfrm>
          <a:prstGeom prst="rect">
            <a:avLst/>
          </a:prstGeom>
        </p:spPr>
      </p:pic>
      <p:sp>
        <p:nvSpPr>
          <p:cNvPr id="8" name="Text 4"/>
          <p:cNvSpPr/>
          <p:nvPr/>
        </p:nvSpPr>
        <p:spPr>
          <a:xfrm>
            <a:off x="6263640" y="4535424"/>
            <a:ext cx="553212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Outside the app: the public channel — every conclusion broadcast, timestamped, wins and quiet days alike, no edits, no deletions.</a:t>
            </a:r>
            <a:endParaRPr lang="en-US" sz="1050" dirty="0"/>
          </a:p>
        </p:txBody>
      </p:sp>
      <p:sp>
        <p:nvSpPr>
          <p:cNvPr id="9" name="Text 5"/>
          <p:cNvSpPr/>
          <p:nvPr/>
        </p:nvSpPr>
        <p:spPr>
          <a:xfrm>
            <a:off x="548640" y="5029200"/>
            <a:ext cx="11109960" cy="548640"/>
          </a:xfrm>
          <a:prstGeom prst="rect">
            <a:avLst/>
          </a:prstGeom>
          <a:noFill/>
          <a:ln/>
        </p:spPr>
        <p:txBody>
          <a:bodyPr wrap="square" lIns="0" tIns="0" rIns="0" bIns="0" rtlCol="0" anchor="ctr"/>
          <a:lstStyle/>
          <a:p>
            <a:pPr indent="0" marL="0">
              <a:lnSpc>
                <a:spcPct val="120000"/>
              </a:lnSpc>
              <a:buNone/>
            </a:pPr>
            <a:r>
              <a:rPr lang="en-US" sz="1300" b="1" i="1" dirty="0">
                <a:solidFill>
                  <a:srgbClr val="E8A020"/>
                </a:solidFill>
                <a:latin typeface="Calibri" pitchFamily="34" charset="0"/>
                <a:ea typeface="Calibri" pitchFamily="34" charset="-122"/>
                <a:cs typeface="Calibri" pitchFamily="34" charset="-120"/>
              </a:rPr>
              <a:t>Openness is the product's trust engine: the workflow is watchable inside, the record is auditable outside. A robo-advisor asks for trust; OROS manufactures it by exposure.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5 · DATA SOURCES</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Where Every Number Comes From — and the System Cites It Itself</a:t>
            </a:r>
            <a:endParaRPr lang="en-US" sz="2700" dirty="0"/>
          </a:p>
        </p:txBody>
      </p:sp>
      <p:pic>
        <p:nvPicPr>
          <p:cNvPr id="5" name="Image 0" descr="shot_sources.png">    </p:cNvPr>
          <p:cNvPicPr>
            <a:picLocks noChangeAspect="1"/>
          </p:cNvPicPr>
          <p:nvPr/>
        </p:nvPicPr>
        <p:blipFill>
          <a:blip r:embed="rId1"/>
          <a:stretch>
            <a:fillRect/>
          </a:stretch>
        </p:blipFill>
        <p:spPr>
          <a:xfrm>
            <a:off x="502920" y="1325880"/>
            <a:ext cx="6126480" cy="3456432"/>
          </a:xfrm>
          <a:prstGeom prst="rect">
            <a:avLst/>
          </a:prstGeom>
        </p:spPr>
      </p:pic>
      <p:sp>
        <p:nvSpPr>
          <p:cNvPr id="6" name="Text 3"/>
          <p:cNvSpPr/>
          <p:nvPr/>
        </p:nvSpPr>
        <p:spPr>
          <a:xfrm>
            <a:off x="502920" y="4837176"/>
            <a:ext cx="612648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Every research memo ends like this: numbered footnotes, source provenance, and live SEC EDGAR links — written by the agents, per claim.</a:t>
            </a:r>
            <a:endParaRPr lang="en-US" sz="1050" dirty="0"/>
          </a:p>
        </p:txBody>
      </p:sp>
      <p:sp>
        <p:nvSpPr>
          <p:cNvPr id="7" name="Shape 4"/>
          <p:cNvSpPr/>
          <p:nvPr/>
        </p:nvSpPr>
        <p:spPr>
          <a:xfrm>
            <a:off x="6812280" y="1325880"/>
            <a:ext cx="4892040" cy="4023360"/>
          </a:xfrm>
          <a:prstGeom prst="roundRect">
            <a:avLst>
              <a:gd name="adj" fmla="val 1818"/>
            </a:avLst>
          </a:prstGeom>
          <a:solidFill>
            <a:srgbClr val="161B22"/>
          </a:solidFill>
          <a:ln w="12700">
            <a:solidFill>
              <a:srgbClr val="30363D"/>
            </a:solidFill>
            <a:prstDash val="solid"/>
          </a:ln>
        </p:spPr>
      </p:sp>
      <p:sp>
        <p:nvSpPr>
          <p:cNvPr id="8" name="Text 5"/>
          <p:cNvSpPr/>
          <p:nvPr/>
        </p:nvSpPr>
        <p:spPr>
          <a:xfrm>
            <a:off x="6995160" y="1444752"/>
            <a:ext cx="4572000" cy="256032"/>
          </a:xfrm>
          <a:prstGeom prst="rect">
            <a:avLst/>
          </a:prstGeom>
          <a:noFill/>
          <a:ln/>
        </p:spPr>
        <p:txBody>
          <a:bodyPr wrap="square" lIns="0" tIns="0" rIns="0" bIns="0" rtlCol="0" anchor="ctr"/>
          <a:lstStyle/>
          <a:p>
            <a:pPr indent="0" marL="0">
              <a:buNone/>
            </a:pPr>
            <a:r>
              <a:rPr lang="en-US" sz="1150" b="1" dirty="0">
                <a:solidFill>
                  <a:srgbClr val="58A6FF"/>
                </a:solidFill>
                <a:latin typeface="Calibri" pitchFamily="34" charset="0"/>
                <a:ea typeface="Calibri" pitchFamily="34" charset="-122"/>
                <a:cs typeface="Calibri" pitchFamily="34" charset="-120"/>
              </a:rPr>
              <a:t>STRUCTURED</a:t>
            </a:r>
            <a:endParaRPr lang="en-US" sz="1150" dirty="0"/>
          </a:p>
        </p:txBody>
      </p:sp>
      <p:sp>
        <p:nvSpPr>
          <p:cNvPr id="9" name="Text 6"/>
          <p:cNvSpPr/>
          <p:nvPr/>
        </p:nvSpPr>
        <p:spPr>
          <a:xfrm>
            <a:off x="6995160" y="1719072"/>
            <a:ext cx="4572000" cy="1051560"/>
          </a:xfrm>
          <a:prstGeom prst="rect">
            <a:avLst/>
          </a:prstGeom>
          <a:noFill/>
          <a:ln/>
        </p:spPr>
        <p:txBody>
          <a:bodyPr wrap="square" lIns="0" tIns="0" rIns="0" bIns="0" rtlCol="0" anchor="ctr"/>
          <a:lstStyle/>
          <a:p>
            <a:pPr indent="0" marL="0">
              <a:lnSpc>
                <a:spcPct val="115000"/>
              </a:lnSpc>
              <a:buNone/>
            </a:pPr>
            <a:r>
              <a:rPr lang="en-US" sz="1050" dirty="0">
                <a:solidFill>
                  <a:srgbClr val="E6EDF3"/>
                </a:solidFill>
                <a:latin typeface="Calibri" pitchFamily="34" charset="0"/>
                <a:ea typeface="Calibri" pitchFamily="34" charset="-122"/>
                <a:cs typeface="Calibri" pitchFamily="34" charset="-120"/>
              </a:rPr>
              <a:t>SEC EDGAR — XBRL financial facts + 10-K filings (rate-limited, cached, compliant User-Agent) · Nasdaq Trader listings + SEC ticker map (~8,000 symbols → the OROS 500) · Yahoo Finance daily prices, whole universe, cached nightly · FRED macro series · VIX</a:t>
            </a:r>
            <a:endParaRPr lang="en-US" sz="1050" dirty="0"/>
          </a:p>
        </p:txBody>
      </p:sp>
      <p:sp>
        <p:nvSpPr>
          <p:cNvPr id="10" name="Text 7"/>
          <p:cNvSpPr/>
          <p:nvPr/>
        </p:nvSpPr>
        <p:spPr>
          <a:xfrm>
            <a:off x="6995160" y="2852928"/>
            <a:ext cx="4572000" cy="256032"/>
          </a:xfrm>
          <a:prstGeom prst="rect">
            <a:avLst/>
          </a:prstGeom>
          <a:noFill/>
          <a:ln/>
        </p:spPr>
        <p:txBody>
          <a:bodyPr wrap="square" lIns="0" tIns="0" rIns="0" bIns="0" rtlCol="0" anchor="ctr"/>
          <a:lstStyle/>
          <a:p>
            <a:pPr indent="0" marL="0">
              <a:buNone/>
            </a:pPr>
            <a:r>
              <a:rPr lang="en-US" sz="1150" b="1" dirty="0">
                <a:solidFill>
                  <a:srgbClr val="58A6FF"/>
                </a:solidFill>
                <a:latin typeface="Calibri" pitchFamily="34" charset="0"/>
                <a:ea typeface="Calibri" pitchFamily="34" charset="-122"/>
                <a:cs typeface="Calibri" pitchFamily="34" charset="-120"/>
              </a:rPr>
              <a:t>UNSTRUCTURED</a:t>
            </a:r>
            <a:endParaRPr lang="en-US" sz="1150" dirty="0"/>
          </a:p>
        </p:txBody>
      </p:sp>
      <p:sp>
        <p:nvSpPr>
          <p:cNvPr id="11" name="Text 8"/>
          <p:cNvSpPr/>
          <p:nvPr/>
        </p:nvSpPr>
        <p:spPr>
          <a:xfrm>
            <a:off x="6995160" y="3127248"/>
            <a:ext cx="4572000" cy="868680"/>
          </a:xfrm>
          <a:prstGeom prst="rect">
            <a:avLst/>
          </a:prstGeom>
          <a:noFill/>
          <a:ln/>
        </p:spPr>
        <p:txBody>
          <a:bodyPr wrap="square" lIns="0" tIns="0" rIns="0" bIns="0" rtlCol="0" anchor="ctr"/>
          <a:lstStyle/>
          <a:p>
            <a:pPr indent="0" marL="0">
              <a:lnSpc>
                <a:spcPct val="115000"/>
              </a:lnSpc>
              <a:buNone/>
            </a:pPr>
            <a:r>
              <a:rPr lang="en-US" sz="1050" dirty="0">
                <a:solidFill>
                  <a:srgbClr val="E6EDF3"/>
                </a:solidFill>
                <a:latin typeface="Calibri" pitchFamily="34" charset="0"/>
                <a:ea typeface="Calibri" pitchFamily="34" charset="-122"/>
                <a:cs typeface="Calibri" pitchFamily="34" charset="-120"/>
              </a:rPr>
              <a:t>10-K text, chunked section-aware into a ChromaDB vector store (RAG: Items 1, 1A, 7) · news headlines scored by VADER sentiment (Alpha Vantage optional, quota-gated) · StockTwits social attention — the 'crowded' flag</a:t>
            </a:r>
            <a:endParaRPr lang="en-US" sz="1050" dirty="0"/>
          </a:p>
        </p:txBody>
      </p:sp>
      <p:sp>
        <p:nvSpPr>
          <p:cNvPr id="12" name="Text 9"/>
          <p:cNvSpPr/>
          <p:nvPr/>
        </p:nvSpPr>
        <p:spPr>
          <a:xfrm>
            <a:off x="6995160" y="4069080"/>
            <a:ext cx="4572000" cy="256032"/>
          </a:xfrm>
          <a:prstGeom prst="rect">
            <a:avLst/>
          </a:prstGeom>
          <a:noFill/>
          <a:ln/>
        </p:spPr>
        <p:txBody>
          <a:bodyPr wrap="square" lIns="0" tIns="0" rIns="0" bIns="0" rtlCol="0" anchor="ctr"/>
          <a:lstStyle/>
          <a:p>
            <a:pPr indent="0" marL="0">
              <a:buNone/>
            </a:pPr>
            <a:r>
              <a:rPr lang="en-US" sz="1150" b="1" dirty="0">
                <a:solidFill>
                  <a:srgbClr val="E8A020"/>
                </a:solidFill>
                <a:latin typeface="Calibri" pitchFamily="34" charset="0"/>
                <a:ea typeface="Calibri" pitchFamily="34" charset="-122"/>
                <a:cs typeface="Calibri" pitchFamily="34" charset="-120"/>
              </a:rPr>
              <a:t>STATED LIMITS</a:t>
            </a:r>
            <a:endParaRPr lang="en-US" sz="1150" dirty="0"/>
          </a:p>
        </p:txBody>
      </p:sp>
      <p:sp>
        <p:nvSpPr>
          <p:cNvPr id="13" name="Text 10"/>
          <p:cNvSpPr/>
          <p:nvPr/>
        </p:nvSpPr>
        <p:spPr>
          <a:xfrm>
            <a:off x="6995160" y="4343400"/>
            <a:ext cx="4572000" cy="868680"/>
          </a:xfrm>
          <a:prstGeom prst="rect">
            <a:avLst/>
          </a:prstGeom>
          <a:noFill/>
          <a:ln/>
        </p:spPr>
        <p:txBody>
          <a:bodyPr wrap="square" lIns="0" tIns="0" rIns="0" bIns="0" rtlCol="0" anchor="ctr"/>
          <a:lstStyle/>
          <a:p>
            <a:pPr indent="0" marL="0">
              <a:lnSpc>
                <a:spcPct val="115000"/>
              </a:lnSpc>
              <a:buNone/>
            </a:pPr>
            <a:r>
              <a:rPr lang="en-US" sz="1050" dirty="0">
                <a:solidFill>
                  <a:srgbClr val="E6EDF3"/>
                </a:solidFill>
                <a:latin typeface="Calibri" pitchFamily="34" charset="0"/>
                <a:ea typeface="Calibri" pitchFamily="34" charset="-122"/>
                <a:cs typeface="Calibri" pitchFamily="34" charset="-120"/>
              </a:rPr>
              <a:t>Free-tier quotes can lag 15+ minutes · fundamentals arrive on filing lag · news quotas fall back to VADER · strategy books inform priors — attribution only, no text reproduced</a:t>
            </a:r>
            <a:endParaRPr lang="en-US" sz="1050" dirty="0"/>
          </a:p>
        </p:txBody>
      </p:sp>
      <p:sp>
        <p:nvSpPr>
          <p:cNvPr id="14" name="Text 11"/>
          <p:cNvSpPr/>
          <p:nvPr/>
        </p:nvSpPr>
        <p:spPr>
          <a:xfrm>
            <a:off x="502920" y="5532120"/>
            <a:ext cx="11201400" cy="457200"/>
          </a:xfrm>
          <a:prstGeom prst="rect">
            <a:avLst/>
          </a:prstGeom>
          <a:noFill/>
          <a:ln/>
        </p:spPr>
        <p:txBody>
          <a:bodyPr wrap="square" lIns="0" tIns="0" rIns="0" bIns="0" rtlCol="0" anchor="ctr"/>
          <a:lstStyle/>
          <a:p>
            <a:pPr indent="0" marL="0">
              <a:buNone/>
            </a:pPr>
            <a:r>
              <a:rPr lang="en-US" sz="1250" b="1" i="1" dirty="0">
                <a:solidFill>
                  <a:srgbClr val="E8A020"/>
                </a:solidFill>
                <a:latin typeface="Calibri" pitchFamily="34" charset="0"/>
                <a:ea typeface="Calibri" pitchFamily="34" charset="-122"/>
                <a:cs typeface="Calibri" pitchFamily="34" charset="-120"/>
              </a:rPr>
              <a:t>The provenance rule: no number is spoken on any surface that is not journaled first — and no claim appears in a memo without a footnote.</a:t>
            </a:r>
            <a:endParaRPr lang="en-US" sz="1250" dirty="0"/>
          </a:p>
        </p:txBody>
      </p:sp>
      <p:sp>
        <p:nvSpPr>
          <p:cNvPr id="15" name="Text 12"/>
          <p:cNvSpPr/>
          <p:nvPr/>
        </p:nvSpPr>
        <p:spPr>
          <a:xfrm>
            <a:off x="502920" y="6199632"/>
            <a:ext cx="11155680" cy="274320"/>
          </a:xfrm>
          <a:prstGeom prst="rect">
            <a:avLst/>
          </a:prstGeom>
          <a:noFill/>
          <a:ln/>
        </p:spPr>
        <p:txBody>
          <a:bodyPr wrap="square" lIns="0" tIns="0" rIns="0" bIns="0" rtlCol="0" anchor="ctr"/>
          <a:lstStyle/>
          <a:p>
            <a:pPr indent="0" marL="0">
              <a:buNone/>
            </a:pPr>
            <a:r>
              <a:rPr lang="en-US" sz="800" i="1" dirty="0">
                <a:solidFill>
                  <a:srgbClr val="6E7681"/>
                </a:solidFill>
                <a:latin typeface="Calibri" pitchFamily="34" charset="0"/>
                <a:ea typeface="Calibri" pitchFamily="34" charset="-122"/>
                <a:cs typeface="Calibri" pitchFamily="34" charset="-120"/>
              </a:rPr>
              <a:t>Primary sources: sec.gov/EDGAR · fred.stlouisfed.org · nasdaqtrader.com · Yahoo Finance · StockTwits · Alpha Vantage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SCANNER</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ScannerAgent: 494 Names Graded Overnight, Every Morning</a:t>
            </a:r>
            <a:endParaRPr lang="en-US" sz="2700" dirty="0"/>
          </a:p>
        </p:txBody>
      </p:sp>
      <p:pic>
        <p:nvPicPr>
          <p:cNvPr id="5" name="Image 0" descr="image1.png">    </p:cNvPr>
          <p:cNvPicPr>
            <a:picLocks noChangeAspect="1"/>
          </p:cNvPicPr>
          <p:nvPr/>
        </p:nvPicPr>
        <p:blipFill>
          <a:blip r:embed="rId1"/>
          <a:stretch>
            <a:fillRect/>
          </a:stretch>
        </p:blipFill>
        <p:spPr>
          <a:xfrm>
            <a:off x="822960" y="1371600"/>
            <a:ext cx="10515600" cy="4617720"/>
          </a:xfrm>
          <a:prstGeom prst="rect">
            <a:avLst/>
          </a:prstGeom>
        </p:spPr>
      </p:pic>
      <p:sp>
        <p:nvSpPr>
          <p:cNvPr id="6" name="Text 3"/>
          <p:cNvSpPr/>
          <p:nvPr/>
        </p:nvSpPr>
        <p:spPr>
          <a:xfrm>
            <a:off x="822960" y="6044184"/>
            <a:ext cx="105156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The OROS 500 graded into four stages — clickable stage schematics, membership list, CSV export. Same figures the broadcast reports: one journal, three surfaces.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GATES</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Discipline You Can Point At: Both Gates Must Pass</a:t>
            </a:r>
            <a:endParaRPr lang="en-US" sz="2700" dirty="0"/>
          </a:p>
        </p:txBody>
      </p:sp>
      <p:pic>
        <p:nvPicPr>
          <p:cNvPr id="5" name="Image 0" descr="image3.png">    </p:cNvPr>
          <p:cNvPicPr>
            <a:picLocks noChangeAspect="1"/>
          </p:cNvPicPr>
          <p:nvPr/>
        </p:nvPicPr>
        <p:blipFill>
          <a:blip r:embed="rId1"/>
          <a:stretch>
            <a:fillRect/>
          </a:stretch>
        </p:blipFill>
        <p:spPr>
          <a:xfrm>
            <a:off x="822960" y="1371600"/>
            <a:ext cx="10515600" cy="4617720"/>
          </a:xfrm>
          <a:prstGeom prst="rect">
            <a:avLst/>
          </a:prstGeom>
        </p:spPr>
      </p:pic>
      <p:sp>
        <p:nvSpPr>
          <p:cNvPr id="6" name="Text 3"/>
          <p:cNvSpPr/>
          <p:nvPr/>
        </p:nvSpPr>
        <p:spPr>
          <a:xfrm>
            <a:off x="822960" y="6044184"/>
            <a:ext cx="105156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ABNB: Stage 2, bull probability 85% — and still not a BUY, because the volume gate failed. The system refuses good-looking names without proof of strength.</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AGENTIC BUILD</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Robo-Advisor · Regime-Aware, Multi-Strategy Construction</a:t>
            </a:r>
            <a:endParaRPr lang="en-US" sz="2700" dirty="0"/>
          </a:p>
        </p:txBody>
      </p:sp>
      <p:pic>
        <p:nvPicPr>
          <p:cNvPr id="5" name="Image 0" descr="image7.png">    </p:cNvPr>
          <p:cNvPicPr>
            <a:picLocks noChangeAspect="1"/>
          </p:cNvPicPr>
          <p:nvPr/>
        </p:nvPicPr>
        <p:blipFill>
          <a:blip r:embed="rId1"/>
          <a:stretch>
            <a:fillRect/>
          </a:stretch>
        </p:blipFill>
        <p:spPr>
          <a:xfrm>
            <a:off x="822960" y="1371600"/>
            <a:ext cx="10515600" cy="4617720"/>
          </a:xfrm>
          <a:prstGeom prst="rect">
            <a:avLst/>
          </a:prstGeom>
        </p:spPr>
      </p:pic>
      <p:sp>
        <p:nvSpPr>
          <p:cNvPr id="6" name="Text 3"/>
          <p:cNvSpPr/>
          <p:nvPr/>
        </p:nvSpPr>
        <p:spPr>
          <a:xfrm>
            <a:off x="822960" y="6044184"/>
            <a:ext cx="105156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One click: regime read, blend chosen, 12 positions selected and risk-sized, 33/100 risk score — journaled, with the bench (excluded names + reasons) underneath.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SAME MANDATE, TWO SCOUTS</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“Claude Asked for NVIDIA. The Arithmetic Said No.”</a:t>
            </a:r>
            <a:endParaRPr lang="en-US" sz="2700" dirty="0"/>
          </a:p>
        </p:txBody>
      </p:sp>
      <p:pic>
        <p:nvPicPr>
          <p:cNvPr id="5" name="Image 0" descr="quant_book.png">    </p:cNvPr>
          <p:cNvPicPr>
            <a:picLocks noChangeAspect="1"/>
          </p:cNvPicPr>
          <p:nvPr/>
        </p:nvPicPr>
        <p:blipFill>
          <a:blip r:embed="rId1"/>
          <a:stretch>
            <a:fillRect/>
          </a:stretch>
        </p:blipFill>
        <p:spPr>
          <a:xfrm>
            <a:off x="502920" y="1371600"/>
            <a:ext cx="5532120" cy="3108960"/>
          </a:xfrm>
          <a:prstGeom prst="rect">
            <a:avLst/>
          </a:prstGeom>
        </p:spPr>
      </p:pic>
      <p:sp>
        <p:nvSpPr>
          <p:cNvPr id="6" name="Text 3"/>
          <p:cNvSpPr/>
          <p:nvPr/>
        </p:nvSpPr>
        <p:spPr>
          <a:xfrm>
            <a:off x="502920" y="4535424"/>
            <a:ext cx="553212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Quant scout: 15 boring, diversified holdings — 77% deployed.</a:t>
            </a:r>
            <a:endParaRPr lang="en-US" sz="1050" dirty="0"/>
          </a:p>
        </p:txBody>
      </p:sp>
      <p:pic>
        <p:nvPicPr>
          <p:cNvPr id="7" name="Image 1" descr="claude_audition.png">    </p:cNvPr>
          <p:cNvPicPr>
            <a:picLocks noChangeAspect="1"/>
          </p:cNvPicPr>
          <p:nvPr/>
        </p:nvPicPr>
        <p:blipFill>
          <a:blip r:embed="rId2"/>
          <a:stretch>
            <a:fillRect/>
          </a:stretch>
        </p:blipFill>
        <p:spPr>
          <a:xfrm>
            <a:off x="6172200" y="1371600"/>
            <a:ext cx="5532120" cy="3108960"/>
          </a:xfrm>
          <a:prstGeom prst="rect">
            <a:avLst/>
          </a:prstGeom>
        </p:spPr>
      </p:pic>
      <p:sp>
        <p:nvSpPr>
          <p:cNvPr id="8" name="Text 4"/>
          <p:cNvSpPr/>
          <p:nvPr/>
        </p:nvSpPr>
        <p:spPr>
          <a:xfrm>
            <a:off x="6172200" y="4535424"/>
            <a:ext cx="553212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Claude scout: 30 famous nominations — the gates elected 12, held 53% cash.</a:t>
            </a:r>
            <a:endParaRPr lang="en-US" sz="1050" dirty="0"/>
          </a:p>
        </p:txBody>
      </p:sp>
      <p:sp>
        <p:nvSpPr>
          <p:cNvPr id="9" name="Text 5"/>
          <p:cNvSpPr/>
          <p:nvPr/>
        </p:nvSpPr>
        <p:spPr>
          <a:xfrm>
            <a:off x="502920" y="4892040"/>
            <a:ext cx="11201400" cy="548640"/>
          </a:xfrm>
          <a:prstGeom prst="rect">
            <a:avLst/>
          </a:prstGeom>
          <a:noFill/>
          <a:ln/>
        </p:spPr>
        <p:txBody>
          <a:bodyPr wrap="square" lIns="0" tIns="0" rIns="0" bIns="0" rtlCol="0" anchor="ctr"/>
          <a:lstStyle/>
          <a:p>
            <a:pPr indent="0" marL="0">
              <a:buNone/>
            </a:pPr>
            <a:r>
              <a:rPr lang="en-US" sz="1250" i="1" dirty="0">
                <a:solidFill>
                  <a:srgbClr val="E8A020"/>
                </a:solidFill>
                <a:latin typeface="Calibri" pitchFamily="34" charset="0"/>
                <a:ea typeface="Calibri" pitchFamily="34" charset="-122"/>
                <a:cs typeface="Calibri" pitchFamily="34" charset="-120"/>
              </a:rPr>
              <a:t>The LLM contributes salience — it knows what the world is excited about. The quant layer prices that excitement. The book is the intersection; the cash is the disagreement, quantified.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HISTORIAN</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Ten Years of Context Makes Strange Days Announce Themselves</a:t>
            </a:r>
            <a:endParaRPr lang="en-US" sz="2700" dirty="0"/>
          </a:p>
        </p:txBody>
      </p:sp>
      <p:pic>
        <p:nvPicPr>
          <p:cNvPr id="5" name="Image 0" descr="image10.png">    </p:cNvPr>
          <p:cNvPicPr>
            <a:picLocks noChangeAspect="1"/>
          </p:cNvPicPr>
          <p:nvPr/>
        </p:nvPicPr>
        <p:blipFill>
          <a:blip r:embed="rId1"/>
          <a:stretch>
            <a:fillRect/>
          </a:stretch>
        </p:blipFill>
        <p:spPr>
          <a:xfrm>
            <a:off x="502920" y="1371600"/>
            <a:ext cx="6035040" cy="3383280"/>
          </a:xfrm>
          <a:prstGeom prst="rect">
            <a:avLst/>
          </a:prstGeom>
        </p:spPr>
      </p:pic>
      <p:sp>
        <p:nvSpPr>
          <p:cNvPr id="6" name="Text 3"/>
          <p:cNvSpPr/>
          <p:nvPr/>
        </p:nvSpPr>
        <p:spPr>
          <a:xfrm>
            <a:off x="502920" y="4809744"/>
            <a:ext cx="603504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Overhead resistance graded A+ — ten years of price history locate every ceiling of trapped supply.</a:t>
            </a:r>
            <a:endParaRPr lang="en-US" sz="1050" dirty="0"/>
          </a:p>
        </p:txBody>
      </p:sp>
      <p:pic>
        <p:nvPicPr>
          <p:cNvPr id="7" name="Image 1" descr="image11.png">    </p:cNvPr>
          <p:cNvPicPr>
            <a:picLocks noChangeAspect="1"/>
          </p:cNvPicPr>
          <p:nvPr/>
        </p:nvPicPr>
        <p:blipFill>
          <a:blip r:embed="rId2"/>
          <a:stretch>
            <a:fillRect/>
          </a:stretch>
        </p:blipFill>
        <p:spPr>
          <a:xfrm>
            <a:off x="6675120" y="1371600"/>
            <a:ext cx="5029200" cy="3383280"/>
          </a:xfrm>
          <a:prstGeom prst="rect">
            <a:avLst/>
          </a:prstGeom>
        </p:spPr>
      </p:pic>
      <p:sp>
        <p:nvSpPr>
          <p:cNvPr id="8" name="Text 4"/>
          <p:cNvSpPr/>
          <p:nvPr/>
        </p:nvSpPr>
        <p:spPr>
          <a:xfrm>
            <a:off x="6675120" y="4809744"/>
            <a:ext cx="50292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Calendar context: 46 years of seasonality — including the presidential-cycle read for 2026.</a:t>
            </a:r>
            <a:endParaRPr lang="en-US" sz="1050" dirty="0"/>
          </a:p>
        </p:txBody>
      </p:sp>
      <p:sp>
        <p:nvSpPr>
          <p:cNvPr id="9" name="Text 5"/>
          <p:cNvSpPr/>
          <p:nvPr/>
        </p:nvSpPr>
        <p:spPr>
          <a:xfrm>
            <a:off x="502920" y="5120640"/>
            <a:ext cx="11201400" cy="457200"/>
          </a:xfrm>
          <a:prstGeom prst="rect">
            <a:avLst/>
          </a:prstGeom>
          <a:noFill/>
          <a:ln/>
        </p:spPr>
        <p:txBody>
          <a:bodyPr wrap="square" lIns="0" tIns="0" rIns="0" bIns="0" rtlCol="0" anchor="ctr"/>
          <a:lstStyle/>
          <a:p>
            <a:pPr indent="0" marL="0">
              <a:buNone/>
            </a:pPr>
            <a:r>
              <a:rPr lang="en-US" sz="1250" i="1" dirty="0">
                <a:solidFill>
                  <a:srgbClr val="E8A020"/>
                </a:solidFill>
                <a:latin typeface="Calibri" pitchFamily="34" charset="0"/>
                <a:ea typeface="Calibri" pitchFamily="34" charset="-122"/>
                <a:cs typeface="Calibri" pitchFamily="34" charset="-120"/>
              </a:rPr>
              <a:t>When today breaks from a decade of normal, the outlier is visible — the Historian is how a scanner earns the word 'research'.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CONVERSATION</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The Personalization Gap, Answered: An Advisor You Can Question</a:t>
            </a:r>
            <a:endParaRPr lang="en-US" sz="2700" dirty="0"/>
          </a:p>
        </p:txBody>
      </p:sp>
      <p:pic>
        <p:nvPicPr>
          <p:cNvPr id="5" name="Image 0" descr="image8.png">    </p:cNvPr>
          <p:cNvPicPr>
            <a:picLocks noChangeAspect="1"/>
          </p:cNvPicPr>
          <p:nvPr/>
        </p:nvPicPr>
        <p:blipFill>
          <a:blip r:embed="rId1"/>
          <a:stretch>
            <a:fillRect/>
          </a:stretch>
        </p:blipFill>
        <p:spPr>
          <a:xfrm>
            <a:off x="822960" y="1325880"/>
            <a:ext cx="10515600" cy="4297680"/>
          </a:xfrm>
          <a:prstGeom prst="rect">
            <a:avLst/>
          </a:prstGeom>
        </p:spPr>
      </p:pic>
      <p:sp>
        <p:nvSpPr>
          <p:cNvPr id="6" name="Text 3"/>
          <p:cNvSpPr/>
          <p:nvPr/>
        </p:nvSpPr>
        <p:spPr>
          <a:xfrm>
            <a:off x="822960" y="5678424"/>
            <a:ext cx="105156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Ask OROS explains its own build — and draws its own line: 'What I Can't Say.'</a:t>
            </a:r>
            <a:endParaRPr lang="en-US" sz="1050" dirty="0"/>
          </a:p>
        </p:txBody>
      </p:sp>
      <p:sp>
        <p:nvSpPr>
          <p:cNvPr id="7" name="Text 4"/>
          <p:cNvSpPr/>
          <p:nvPr/>
        </p:nvSpPr>
        <p:spPr>
          <a:xfrm>
            <a:off x="822960" y="6053328"/>
            <a:ext cx="10515600" cy="365760"/>
          </a:xfrm>
          <a:prstGeom prst="rect">
            <a:avLst/>
          </a:prstGeom>
          <a:noFill/>
          <a:ln/>
        </p:spPr>
        <p:txBody>
          <a:bodyPr wrap="square" lIns="0" tIns="0" rIns="0" bIns="0" rtlCol="0" anchor="ctr"/>
          <a:lstStyle/>
          <a:p>
            <a:pPr indent="0" marL="0">
              <a:buNone/>
            </a:pPr>
            <a:r>
              <a:rPr lang="en-US" sz="1250" i="1" dirty="0">
                <a:solidFill>
                  <a:srgbClr val="E8A020"/>
                </a:solidFill>
                <a:latin typeface="Calibri" pitchFamily="34" charset="0"/>
                <a:ea typeface="Calibri" pitchFamily="34" charset="-122"/>
                <a:cs typeface="Calibri" pitchFamily="34" charset="-120"/>
              </a:rPr>
              <a:t>Robo-advisors ask you five questions once. OROS answers yours every day — and knows what it must not answer.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DAILY REPORT</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One Email a Day: the Report the Video Must Match</a:t>
            </a:r>
            <a:endParaRPr lang="en-US" sz="2700" dirty="0"/>
          </a:p>
        </p:txBody>
      </p:sp>
      <p:pic>
        <p:nvPicPr>
          <p:cNvPr id="5" name="Image 0" descr="image2.png">    </p:cNvPr>
          <p:cNvPicPr>
            <a:picLocks noChangeAspect="1"/>
          </p:cNvPicPr>
          <p:nvPr/>
        </p:nvPicPr>
        <p:blipFill>
          <a:blip r:embed="rId1"/>
          <a:stretch>
            <a:fillRect/>
          </a:stretch>
        </p:blipFill>
        <p:spPr>
          <a:xfrm>
            <a:off x="502920" y="1371600"/>
            <a:ext cx="6035040" cy="3246120"/>
          </a:xfrm>
          <a:prstGeom prst="rect">
            <a:avLst/>
          </a:prstGeom>
        </p:spPr>
      </p:pic>
      <p:sp>
        <p:nvSpPr>
          <p:cNvPr id="6" name="Text 3"/>
          <p:cNvSpPr/>
          <p:nvPr/>
        </p:nvSpPr>
        <p:spPr>
          <a:xfrm>
            <a:off x="502920" y="4672584"/>
            <a:ext cx="603504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The live scan panels — Confirmed BUYs, Watching, Late Stage 2 — feed the build…</a:t>
            </a:r>
            <a:endParaRPr lang="en-US" sz="1050" dirty="0"/>
          </a:p>
        </p:txBody>
      </p:sp>
      <p:pic>
        <p:nvPicPr>
          <p:cNvPr id="7" name="Image 1" descr="image16.png">    </p:cNvPr>
          <p:cNvPicPr>
            <a:picLocks noChangeAspect="1"/>
          </p:cNvPicPr>
          <p:nvPr/>
        </p:nvPicPr>
        <p:blipFill>
          <a:blip r:embed="rId2"/>
          <a:stretch>
            <a:fillRect/>
          </a:stretch>
        </p:blipFill>
        <p:spPr>
          <a:xfrm>
            <a:off x="6675120" y="1371600"/>
            <a:ext cx="5029200" cy="3246120"/>
          </a:xfrm>
          <a:prstGeom prst="rect">
            <a:avLst/>
          </a:prstGeom>
        </p:spPr>
      </p:pic>
      <p:sp>
        <p:nvSpPr>
          <p:cNvPr id="8" name="Text 4"/>
          <p:cNvSpPr/>
          <p:nvPr/>
        </p:nvSpPr>
        <p:spPr>
          <a:xfrm>
            <a:off x="6675120" y="4672584"/>
            <a:ext cx="50292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…and the sign-off says the law: 'the same book, line for line, as this morning's emailed report.'</a:t>
            </a:r>
            <a:endParaRPr lang="en-US" sz="1050" dirty="0"/>
          </a:p>
        </p:txBody>
      </p:sp>
      <p:sp>
        <p:nvSpPr>
          <p:cNvPr id="9" name="Text 5"/>
          <p:cNvSpPr/>
          <p:nvPr/>
        </p:nvSpPr>
        <p:spPr>
          <a:xfrm>
            <a:off x="502920" y="4983480"/>
            <a:ext cx="11201400" cy="548640"/>
          </a:xfrm>
          <a:prstGeom prst="rect">
            <a:avLst/>
          </a:prstGeom>
          <a:noFill/>
          <a:ln/>
        </p:spPr>
        <p:txBody>
          <a:bodyPr wrap="square" lIns="0" tIns="0" rIns="0" bIns="0" rtlCol="0" anchor="ctr"/>
          <a:lstStyle/>
          <a:p>
            <a:pPr indent="0" marL="0">
              <a:buNone/>
            </a:pPr>
            <a:r>
              <a:rPr lang="en-US" sz="1250" i="1" dirty="0">
                <a:solidFill>
                  <a:srgbClr val="E8A020"/>
                </a:solidFill>
                <a:latin typeface="Calibri" pitchFamily="34" charset="0"/>
                <a:ea typeface="Calibri" pitchFamily="34" charset="-122"/>
                <a:cs typeface="Calibri" pitchFamily="34" charset="-120"/>
              </a:rPr>
              <a:t>The uniformity rule, enforced in code: the diff is computed once and journaled; the report, the digest, the app, and the broadcast all read that one record. They cannot disagree.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THE BROADCAST</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Two Shows a Day, Fully Autonomous, Timestamped Forever</a:t>
            </a:r>
            <a:endParaRPr lang="en-US" sz="2700" dirty="0"/>
          </a:p>
        </p:txBody>
      </p:sp>
      <p:pic>
        <p:nvPicPr>
          <p:cNvPr id="5" name="Image 0" descr="toppick_scene.png">    </p:cNvPr>
          <p:cNvPicPr>
            <a:picLocks noChangeAspect="1"/>
          </p:cNvPicPr>
          <p:nvPr/>
        </p:nvPicPr>
        <p:blipFill>
          <a:blip r:embed="rId1"/>
          <a:stretch>
            <a:fillRect/>
          </a:stretch>
        </p:blipFill>
        <p:spPr>
          <a:xfrm>
            <a:off x="502920" y="1371600"/>
            <a:ext cx="5806440" cy="3264408"/>
          </a:xfrm>
          <a:prstGeom prst="rect">
            <a:avLst/>
          </a:prstGeom>
        </p:spPr>
      </p:pic>
      <p:sp>
        <p:nvSpPr>
          <p:cNvPr id="6" name="Text 3"/>
          <p:cNvSpPr/>
          <p:nvPr/>
        </p:nvSpPr>
        <p:spPr>
          <a:xfrm>
            <a:off x="502920" y="4690872"/>
            <a:ext cx="580644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Morning Desk proposes: the Top Pick with its full trade plan in plain language…</a:t>
            </a:r>
            <a:endParaRPr lang="en-US" sz="1050" dirty="0"/>
          </a:p>
        </p:txBody>
      </p:sp>
      <p:pic>
        <p:nvPicPr>
          <p:cNvPr id="7" name="Image 1" descr="yt_analysis.png">    </p:cNvPr>
          <p:cNvPicPr>
            <a:picLocks noChangeAspect="1"/>
          </p:cNvPicPr>
          <p:nvPr/>
        </p:nvPicPr>
        <p:blipFill>
          <a:blip r:embed="rId2"/>
          <a:stretch>
            <a:fillRect/>
          </a:stretch>
        </p:blipFill>
        <p:spPr>
          <a:xfrm>
            <a:off x="6492240" y="1371600"/>
            <a:ext cx="5212080" cy="2926080"/>
          </a:xfrm>
          <a:prstGeom prst="rect">
            <a:avLst/>
          </a:prstGeom>
        </p:spPr>
      </p:pic>
      <p:sp>
        <p:nvSpPr>
          <p:cNvPr id="8" name="Text 4"/>
          <p:cNvSpPr/>
          <p:nvPr/>
        </p:nvSpPr>
        <p:spPr>
          <a:xfrm>
            <a:off x="6492240" y="4352544"/>
            <a:ext cx="521208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…published to YouTube by the pipeline itself: three AI voices, captions, chapters.</a:t>
            </a:r>
            <a:endParaRPr lang="en-US" sz="1050" dirty="0"/>
          </a:p>
        </p:txBody>
      </p:sp>
      <p:sp>
        <p:nvSpPr>
          <p:cNvPr id="9" name="Text 5"/>
          <p:cNvSpPr/>
          <p:nvPr/>
        </p:nvSpPr>
        <p:spPr>
          <a:xfrm>
            <a:off x="502920" y="5349240"/>
            <a:ext cx="11201400" cy="457200"/>
          </a:xfrm>
          <a:prstGeom prst="rect">
            <a:avLst/>
          </a:prstGeom>
          <a:noFill/>
          <a:ln/>
        </p:spPr>
        <p:txBody>
          <a:bodyPr wrap="square" lIns="0" tIns="0" rIns="0" bIns="0" rtlCol="0" anchor="ctr"/>
          <a:lstStyle/>
          <a:p>
            <a:pPr indent="0" marL="0">
              <a:buNone/>
            </a:pPr>
            <a:r>
              <a:rPr lang="en-US" sz="1250" i="1" dirty="0">
                <a:solidFill>
                  <a:srgbClr val="E8A020"/>
                </a:solidFill>
                <a:latin typeface="Calibri" pitchFamily="34" charset="0"/>
                <a:ea typeface="Calibri" pitchFamily="34" charset="-122"/>
                <a:cs typeface="Calibri" pitchFamily="34" charset="-120"/>
              </a:rPr>
              <a:t>The channel is a lab notebook the public can audit: wins, losses, and 'no pick today' — all in the same voice, no edits, no deletions.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PERFORMANCE, JOURNALED</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The Race to July 29 — Append-Only, Nothing Restated</a:t>
            </a:r>
            <a:endParaRPr lang="en-US" sz="2700" dirty="0"/>
          </a:p>
        </p:txBody>
      </p:sp>
      <p:pic>
        <p:nvPicPr>
          <p:cNvPr id="5" name="Image 0" descr="race.png">    </p:cNvPr>
          <p:cNvPicPr>
            <a:picLocks noChangeAspect="1"/>
          </p:cNvPicPr>
          <p:nvPr/>
        </p:nvPicPr>
        <p:blipFill>
          <a:blip r:embed="rId1"/>
          <a:stretch>
            <a:fillRect/>
          </a:stretch>
        </p:blipFill>
        <p:spPr>
          <a:xfrm>
            <a:off x="502920" y="1298448"/>
            <a:ext cx="8138160" cy="4572000"/>
          </a:xfrm>
          <a:prstGeom prst="rect">
            <a:avLst/>
          </a:prstGeom>
        </p:spPr>
      </p:pic>
      <p:sp>
        <p:nvSpPr>
          <p:cNvPr id="6" name="Text 3"/>
          <p:cNvSpPr/>
          <p:nvPr/>
        </p:nvSpPr>
        <p:spPr>
          <a:xfrm>
            <a:off x="8915400" y="1554480"/>
            <a:ext cx="3657600" cy="731520"/>
          </a:xfrm>
          <a:prstGeom prst="rect">
            <a:avLst/>
          </a:prstGeom>
          <a:noFill/>
          <a:ln/>
        </p:spPr>
        <p:txBody>
          <a:bodyPr wrap="square" lIns="0" tIns="0" rIns="0" bIns="0" rtlCol="0" anchor="ctr"/>
          <a:lstStyle/>
          <a:p>
            <a:pPr indent="0" marL="0">
              <a:buNone/>
            </a:pPr>
            <a:r>
              <a:rPr lang="en-US" sz="3600" b="1" dirty="0">
                <a:solidFill>
                  <a:srgbClr val="3FB950"/>
                </a:solidFill>
                <a:latin typeface="Calibri" pitchFamily="34" charset="0"/>
                <a:ea typeface="Calibri" pitchFamily="34" charset="-122"/>
                <a:cs typeface="Calibri" pitchFamily="34" charset="-120"/>
              </a:rPr>
              <a:t>+3.98%</a:t>
            </a:r>
            <a:endParaRPr lang="en-US" sz="3600" dirty="0"/>
          </a:p>
        </p:txBody>
      </p:sp>
      <p:sp>
        <p:nvSpPr>
          <p:cNvPr id="7" name="Text 4"/>
          <p:cNvSpPr/>
          <p:nvPr/>
        </p:nvSpPr>
        <p:spPr>
          <a:xfrm>
            <a:off x="8915400" y="2240280"/>
            <a:ext cx="365760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Live OROS book — $103,977 (7/29 report)</a:t>
            </a:r>
            <a:endParaRPr lang="en-US" sz="1050" dirty="0"/>
          </a:p>
        </p:txBody>
      </p:sp>
      <p:sp>
        <p:nvSpPr>
          <p:cNvPr id="8" name="Text 5"/>
          <p:cNvSpPr/>
          <p:nvPr/>
        </p:nvSpPr>
        <p:spPr>
          <a:xfrm>
            <a:off x="8915400" y="2834640"/>
            <a:ext cx="3657600" cy="731520"/>
          </a:xfrm>
          <a:prstGeom prst="rect">
            <a:avLst/>
          </a:prstGeom>
          <a:noFill/>
          <a:ln/>
        </p:spPr>
        <p:txBody>
          <a:bodyPr wrap="square" lIns="0" tIns="0" rIns="0" bIns="0" rtlCol="0" anchor="ctr"/>
          <a:lstStyle/>
          <a:p>
            <a:pPr indent="0" marL="0">
              <a:buNone/>
            </a:pPr>
            <a:r>
              <a:rPr lang="en-US" sz="3600" b="1" dirty="0">
                <a:solidFill>
                  <a:srgbClr val="58A6FF"/>
                </a:solidFill>
                <a:latin typeface="Calibri" pitchFamily="34" charset="0"/>
                <a:ea typeface="Calibri" pitchFamily="34" charset="-122"/>
                <a:cs typeface="Calibri" pitchFamily="34" charset="-120"/>
              </a:rPr>
              <a:t>+0.60%</a:t>
            </a:r>
            <a:endParaRPr lang="en-US" sz="3600" dirty="0"/>
          </a:p>
        </p:txBody>
      </p:sp>
      <p:sp>
        <p:nvSpPr>
          <p:cNvPr id="9" name="Text 6"/>
          <p:cNvSpPr/>
          <p:nvPr/>
        </p:nvSpPr>
        <p:spPr>
          <a:xfrm>
            <a:off x="8915400" y="3520440"/>
            <a:ext cx="365760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First Portfolio, frozen — $100,602</a:t>
            </a:r>
            <a:endParaRPr lang="en-US" sz="1050" dirty="0"/>
          </a:p>
        </p:txBody>
      </p:sp>
      <p:sp>
        <p:nvSpPr>
          <p:cNvPr id="10" name="Text 7"/>
          <p:cNvSpPr/>
          <p:nvPr/>
        </p:nvSpPr>
        <p:spPr>
          <a:xfrm>
            <a:off x="8915400" y="4114800"/>
            <a:ext cx="3657600" cy="731520"/>
          </a:xfrm>
          <a:prstGeom prst="rect">
            <a:avLst/>
          </a:prstGeom>
          <a:noFill/>
          <a:ln/>
        </p:spPr>
        <p:txBody>
          <a:bodyPr wrap="square" lIns="0" tIns="0" rIns="0" bIns="0" rtlCol="0" anchor="ctr"/>
          <a:lstStyle/>
          <a:p>
            <a:pPr indent="0" marL="0">
              <a:buNone/>
            </a:pPr>
            <a:r>
              <a:rPr lang="en-US" sz="3600" b="1" dirty="0">
                <a:solidFill>
                  <a:srgbClr val="F85149"/>
                </a:solidFill>
                <a:latin typeface="Calibri" pitchFamily="34" charset="0"/>
                <a:ea typeface="Calibri" pitchFamily="34" charset="-122"/>
                <a:cs typeface="Calibri" pitchFamily="34" charset="-120"/>
              </a:rPr>
              <a:t>−1.39%</a:t>
            </a:r>
            <a:endParaRPr lang="en-US" sz="3600" dirty="0"/>
          </a:p>
        </p:txBody>
      </p:sp>
      <p:sp>
        <p:nvSpPr>
          <p:cNvPr id="11" name="Text 8"/>
          <p:cNvSpPr/>
          <p:nvPr/>
        </p:nvSpPr>
        <p:spPr>
          <a:xfrm>
            <a:off x="8915400" y="4800600"/>
            <a:ext cx="365760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SPY, same $100,000 — $98,613</a:t>
            </a:r>
            <a:endParaRPr lang="en-US" sz="1050" dirty="0"/>
          </a:p>
        </p:txBody>
      </p:sp>
      <p:sp>
        <p:nvSpPr>
          <p:cNvPr id="12" name="Text 9"/>
          <p:cNvSpPr/>
          <p:nvPr/>
        </p:nvSpPr>
        <p:spPr>
          <a:xfrm>
            <a:off x="502920" y="5852160"/>
            <a:ext cx="11201400" cy="502920"/>
          </a:xfrm>
          <a:prstGeom prst="rect">
            <a:avLst/>
          </a:prstGeom>
          <a:noFill/>
          <a:ln/>
        </p:spPr>
        <p:txBody>
          <a:bodyPr wrap="square" lIns="0" tIns="0" rIns="0" bIns="0" rtlCol="0" anchor="ctr"/>
          <a:lstStyle/>
          <a:p>
            <a:pPr indent="0" marL="0">
              <a:buNone/>
            </a:pPr>
            <a:r>
              <a:rPr lang="en-US" sz="1100" i="1" dirty="0">
                <a:solidFill>
                  <a:srgbClr val="E8A020"/>
                </a:solidFill>
                <a:latin typeface="Calibri" pitchFamily="34" charset="0"/>
                <a:ea typeface="Calibri" pitchFamily="34" charset="-122"/>
                <a:cs typeface="Calibri" pitchFamily="34" charset="-120"/>
              </a:rPr>
              <a:t>17 sessions, one bull regime — this claims process integrity, not alpha. And the audit story: we found our own diff bug (48 phantom mentions), quantified it, fixed it, journaled it.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6 · MVP — DEFENSE &amp; PROVENANCE</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Bullets Dodged, and the Machine's Heartbeat</a:t>
            </a:r>
            <a:endParaRPr lang="en-US" sz="2700" dirty="0"/>
          </a:p>
        </p:txBody>
      </p:sp>
      <p:pic>
        <p:nvPicPr>
          <p:cNvPr id="5" name="Image 0" descr="dodged.png">    </p:cNvPr>
          <p:cNvPicPr>
            <a:picLocks noChangeAspect="1"/>
          </p:cNvPicPr>
          <p:nvPr/>
        </p:nvPicPr>
        <p:blipFill>
          <a:blip r:embed="rId1"/>
          <a:stretch>
            <a:fillRect/>
          </a:stretch>
        </p:blipFill>
        <p:spPr>
          <a:xfrm>
            <a:off x="502920" y="1371600"/>
            <a:ext cx="5806440" cy="2788920"/>
          </a:xfrm>
          <a:prstGeom prst="rect">
            <a:avLst/>
          </a:prstGeom>
        </p:spPr>
      </p:pic>
      <p:sp>
        <p:nvSpPr>
          <p:cNvPr id="6" name="Text 3"/>
          <p:cNvSpPr/>
          <p:nvPr/>
        </p:nvSpPr>
        <p:spPr>
          <a:xfrm>
            <a:off x="502920" y="4215384"/>
            <a:ext cx="580644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On SPY's two worst days the book sat nearly flat; on the BANR day it ran +1.62%.</a:t>
            </a:r>
            <a:endParaRPr lang="en-US" sz="1050" dirty="0"/>
          </a:p>
        </p:txBody>
      </p:sp>
      <p:pic>
        <p:nvPicPr>
          <p:cNvPr id="7" name="Image 1" descr="activity.png">    </p:cNvPr>
          <p:cNvPicPr>
            <a:picLocks noChangeAspect="1"/>
          </p:cNvPicPr>
          <p:nvPr/>
        </p:nvPicPr>
        <p:blipFill>
          <a:blip r:embed="rId2"/>
          <a:stretch>
            <a:fillRect/>
          </a:stretch>
        </p:blipFill>
        <p:spPr>
          <a:xfrm>
            <a:off x="6492240" y="1371600"/>
            <a:ext cx="5212080" cy="2606040"/>
          </a:xfrm>
          <a:prstGeom prst="rect">
            <a:avLst/>
          </a:prstGeom>
        </p:spPr>
      </p:pic>
      <p:sp>
        <p:nvSpPr>
          <p:cNvPr id="8" name="Text 4"/>
          <p:cNvSpPr/>
          <p:nvPr/>
        </p:nvSpPr>
        <p:spPr>
          <a:xfrm>
            <a:off x="6492240" y="4032504"/>
            <a:ext cx="521208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129 journaled builds since June: blue = development struggle; gold = the autonomous cadence.</a:t>
            </a:r>
            <a:endParaRPr lang="en-US" sz="1050" dirty="0"/>
          </a:p>
        </p:txBody>
      </p:sp>
      <p:sp>
        <p:nvSpPr>
          <p:cNvPr id="9" name="Text 5"/>
          <p:cNvSpPr/>
          <p:nvPr/>
        </p:nvSpPr>
        <p:spPr>
          <a:xfrm>
            <a:off x="502920" y="4892040"/>
            <a:ext cx="11201400" cy="457200"/>
          </a:xfrm>
          <a:prstGeom prst="rect">
            <a:avLst/>
          </a:prstGeom>
          <a:noFill/>
          <a:ln/>
        </p:spPr>
        <p:txBody>
          <a:bodyPr wrap="square" lIns="0" tIns="0" rIns="0" bIns="0" rtlCol="0" anchor="ctr"/>
          <a:lstStyle/>
          <a:p>
            <a:pPr indent="0" marL="0">
              <a:buNone/>
            </a:pPr>
            <a:r>
              <a:rPr lang="en-US" sz="1250" i="1" dirty="0">
                <a:solidFill>
                  <a:srgbClr val="E8A020"/>
                </a:solidFill>
                <a:latin typeface="Calibri" pitchFamily="34" charset="0"/>
                <a:ea typeface="Calibri" pitchFamily="34" charset="-122"/>
                <a:cs typeface="Calibri" pitchFamily="34" charset="-120"/>
              </a:rPr>
              <a:t>June was hard and the chart says so — the struggle taught the rules. After go-live, the gold line never misses a day.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7 · MARKET &amp; PROJECTED VALUE</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A Small Player in a $49 Billion Ocean</a:t>
            </a:r>
            <a:endParaRPr lang="en-US" sz="2700" dirty="0"/>
          </a:p>
        </p:txBody>
      </p:sp>
      <p:sp>
        <p:nvSpPr>
          <p:cNvPr id="5" name="Text 3"/>
          <p:cNvSpPr/>
          <p:nvPr/>
        </p:nvSpPr>
        <p:spPr>
          <a:xfrm>
            <a:off x="640080" y="1417320"/>
            <a:ext cx="3657600" cy="731520"/>
          </a:xfrm>
          <a:prstGeom prst="rect">
            <a:avLst/>
          </a:prstGeom>
          <a:noFill/>
          <a:ln/>
        </p:spPr>
        <p:txBody>
          <a:bodyPr wrap="square" lIns="0" tIns="0" rIns="0" bIns="0" rtlCol="0" anchor="ctr"/>
          <a:lstStyle/>
          <a:p>
            <a:pPr indent="0" marL="0">
              <a:buNone/>
            </a:pPr>
            <a:r>
              <a:rPr lang="en-US" sz="3600" b="1" dirty="0">
                <a:solidFill>
                  <a:srgbClr val="3FB950"/>
                </a:solidFill>
                <a:latin typeface="Calibri" pitchFamily="34" charset="0"/>
                <a:ea typeface="Calibri" pitchFamily="34" charset="-122"/>
                <a:cs typeface="Calibri" pitchFamily="34" charset="-120"/>
              </a:rPr>
              <a:t>$0.70</a:t>
            </a:r>
            <a:endParaRPr lang="en-US" sz="3600" dirty="0"/>
          </a:p>
        </p:txBody>
      </p:sp>
      <p:sp>
        <p:nvSpPr>
          <p:cNvPr id="6" name="Text 4"/>
          <p:cNvSpPr/>
          <p:nvPr/>
        </p:nvSpPr>
        <p:spPr>
          <a:xfrm>
            <a:off x="640080" y="2103120"/>
            <a:ext cx="365760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July's journaled LLM spend — the system tracks its own bill (~$23/mo all-in)</a:t>
            </a:r>
            <a:endParaRPr lang="en-US" sz="1050" dirty="0"/>
          </a:p>
        </p:txBody>
      </p:sp>
      <p:sp>
        <p:nvSpPr>
          <p:cNvPr id="7" name="Text 5"/>
          <p:cNvSpPr/>
          <p:nvPr/>
        </p:nvSpPr>
        <p:spPr>
          <a:xfrm>
            <a:off x="4572000" y="1417320"/>
            <a:ext cx="3657600" cy="731520"/>
          </a:xfrm>
          <a:prstGeom prst="rect">
            <a:avLst/>
          </a:prstGeom>
          <a:noFill/>
          <a:ln/>
        </p:spPr>
        <p:txBody>
          <a:bodyPr wrap="square" lIns="0" tIns="0" rIns="0" bIns="0" rtlCol="0" anchor="ctr"/>
          <a:lstStyle/>
          <a:p>
            <a:pPr indent="0" marL="0">
              <a:buNone/>
            </a:pPr>
            <a:r>
              <a:rPr lang="en-US" sz="3600" b="1" dirty="0">
                <a:solidFill>
                  <a:srgbClr val="E8A020"/>
                </a:solidFill>
                <a:latin typeface="Calibri" pitchFamily="34" charset="0"/>
                <a:ea typeface="Calibri" pitchFamily="34" charset="-122"/>
                <a:cs typeface="Calibri" pitchFamily="34" charset="-120"/>
              </a:rPr>
              <a:t>$27,660</a:t>
            </a:r>
            <a:endParaRPr lang="en-US" sz="3600" dirty="0"/>
          </a:p>
        </p:txBody>
      </p:sp>
      <p:sp>
        <p:nvSpPr>
          <p:cNvPr id="8" name="Text 6"/>
          <p:cNvSpPr/>
          <p:nvPr/>
        </p:nvSpPr>
        <p:spPr>
          <a:xfrm>
            <a:off x="4572000" y="2103120"/>
            <a:ext cx="365760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one Bloomberg seat/yr — OROS runs a year for ~1% of that</a:t>
            </a:r>
            <a:endParaRPr lang="en-US" sz="1050" dirty="0"/>
          </a:p>
        </p:txBody>
      </p:sp>
      <p:sp>
        <p:nvSpPr>
          <p:cNvPr id="9" name="Text 7"/>
          <p:cNvSpPr/>
          <p:nvPr/>
        </p:nvSpPr>
        <p:spPr>
          <a:xfrm>
            <a:off x="8549640" y="1417320"/>
            <a:ext cx="3657600" cy="731520"/>
          </a:xfrm>
          <a:prstGeom prst="rect">
            <a:avLst/>
          </a:prstGeom>
          <a:noFill/>
          <a:ln/>
        </p:spPr>
        <p:txBody>
          <a:bodyPr wrap="square" lIns="0" tIns="0" rIns="0" bIns="0" rtlCol="0" anchor="ctr"/>
          <a:lstStyle/>
          <a:p>
            <a:pPr indent="0" marL="0">
              <a:buNone/>
            </a:pPr>
            <a:r>
              <a:rPr lang="en-US" sz="3600" b="1" dirty="0">
                <a:solidFill>
                  <a:srgbClr val="58A6FF"/>
                </a:solidFill>
                <a:latin typeface="Calibri" pitchFamily="34" charset="0"/>
                <a:ea typeface="Calibri" pitchFamily="34" charset="-122"/>
                <a:cs typeface="Calibri" pitchFamily="34" charset="-120"/>
              </a:rPr>
              <a:t>$49.2B</a:t>
            </a:r>
            <a:endParaRPr lang="en-US" sz="3600" dirty="0"/>
          </a:p>
        </p:txBody>
      </p:sp>
      <p:sp>
        <p:nvSpPr>
          <p:cNvPr id="10" name="Text 8"/>
          <p:cNvSpPr/>
          <p:nvPr/>
        </p:nvSpPr>
        <p:spPr>
          <a:xfrm>
            <a:off x="8549640" y="2103120"/>
            <a:ext cx="365760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2025 market-data spend (Burton-Taylor) + robo growing 29.6%/yr</a:t>
            </a:r>
            <a:endParaRPr lang="en-US" sz="1050" dirty="0"/>
          </a:p>
        </p:txBody>
      </p:sp>
      <p:sp>
        <p:nvSpPr>
          <p:cNvPr id="11" name="Shape 9"/>
          <p:cNvSpPr/>
          <p:nvPr/>
        </p:nvSpPr>
        <p:spPr>
          <a:xfrm>
            <a:off x="640080" y="2880360"/>
            <a:ext cx="11018520" cy="1371600"/>
          </a:xfrm>
          <a:prstGeom prst="roundRect">
            <a:avLst>
              <a:gd name="adj" fmla="val 5333"/>
            </a:avLst>
          </a:prstGeom>
          <a:solidFill>
            <a:srgbClr val="161B22"/>
          </a:solidFill>
          <a:ln w="12700">
            <a:solidFill>
              <a:srgbClr val="30363D"/>
            </a:solidFill>
            <a:prstDash val="solid"/>
          </a:ln>
        </p:spPr>
      </p:sp>
      <p:sp>
        <p:nvSpPr>
          <p:cNvPr id="12" name="Text 10"/>
          <p:cNvSpPr/>
          <p:nvPr/>
        </p:nvSpPr>
        <p:spPr>
          <a:xfrm>
            <a:off x="868680" y="3063240"/>
            <a:ext cx="10607040" cy="1005840"/>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Scenario, not forecast: at TradingView-style $24/mo — 1,000 subscribers = $288K ARR at 90%+ margins; 10,000 (~1% of TradingView's paying base) = $2.9M ARR. TradingView's ~$173M revenue proves retail pays for analysis tools.</a:t>
            </a:r>
            <a:endParaRPr lang="en-US" sz="1300" dirty="0"/>
          </a:p>
        </p:txBody>
      </p:sp>
      <p:sp>
        <p:nvSpPr>
          <p:cNvPr id="13" name="Text 11"/>
          <p:cNvSpPr/>
          <p:nvPr/>
        </p:nvSpPr>
        <p:spPr>
          <a:xfrm>
            <a:off x="640080" y="4572000"/>
            <a:ext cx="11018520" cy="914400"/>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Positioning: not Bloomberg's 325,000 seats — the tens of millions Bloomberg ignores. In that wedge the differentiator is trust: a public, timestamped, self-graded record. Closest category: robo-advisory — OROS is its agentic, transparent next generation.</a:t>
            </a:r>
            <a:endParaRPr lang="en-US" sz="1300" dirty="0"/>
          </a:p>
        </p:txBody>
      </p:sp>
      <p:sp>
        <p:nvSpPr>
          <p:cNvPr id="14" name="Text 12"/>
          <p:cNvSpPr/>
          <p:nvPr/>
        </p:nvSpPr>
        <p:spPr>
          <a:xfrm>
            <a:off x="502920" y="6199632"/>
            <a:ext cx="11155680" cy="274320"/>
          </a:xfrm>
          <a:prstGeom prst="rect">
            <a:avLst/>
          </a:prstGeom>
          <a:noFill/>
          <a:ln/>
        </p:spPr>
        <p:txBody>
          <a:bodyPr wrap="square" lIns="0" tIns="0" rIns="0" bIns="0" rtlCol="0" anchor="ctr"/>
          <a:lstStyle/>
          <a:p>
            <a:pPr indent="0" marL="0">
              <a:buNone/>
            </a:pPr>
            <a:r>
              <a:rPr lang="en-US" sz="800" i="1" dirty="0">
                <a:solidFill>
                  <a:srgbClr val="6E7681"/>
                </a:solidFill>
                <a:latin typeface="Calibri" pitchFamily="34" charset="0"/>
                <a:ea typeface="Calibri" pitchFamily="34" charset="-122"/>
                <a:cs typeface="Calibri" pitchFamily="34" charset="-120"/>
              </a:rPr>
              <a:t>Sources: marketsmedia.com (Burton-Taylor) · wallstreetprep.com terminal pricing · getlatka.com/tradingview · mordorintelligence.com · fortunebusinessinsights.com</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8 · LIMITATIONS &amp; ONGOING RESEARCH</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Four Open Questions, Researched in Public</a:t>
            </a:r>
            <a:endParaRPr lang="en-US" sz="2700" dirty="0"/>
          </a:p>
        </p:txBody>
      </p:sp>
      <p:sp>
        <p:nvSpPr>
          <p:cNvPr id="5" name="Shape 3"/>
          <p:cNvSpPr/>
          <p:nvPr/>
        </p:nvSpPr>
        <p:spPr>
          <a:xfrm>
            <a:off x="640080" y="1371600"/>
            <a:ext cx="11018520" cy="1060704"/>
          </a:xfrm>
          <a:prstGeom prst="roundRect">
            <a:avLst>
              <a:gd name="adj" fmla="val 6034"/>
            </a:avLst>
          </a:prstGeom>
          <a:solidFill>
            <a:srgbClr val="161B22"/>
          </a:solidFill>
          <a:ln w="12700">
            <a:solidFill>
              <a:srgbClr val="30363D"/>
            </a:solidFill>
            <a:prstDash val="solid"/>
          </a:ln>
        </p:spPr>
      </p:sp>
      <p:sp>
        <p:nvSpPr>
          <p:cNvPr id="6" name="Text 4"/>
          <p:cNvSpPr/>
          <p:nvPr/>
        </p:nvSpPr>
        <p:spPr>
          <a:xfrm>
            <a:off x="822960" y="1444752"/>
            <a:ext cx="3291840" cy="914400"/>
          </a:xfrm>
          <a:prstGeom prst="rect">
            <a:avLst/>
          </a:prstGeom>
          <a:noFill/>
          <a:ln/>
        </p:spPr>
        <p:txBody>
          <a:bodyPr wrap="square" lIns="0" tIns="0" rIns="0" bIns="0" rtlCol="0" anchor="ctr"/>
          <a:lstStyle/>
          <a:p>
            <a:pPr indent="0" marL="0">
              <a:buNone/>
            </a:pPr>
            <a:r>
              <a:rPr lang="en-US" sz="1300" b="1" dirty="0">
                <a:solidFill>
                  <a:srgbClr val="F85149"/>
                </a:solidFill>
                <a:latin typeface="Calibri" pitchFamily="34" charset="0"/>
                <a:ea typeface="Calibri" pitchFamily="34" charset="-122"/>
                <a:cs typeface="Calibri" pitchFamily="34" charset="-120"/>
              </a:rPr>
              <a:t>1 · Statistical significance</a:t>
            </a:r>
            <a:endParaRPr lang="en-US" sz="1300" dirty="0"/>
          </a:p>
        </p:txBody>
      </p:sp>
      <p:sp>
        <p:nvSpPr>
          <p:cNvPr id="7" name="Text 5"/>
          <p:cNvSpPr/>
          <p:nvPr/>
        </p:nvSpPr>
        <p:spPr>
          <a:xfrm>
            <a:off x="4297680" y="1444752"/>
            <a:ext cx="7223760" cy="91440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17 sessions, one regime — no inference claimed. The record accumulates daily by design.</a:t>
            </a:r>
            <a:endParaRPr lang="en-US" sz="1150" dirty="0"/>
          </a:p>
        </p:txBody>
      </p:sp>
      <p:sp>
        <p:nvSpPr>
          <p:cNvPr id="8" name="Shape 6"/>
          <p:cNvSpPr/>
          <p:nvPr/>
        </p:nvSpPr>
        <p:spPr>
          <a:xfrm>
            <a:off x="640080" y="2560320"/>
            <a:ext cx="11018520" cy="1060704"/>
          </a:xfrm>
          <a:prstGeom prst="roundRect">
            <a:avLst>
              <a:gd name="adj" fmla="val 6034"/>
            </a:avLst>
          </a:prstGeom>
          <a:solidFill>
            <a:srgbClr val="161B22"/>
          </a:solidFill>
          <a:ln w="12700">
            <a:solidFill>
              <a:srgbClr val="30363D"/>
            </a:solidFill>
            <a:prstDash val="solid"/>
          </a:ln>
        </p:spPr>
      </p:sp>
      <p:sp>
        <p:nvSpPr>
          <p:cNvPr id="9" name="Text 7"/>
          <p:cNvSpPr/>
          <p:nvPr/>
        </p:nvSpPr>
        <p:spPr>
          <a:xfrm>
            <a:off x="822960" y="2633472"/>
            <a:ext cx="3291840" cy="914400"/>
          </a:xfrm>
          <a:prstGeom prst="rect">
            <a:avLst/>
          </a:prstGeom>
          <a:noFill/>
          <a:ln/>
        </p:spPr>
        <p:txBody>
          <a:bodyPr wrap="square" lIns="0" tIns="0" rIns="0" bIns="0"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2 · No backtest — deliberately</a:t>
            </a:r>
            <a:endParaRPr lang="en-US" sz="1300" dirty="0"/>
          </a:p>
        </p:txBody>
      </p:sp>
      <p:sp>
        <p:nvSpPr>
          <p:cNvPr id="10" name="Text 8"/>
          <p:cNvSpPr/>
          <p:nvPr/>
        </p:nvSpPr>
        <p:spPr>
          <a:xfrm>
            <a:off x="4297680" y="2633472"/>
            <a:ext cx="7223760" cy="91440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Forward-only avoids look-ahead and survivorship bias. Journaled before the open, graded at the close.</a:t>
            </a:r>
            <a:endParaRPr lang="en-US" sz="1150" dirty="0"/>
          </a:p>
        </p:txBody>
      </p:sp>
      <p:sp>
        <p:nvSpPr>
          <p:cNvPr id="11" name="Shape 9"/>
          <p:cNvSpPr/>
          <p:nvPr/>
        </p:nvSpPr>
        <p:spPr>
          <a:xfrm>
            <a:off x="640080" y="3749040"/>
            <a:ext cx="11018520" cy="1060704"/>
          </a:xfrm>
          <a:prstGeom prst="roundRect">
            <a:avLst>
              <a:gd name="adj" fmla="val 6034"/>
            </a:avLst>
          </a:prstGeom>
          <a:solidFill>
            <a:srgbClr val="161B22"/>
          </a:solidFill>
          <a:ln w="12700">
            <a:solidFill>
              <a:srgbClr val="30363D"/>
            </a:solidFill>
            <a:prstDash val="solid"/>
          </a:ln>
        </p:spPr>
      </p:sp>
      <p:sp>
        <p:nvSpPr>
          <p:cNvPr id="12" name="Text 10"/>
          <p:cNvSpPr/>
          <p:nvPr/>
        </p:nvSpPr>
        <p:spPr>
          <a:xfrm>
            <a:off x="822960" y="3822192"/>
            <a:ext cx="3291840" cy="914400"/>
          </a:xfrm>
          <a:prstGeom prst="rect">
            <a:avLst/>
          </a:prstGeom>
          <a:noFill/>
          <a:ln/>
        </p:spPr>
        <p:txBody>
          <a:bodyPr wrap="square" lIns="0" tIns="0" rIns="0" bIns="0" rtlCol="0" anchor="ctr"/>
          <a:lstStyle/>
          <a:p>
            <a:pPr indent="0" marL="0">
              <a:buNone/>
            </a:pPr>
            <a:r>
              <a:rPr lang="en-US" sz="1300" b="1" dirty="0">
                <a:solidFill>
                  <a:srgbClr val="E8A020"/>
                </a:solidFill>
                <a:latin typeface="Calibri" pitchFamily="34" charset="0"/>
                <a:ea typeface="Calibri" pitchFamily="34" charset="-122"/>
                <a:cs typeface="Calibri" pitchFamily="34" charset="-120"/>
              </a:rPr>
              <a:t>3 · Ablation &amp; classifier study</a:t>
            </a:r>
            <a:endParaRPr lang="en-US" sz="1300" dirty="0"/>
          </a:p>
        </p:txBody>
      </p:sp>
      <p:sp>
        <p:nvSpPr>
          <p:cNvPr id="13" name="Text 11"/>
          <p:cNvSpPr/>
          <p:nvPr/>
        </p:nvSpPr>
        <p:spPr>
          <a:xfrm>
            <a:off x="4297680" y="3822192"/>
            <a:ext cx="7223760" cy="91440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Which agent earns its keep? Two classifier fixes came from human review THIS WEEK — encoded within hours. The meta-model is this study.</a:t>
            </a:r>
            <a:endParaRPr lang="en-US" sz="1150" dirty="0"/>
          </a:p>
        </p:txBody>
      </p:sp>
      <p:sp>
        <p:nvSpPr>
          <p:cNvPr id="14" name="Shape 12"/>
          <p:cNvSpPr/>
          <p:nvPr/>
        </p:nvSpPr>
        <p:spPr>
          <a:xfrm>
            <a:off x="640080" y="4937760"/>
            <a:ext cx="11018520" cy="1060704"/>
          </a:xfrm>
          <a:prstGeom prst="roundRect">
            <a:avLst>
              <a:gd name="adj" fmla="val 6034"/>
            </a:avLst>
          </a:prstGeom>
          <a:solidFill>
            <a:srgbClr val="161B22"/>
          </a:solidFill>
          <a:ln w="12700">
            <a:solidFill>
              <a:srgbClr val="30363D"/>
            </a:solidFill>
            <a:prstDash val="solid"/>
          </a:ln>
        </p:spPr>
      </p:sp>
      <p:sp>
        <p:nvSpPr>
          <p:cNvPr id="15" name="Text 13"/>
          <p:cNvSpPr/>
          <p:nvPr/>
        </p:nvSpPr>
        <p:spPr>
          <a:xfrm>
            <a:off x="822960" y="5010912"/>
            <a:ext cx="3291840" cy="914400"/>
          </a:xfrm>
          <a:prstGeom prst="rect">
            <a:avLst/>
          </a:prstGeom>
          <a:noFill/>
          <a:ln/>
        </p:spPr>
        <p:txBody>
          <a:bodyPr wrap="square" lIns="0" tIns="0" rIns="0" bIns="0" rtlCol="0" anchor="ctr"/>
          <a:lstStyle/>
          <a:p>
            <a:pPr indent="0" marL="0">
              <a:buNone/>
            </a:pPr>
            <a:r>
              <a:rPr lang="en-US" sz="1300" b="1" dirty="0">
                <a:solidFill>
                  <a:srgbClr val="E8A020"/>
                </a:solidFill>
                <a:latin typeface="Calibri" pitchFamily="34" charset="0"/>
                <a:ea typeface="Calibri" pitchFamily="34" charset="-122"/>
                <a:cs typeface="Calibri" pitchFamily="34" charset="-120"/>
              </a:rPr>
              <a:t>4 · Cost realism</a:t>
            </a:r>
            <a:endParaRPr lang="en-US" sz="1300" dirty="0"/>
          </a:p>
        </p:txBody>
      </p:sp>
      <p:sp>
        <p:nvSpPr>
          <p:cNvPr id="16" name="Text 14"/>
          <p:cNvSpPr/>
          <p:nvPr/>
        </p:nvSpPr>
        <p:spPr>
          <a:xfrm>
            <a:off x="4297680" y="5010912"/>
            <a:ext cx="7223760" cy="91440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Paper fills flatter results. Broker-verified paper (Alpaca) is roadmap item one. Real robo-advisers are SEC/FINRA-regulated; OROS deliberately is not — it proposes, journals, and never trades.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6519672"/>
            <a:ext cx="8778240" cy="274320"/>
          </a:xfrm>
          <a:prstGeom prst="rect">
            <a:avLst/>
          </a:prstGeom>
          <a:noFill/>
          <a:ln/>
        </p:spPr>
        <p:txBody>
          <a:bodyPr wrap="square" lIns="0" tIns="0" rIns="0" bIns="0" rtlCol="0" anchor="ctr"/>
          <a:lstStyle/>
          <a:p>
            <a:pPr indent="0" marL="0">
              <a:buNone/>
            </a:pPr>
            <a:r>
              <a:rPr lang="en-US" sz="850" dirty="0">
                <a:solidFill>
                  <a:srgbClr val="8B949E"/>
                </a:solidFill>
                <a:latin typeface="Calibri" pitchFamily="34" charset="0"/>
                <a:ea typeface="Calibri" pitchFamily="34" charset="-122"/>
                <a:cs typeface="Calibri" pitchFamily="34" charset="-120"/>
              </a:rPr>
              <a:t>OROS · Fordham MSAIB Capstone · simulated paper trading · educational, not financial advice</a:t>
            </a:r>
            <a:endParaRPr lang="en-US" sz="850" dirty="0"/>
          </a:p>
        </p:txBody>
      </p:sp>
      <p:sp>
        <p:nvSpPr>
          <p:cNvPr id="3" name="Text 1"/>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9 · FUTURE ENHANCEMENTS</a:t>
            </a:r>
            <a:endParaRPr lang="en-US" sz="1150" dirty="0"/>
          </a:p>
        </p:txBody>
      </p:sp>
      <p:sp>
        <p:nvSpPr>
          <p:cNvPr id="4" name="Text 2"/>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The Industry Is Laying the Rails — OROS Builds the Community on Them</a:t>
            </a:r>
            <a:endParaRPr lang="en-US" sz="2700" dirty="0"/>
          </a:p>
        </p:txBody>
      </p:sp>
      <p:pic>
        <p:nvPicPr>
          <p:cNvPr id="5" name="Image 0" descr="future_4.png">    </p:cNvPr>
          <p:cNvPicPr>
            <a:picLocks noChangeAspect="1"/>
          </p:cNvPicPr>
          <p:nvPr/>
        </p:nvPicPr>
        <p:blipFill>
          <a:blip r:embed="rId1"/>
          <a:stretch>
            <a:fillRect/>
          </a:stretch>
        </p:blipFill>
        <p:spPr>
          <a:xfrm>
            <a:off x="548640" y="1298448"/>
            <a:ext cx="5486400" cy="2167128"/>
          </a:xfrm>
          <a:prstGeom prst="rect">
            <a:avLst/>
          </a:prstGeom>
        </p:spPr>
      </p:pic>
      <p:sp>
        <p:nvSpPr>
          <p:cNvPr id="6" name="Text 3"/>
          <p:cNvSpPr/>
          <p:nvPr/>
        </p:nvSpPr>
        <p:spPr>
          <a:xfrm>
            <a:off x="548640" y="3520440"/>
            <a:ext cx="5486400"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Robinhood: 'Let your agent trade' — market access for AI agents via an MCP server</a:t>
            </a:r>
            <a:endParaRPr lang="en-US" sz="1050" dirty="0"/>
          </a:p>
        </p:txBody>
      </p:sp>
      <p:pic>
        <p:nvPicPr>
          <p:cNvPr id="7" name="Image 1" descr="future_2.png">    </p:cNvPr>
          <p:cNvPicPr>
            <a:picLocks noChangeAspect="1"/>
          </p:cNvPicPr>
          <p:nvPr/>
        </p:nvPicPr>
        <p:blipFill>
          <a:blip r:embed="rId2"/>
          <a:stretch>
            <a:fillRect/>
          </a:stretch>
        </p:blipFill>
        <p:spPr>
          <a:xfrm>
            <a:off x="6263640" y="1298448"/>
            <a:ext cx="3465576" cy="2167128"/>
          </a:xfrm>
          <a:prstGeom prst="rect">
            <a:avLst/>
          </a:prstGeom>
        </p:spPr>
      </p:pic>
      <p:sp>
        <p:nvSpPr>
          <p:cNvPr id="8" name="Text 4"/>
          <p:cNvSpPr/>
          <p:nvPr/>
        </p:nvSpPr>
        <p:spPr>
          <a:xfrm>
            <a:off x="6263640" y="3520440"/>
            <a:ext cx="3465576"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Coinbase for Agents — agent-native access</a:t>
            </a:r>
            <a:endParaRPr lang="en-US" sz="1050" dirty="0"/>
          </a:p>
        </p:txBody>
      </p:sp>
      <p:pic>
        <p:nvPicPr>
          <p:cNvPr id="9" name="Image 2" descr="future_1.png">    </p:cNvPr>
          <p:cNvPicPr>
            <a:picLocks noChangeAspect="1"/>
          </p:cNvPicPr>
          <p:nvPr/>
        </p:nvPicPr>
        <p:blipFill>
          <a:blip r:embed="rId3"/>
          <a:stretch>
            <a:fillRect/>
          </a:stretch>
        </p:blipFill>
        <p:spPr>
          <a:xfrm>
            <a:off x="548640" y="3913632"/>
            <a:ext cx="3182112" cy="1965960"/>
          </a:xfrm>
          <a:prstGeom prst="rect">
            <a:avLst/>
          </a:prstGeom>
        </p:spPr>
      </p:pic>
      <p:sp>
        <p:nvSpPr>
          <p:cNvPr id="10" name="Text 5"/>
          <p:cNvSpPr/>
          <p:nvPr/>
        </p:nvSpPr>
        <p:spPr>
          <a:xfrm>
            <a:off x="548640" y="5934456"/>
            <a:ext cx="3182112"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Bloomberg: JPMorgan's agents beat the 60/40 (Jul 2026)</a:t>
            </a:r>
            <a:endParaRPr lang="en-US" sz="1050" dirty="0"/>
          </a:p>
        </p:txBody>
      </p:sp>
      <p:pic>
        <p:nvPicPr>
          <p:cNvPr id="11" name="Image 3" descr="future_3.png">    </p:cNvPr>
          <p:cNvPicPr>
            <a:picLocks noChangeAspect="1"/>
          </p:cNvPicPr>
          <p:nvPr/>
        </p:nvPicPr>
        <p:blipFill>
          <a:blip r:embed="rId4"/>
          <a:stretch>
            <a:fillRect/>
          </a:stretch>
        </p:blipFill>
        <p:spPr>
          <a:xfrm>
            <a:off x="3977640" y="3913632"/>
            <a:ext cx="2359152" cy="1965960"/>
          </a:xfrm>
          <a:prstGeom prst="rect">
            <a:avLst/>
          </a:prstGeom>
        </p:spPr>
      </p:pic>
      <p:sp>
        <p:nvSpPr>
          <p:cNvPr id="12" name="Text 6"/>
          <p:cNvSpPr/>
          <p:nvPr/>
        </p:nvSpPr>
        <p:spPr>
          <a:xfrm>
            <a:off x="3977640" y="5934456"/>
            <a:ext cx="2359152" cy="45720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Vanguard — robo at giant scale</a:t>
            </a:r>
            <a:endParaRPr lang="en-US" sz="1050" dirty="0"/>
          </a:p>
        </p:txBody>
      </p:sp>
      <p:sp>
        <p:nvSpPr>
          <p:cNvPr id="13" name="Shape 7"/>
          <p:cNvSpPr/>
          <p:nvPr/>
        </p:nvSpPr>
        <p:spPr>
          <a:xfrm>
            <a:off x="7178040" y="3913632"/>
            <a:ext cx="4526280" cy="2167128"/>
          </a:xfrm>
          <a:prstGeom prst="roundRect">
            <a:avLst>
              <a:gd name="adj" fmla="val 3376"/>
            </a:avLst>
          </a:prstGeom>
          <a:solidFill>
            <a:srgbClr val="161B22"/>
          </a:solidFill>
          <a:ln w="15240">
            <a:solidFill>
              <a:srgbClr val="E8A020"/>
            </a:solidFill>
            <a:prstDash val="solid"/>
          </a:ln>
        </p:spPr>
      </p:sp>
      <p:sp>
        <p:nvSpPr>
          <p:cNvPr id="14" name="Text 8"/>
          <p:cNvSpPr/>
          <p:nvPr/>
        </p:nvSpPr>
        <p:spPr>
          <a:xfrm>
            <a:off x="7360920" y="4023360"/>
            <a:ext cx="4206240" cy="274320"/>
          </a:xfrm>
          <a:prstGeom prst="rect">
            <a:avLst/>
          </a:prstGeom>
          <a:noFill/>
          <a:ln/>
        </p:spPr>
        <p:txBody>
          <a:bodyPr wrap="square" lIns="0" tIns="0" rIns="0" bIns="0" rtlCol="0" anchor="ctr"/>
          <a:lstStyle/>
          <a:p>
            <a:pPr indent="0" marL="0">
              <a:buNone/>
            </a:pPr>
            <a:r>
              <a:rPr lang="en-US" sz="1150" b="1" dirty="0">
                <a:solidFill>
                  <a:srgbClr val="E8A020"/>
                </a:solidFill>
                <a:latin typeface="Calibri" pitchFamily="34" charset="0"/>
                <a:ea typeface="Calibri" pitchFamily="34" charset="-122"/>
                <a:cs typeface="Calibri" pitchFamily="34" charset="-120"/>
              </a:rPr>
              <a:t>OROS'S NEXT STEPS</a:t>
            </a:r>
            <a:endParaRPr lang="en-US" sz="1150" dirty="0"/>
          </a:p>
        </p:txBody>
      </p:sp>
      <p:sp>
        <p:nvSpPr>
          <p:cNvPr id="15" name="Text 9"/>
          <p:cNvSpPr/>
          <p:nvPr/>
        </p:nvSpPr>
        <p:spPr>
          <a:xfrm>
            <a:off x="7360920" y="4315968"/>
            <a:ext cx="4206240" cy="1691640"/>
          </a:xfrm>
          <a:prstGeom prst="rect">
            <a:avLst/>
          </a:prstGeom>
          <a:noFill/>
          <a:ln/>
        </p:spPr>
        <p:txBody>
          <a:bodyPr wrap="square" lIns="0" tIns="0" rIns="0" bIns="0" rtlCol="0" anchor="ctr"/>
          <a:lstStyle/>
          <a:p>
            <a:pPr indent="0" marL="0">
              <a:lnSpc>
                <a:spcPct val="115000"/>
              </a:lnSpc>
              <a:buNone/>
            </a:pPr>
            <a:r>
              <a:rPr lang="en-US" sz="1000" dirty="0">
                <a:solidFill>
                  <a:srgbClr val="E6EDF3"/>
                </a:solidFill>
                <a:latin typeface="Calibri" pitchFamily="34" charset="0"/>
                <a:ea typeface="Calibri" pitchFamily="34" charset="-122"/>
                <a:cs typeface="Calibri" pitchFamily="34" charset="-120"/>
              </a:rPr>
              <a:t>Bring-your-own portfolio (PNG/PDF/manual — OROS grades YOUR book) · broker-verified paper fills via agent-ready APIs (Alpaca; Robinhood MCP is exactly this rail) · the meta-model · tutorial episodes — and a community that learns in public: open journals, a channel that answers comments, students auditing the record</a:t>
            </a:r>
            <a:endParaRPr lang="en-US" sz="1000" dirty="0"/>
          </a:p>
        </p:txBody>
      </p:sp>
      <p:sp>
        <p:nvSpPr>
          <p:cNvPr id="16" name="Text 10"/>
          <p:cNvSpPr/>
          <p:nvPr/>
        </p:nvSpPr>
        <p:spPr>
          <a:xfrm>
            <a:off x="548640" y="6236208"/>
            <a:ext cx="11109960" cy="274320"/>
          </a:xfrm>
          <a:prstGeom prst="rect">
            <a:avLst/>
          </a:prstGeom>
          <a:noFill/>
          <a:ln/>
        </p:spPr>
        <p:txBody>
          <a:bodyPr wrap="square" lIns="0" tIns="0" rIns="0" bIns="0" rtlCol="0" anchor="ctr"/>
          <a:lstStyle/>
          <a:p>
            <a:pPr indent="0" marL="0">
              <a:buNone/>
            </a:pPr>
            <a:r>
              <a:rPr lang="en-US" sz="1050" b="1" i="1" dirty="0">
                <a:solidFill>
                  <a:srgbClr val="E8A020"/>
                </a:solidFill>
                <a:latin typeface="Calibri" pitchFamily="34" charset="0"/>
                <a:ea typeface="Calibri" pitchFamily="34" charset="-122"/>
                <a:cs typeface="Calibri" pitchFamily="34" charset="-120"/>
              </a:rPr>
              <a:t>When Robinhood ships agent market access and JPMorgan's agents beat the 60/40, the category is no longer speculative — the differentiator left is trust, and community is how trust compounds.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A020"/>
                </a:solidFill>
                <a:latin typeface="Calibri" pitchFamily="34" charset="0"/>
                <a:ea typeface="Calibri" pitchFamily="34" charset="-122"/>
                <a:cs typeface="Calibri" pitchFamily="34" charset="-120"/>
              </a:rPr>
              <a:t>SECTION 10 · CONCLUSIONS &amp; TAKEAWAY</a:t>
            </a:r>
            <a:endParaRPr lang="en-US" sz="1150" dirty="0"/>
          </a:p>
        </p:txBody>
      </p:sp>
      <p:sp>
        <p:nvSpPr>
          <p:cNvPr id="3" name="Text 1"/>
          <p:cNvSpPr/>
          <p:nvPr/>
        </p:nvSpPr>
        <p:spPr>
          <a:xfrm>
            <a:off x="475488" y="530352"/>
            <a:ext cx="11247120" cy="640080"/>
          </a:xfrm>
          <a:prstGeom prst="rect">
            <a:avLst/>
          </a:prstGeom>
          <a:noFill/>
          <a:ln/>
        </p:spPr>
        <p:txBody>
          <a:bodyPr wrap="square" lIns="0" tIns="0" rIns="0" bIns="0" rtlCol="0" anchor="ctr"/>
          <a:lstStyle/>
          <a:p>
            <a:pPr indent="0" marL="0">
              <a:buNone/>
            </a:pPr>
            <a:r>
              <a:rPr lang="en-US" sz="2700" b="1" dirty="0">
                <a:solidFill>
                  <a:srgbClr val="E6EDF3"/>
                </a:solidFill>
                <a:latin typeface="Calibri" pitchFamily="34" charset="0"/>
                <a:ea typeface="Calibri" pitchFamily="34" charset="-122"/>
                <a:cs typeface="Calibri" pitchFamily="34" charset="-120"/>
              </a:rPr>
              <a:t>What This Capstone Demonstrates</a:t>
            </a:r>
            <a:endParaRPr lang="en-US" sz="2700" dirty="0"/>
          </a:p>
        </p:txBody>
      </p:sp>
      <p:sp>
        <p:nvSpPr>
          <p:cNvPr id="4" name="Shape 2"/>
          <p:cNvSpPr/>
          <p:nvPr/>
        </p:nvSpPr>
        <p:spPr>
          <a:xfrm>
            <a:off x="640080" y="1371600"/>
            <a:ext cx="11018520" cy="841248"/>
          </a:xfrm>
          <a:prstGeom prst="roundRect">
            <a:avLst>
              <a:gd name="adj" fmla="val 7609"/>
            </a:avLst>
          </a:prstGeom>
          <a:solidFill>
            <a:srgbClr val="161B22"/>
          </a:solidFill>
          <a:ln w="12700">
            <a:solidFill>
              <a:srgbClr val="30363D"/>
            </a:solidFill>
            <a:prstDash val="solid"/>
          </a:ln>
        </p:spPr>
      </p:sp>
      <p:sp>
        <p:nvSpPr>
          <p:cNvPr id="5" name="Text 3"/>
          <p:cNvSpPr/>
          <p:nvPr/>
        </p:nvSpPr>
        <p:spPr>
          <a:xfrm>
            <a:off x="822960" y="1435608"/>
            <a:ext cx="3794760" cy="731520"/>
          </a:xfrm>
          <a:prstGeom prst="rect">
            <a:avLst/>
          </a:prstGeom>
          <a:noFill/>
          <a:ln/>
        </p:spPr>
        <p:txBody>
          <a:bodyPr wrap="square" lIns="0" tIns="0" rIns="0" bIns="0" rtlCol="0" anchor="ctr"/>
          <a:lstStyle/>
          <a:p>
            <a:pPr indent="0" marL="0">
              <a:buNone/>
            </a:pPr>
            <a:r>
              <a:rPr lang="en-US" sz="1250" b="1" dirty="0">
                <a:solidFill>
                  <a:srgbClr val="58A6FF"/>
                </a:solidFill>
                <a:latin typeface="Calibri" pitchFamily="34" charset="0"/>
                <a:ea typeface="Calibri" pitchFamily="34" charset="-122"/>
                <a:cs typeface="Calibri" pitchFamily="34" charset="-120"/>
              </a:rPr>
              <a:t>1 · Navigating Extreme Market Volatility</a:t>
            </a:r>
            <a:endParaRPr lang="en-US" sz="1250" dirty="0"/>
          </a:p>
        </p:txBody>
      </p:sp>
      <p:sp>
        <p:nvSpPr>
          <p:cNvPr id="6" name="Text 4"/>
          <p:cNvSpPr/>
          <p:nvPr/>
        </p:nvSpPr>
        <p:spPr>
          <a:xfrm>
            <a:off x="4754880" y="1435608"/>
            <a:ext cx="6766560" cy="731520"/>
          </a:xfrm>
          <a:prstGeom prst="rect">
            <a:avLst/>
          </a:prstGeom>
          <a:noFill/>
          <a:ln/>
        </p:spPr>
        <p:txBody>
          <a:bodyPr wrap="square" lIns="0" tIns="0" rIns="0" bIns="0"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Regime-aware exposure and journaled exits kept the live book nearly flat on SPY's worst days — cash treated as a decision, never leftovers.</a:t>
            </a:r>
            <a:endParaRPr lang="en-US" sz="1100" dirty="0"/>
          </a:p>
        </p:txBody>
      </p:sp>
      <p:sp>
        <p:nvSpPr>
          <p:cNvPr id="7" name="Shape 5"/>
          <p:cNvSpPr/>
          <p:nvPr/>
        </p:nvSpPr>
        <p:spPr>
          <a:xfrm>
            <a:off x="640080" y="2340864"/>
            <a:ext cx="11018520" cy="841248"/>
          </a:xfrm>
          <a:prstGeom prst="roundRect">
            <a:avLst>
              <a:gd name="adj" fmla="val 7609"/>
            </a:avLst>
          </a:prstGeom>
          <a:solidFill>
            <a:srgbClr val="161B22"/>
          </a:solidFill>
          <a:ln w="12700">
            <a:solidFill>
              <a:srgbClr val="30363D"/>
            </a:solidFill>
            <a:prstDash val="solid"/>
          </a:ln>
        </p:spPr>
      </p:sp>
      <p:sp>
        <p:nvSpPr>
          <p:cNvPr id="8" name="Text 6"/>
          <p:cNvSpPr/>
          <p:nvPr/>
        </p:nvSpPr>
        <p:spPr>
          <a:xfrm>
            <a:off x="822960" y="2404872"/>
            <a:ext cx="3794760" cy="731520"/>
          </a:xfrm>
          <a:prstGeom prst="rect">
            <a:avLst/>
          </a:prstGeom>
          <a:noFill/>
          <a:ln/>
        </p:spPr>
        <p:txBody>
          <a:bodyPr wrap="square" lIns="0" tIns="0" rIns="0" bIns="0" rtlCol="0" anchor="ctr"/>
          <a:lstStyle/>
          <a:p>
            <a:pPr indent="0" marL="0">
              <a:buNone/>
            </a:pPr>
            <a:r>
              <a:rPr lang="en-US" sz="1250" b="1" dirty="0">
                <a:solidFill>
                  <a:srgbClr val="E8A020"/>
                </a:solidFill>
                <a:latin typeface="Calibri" pitchFamily="34" charset="0"/>
                <a:ea typeface="Calibri" pitchFamily="34" charset="-122"/>
                <a:cs typeface="Calibri" pitchFamily="34" charset="-120"/>
              </a:rPr>
              <a:t>2 · Democratizing Institutional-Grade Strategies</a:t>
            </a:r>
            <a:endParaRPr lang="en-US" sz="1250" dirty="0"/>
          </a:p>
        </p:txBody>
      </p:sp>
      <p:sp>
        <p:nvSpPr>
          <p:cNvPr id="9" name="Text 7"/>
          <p:cNvSpPr/>
          <p:nvPr/>
        </p:nvSpPr>
        <p:spPr>
          <a:xfrm>
            <a:off x="4754880" y="2404872"/>
            <a:ext cx="6766560" cy="731520"/>
          </a:xfrm>
          <a:prstGeom prst="rect">
            <a:avLst/>
          </a:prstGeom>
          <a:noFill/>
          <a:ln/>
        </p:spPr>
        <p:txBody>
          <a:bodyPr wrap="square" lIns="0" tIns="0" rIns="0" bIns="0"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 31-agent research desk running published, peer-reviewed strategy families — for roughly $23 a month instead of a $27,660 terminal seat.</a:t>
            </a:r>
            <a:endParaRPr lang="en-US" sz="1100" dirty="0"/>
          </a:p>
        </p:txBody>
      </p:sp>
      <p:sp>
        <p:nvSpPr>
          <p:cNvPr id="10" name="Shape 8"/>
          <p:cNvSpPr/>
          <p:nvPr/>
        </p:nvSpPr>
        <p:spPr>
          <a:xfrm>
            <a:off x="640080" y="3310128"/>
            <a:ext cx="11018520" cy="841248"/>
          </a:xfrm>
          <a:prstGeom prst="roundRect">
            <a:avLst>
              <a:gd name="adj" fmla="val 7609"/>
            </a:avLst>
          </a:prstGeom>
          <a:solidFill>
            <a:srgbClr val="161B22"/>
          </a:solidFill>
          <a:ln w="12700">
            <a:solidFill>
              <a:srgbClr val="30363D"/>
            </a:solidFill>
            <a:prstDash val="solid"/>
          </a:ln>
        </p:spPr>
      </p:sp>
      <p:sp>
        <p:nvSpPr>
          <p:cNvPr id="11" name="Text 9"/>
          <p:cNvSpPr/>
          <p:nvPr/>
        </p:nvSpPr>
        <p:spPr>
          <a:xfrm>
            <a:off x="822960" y="3374136"/>
            <a:ext cx="3794760" cy="731520"/>
          </a:xfrm>
          <a:prstGeom prst="rect">
            <a:avLst/>
          </a:prstGeom>
          <a:noFill/>
          <a:ln/>
        </p:spPr>
        <p:txBody>
          <a:bodyPr wrap="square" lIns="0" tIns="0" rIns="0" bIns="0" rtlCol="0" anchor="ctr"/>
          <a:lstStyle/>
          <a:p>
            <a:pPr indent="0" marL="0">
              <a:buNone/>
            </a:pPr>
            <a:r>
              <a:rPr lang="en-US" sz="1250" b="1" dirty="0">
                <a:solidFill>
                  <a:srgbClr val="58A6FF"/>
                </a:solidFill>
                <a:latin typeface="Calibri" pitchFamily="34" charset="0"/>
                <a:ea typeface="Calibri" pitchFamily="34" charset="-122"/>
                <a:cs typeface="Calibri" pitchFamily="34" charset="-120"/>
              </a:rPr>
              <a:t>3 · Scaling Operational Efficiency</a:t>
            </a:r>
            <a:endParaRPr lang="en-US" sz="1250" dirty="0"/>
          </a:p>
        </p:txBody>
      </p:sp>
      <p:sp>
        <p:nvSpPr>
          <p:cNvPr id="12" name="Text 10"/>
          <p:cNvSpPr/>
          <p:nvPr/>
        </p:nvSpPr>
        <p:spPr>
          <a:xfrm>
            <a:off x="4754880" y="3374136"/>
            <a:ext cx="6766560" cy="731520"/>
          </a:xfrm>
          <a:prstGeom prst="rect">
            <a:avLst/>
          </a:prstGeom>
          <a:noFill/>
          <a:ln/>
        </p:spPr>
        <p:txBody>
          <a:bodyPr wrap="square" lIns="0" tIns="0" rIns="0" bIns="0" rtlCol="0" anchor="ctr"/>
          <a:lstStyle/>
          <a:p>
            <a:pPr indent="0" marL="0">
              <a:buNone/>
            </a:pPr>
            <a:r>
              <a:rPr lang="en-US" sz="1100" dirty="0">
                <a:solidFill>
                  <a:srgbClr val="E6EDF3"/>
                </a:solidFill>
                <a:latin typeface="Calibri" pitchFamily="34" charset="0"/>
                <a:ea typeface="Calibri" pitchFamily="34" charset="-122"/>
                <a:cs typeface="Calibri" pitchFamily="34" charset="-120"/>
              </a:rPr>
              <a:t>One student, zero hands on the keyboard: 45 autonomous builds, two broadcasts a day, and one journaled record that every surface must match.</a:t>
            </a:r>
            <a:endParaRPr lang="en-US" sz="1100" dirty="0"/>
          </a:p>
        </p:txBody>
      </p:sp>
      <p:sp>
        <p:nvSpPr>
          <p:cNvPr id="13" name="Shape 11"/>
          <p:cNvSpPr/>
          <p:nvPr/>
        </p:nvSpPr>
        <p:spPr>
          <a:xfrm>
            <a:off x="640080" y="4279392"/>
            <a:ext cx="11018520" cy="841248"/>
          </a:xfrm>
          <a:prstGeom prst="roundRect">
            <a:avLst>
              <a:gd name="adj" fmla="val 7609"/>
            </a:avLst>
          </a:prstGeom>
          <a:solidFill>
            <a:srgbClr val="161B22"/>
          </a:solidFill>
          <a:ln w="12700">
            <a:solidFill>
              <a:srgbClr val="30363D"/>
            </a:solidFill>
            <a:prstDash val="solid"/>
          </a:ln>
        </p:spPr>
      </p:sp>
      <p:sp>
        <p:nvSpPr>
          <p:cNvPr id="14" name="Text 12"/>
          <p:cNvSpPr/>
          <p:nvPr/>
        </p:nvSpPr>
        <p:spPr>
          <a:xfrm>
            <a:off x="822960" y="4343400"/>
            <a:ext cx="3794760" cy="731520"/>
          </a:xfrm>
          <a:prstGeom prst="rect">
            <a:avLst/>
          </a:prstGeom>
          <a:noFill/>
          <a:ln/>
        </p:spPr>
        <p:txBody>
          <a:bodyPr wrap="square" lIns="0" tIns="0" rIns="0" bIns="0" rtlCol="0" anchor="ctr"/>
          <a:lstStyle/>
          <a:p>
            <a:pPr indent="0" marL="0">
              <a:buNone/>
            </a:pPr>
            <a:r>
              <a:rPr lang="en-US" sz="1250" b="1" dirty="0">
                <a:solidFill>
                  <a:srgbClr val="E8A020"/>
                </a:solidFill>
                <a:latin typeface="Calibri" pitchFamily="34" charset="0"/>
                <a:ea typeface="Calibri" pitchFamily="34" charset="-122"/>
                <a:cs typeface="Calibri" pitchFamily="34" charset="-120"/>
              </a:rPr>
              <a:t>4 · Overcoming Legacy Software Limitations</a:t>
            </a:r>
            <a:endParaRPr lang="en-US" sz="1250" dirty="0"/>
          </a:p>
        </p:txBody>
      </p:sp>
      <p:sp>
        <p:nvSpPr>
          <p:cNvPr id="15" name="Text 13"/>
          <p:cNvSpPr/>
          <p:nvPr/>
        </p:nvSpPr>
        <p:spPr>
          <a:xfrm>
            <a:off x="4754880" y="4343400"/>
            <a:ext cx="6766560" cy="731520"/>
          </a:xfrm>
          <a:prstGeom prst="rect">
            <a:avLst/>
          </a:prstGeom>
          <a:noFill/>
          <a:ln/>
        </p:spPr>
        <p:txBody>
          <a:bodyPr wrap="square" lIns="0" tIns="0" rIns="0" bIns="0" rtlCol="0" anchor="ctr"/>
          <a:lstStyle/>
          <a:p>
            <a:pPr indent="0" marL="0">
              <a:buNone/>
            </a:pPr>
            <a:r>
              <a:rPr lang="en-US" sz="1100" dirty="0">
                <a:solidFill>
                  <a:srgbClr val="E6EDF3"/>
                </a:solidFill>
                <a:latin typeface="Calibri" pitchFamily="34" charset="0"/>
                <a:ea typeface="Calibri" pitchFamily="34" charset="-122"/>
                <a:cs typeface="Calibri" pitchFamily="34" charset="-120"/>
              </a:rPr>
              <a:t>Where robo-advisors are static questionnaires, OROS converses, explains, grades itself — and encodes a human correction within hours.</a:t>
            </a:r>
            <a:endParaRPr lang="en-US" sz="1100" dirty="0"/>
          </a:p>
        </p:txBody>
      </p:sp>
      <p:sp>
        <p:nvSpPr>
          <p:cNvPr id="16" name="Text 14"/>
          <p:cNvSpPr/>
          <p:nvPr/>
        </p:nvSpPr>
        <p:spPr>
          <a:xfrm>
            <a:off x="1005840" y="5349240"/>
            <a:ext cx="10149840" cy="640080"/>
          </a:xfrm>
          <a:prstGeom prst="rect">
            <a:avLst/>
          </a:prstGeom>
          <a:noFill/>
          <a:ln/>
        </p:spPr>
        <p:txBody>
          <a:bodyPr wrap="square" lIns="0" tIns="0" rIns="0" bIns="0" rtlCol="0" anchor="ctr"/>
          <a:lstStyle/>
          <a:p>
            <a:pPr algn="ctr" indent="0" marL="0">
              <a:buNone/>
            </a:pPr>
            <a:r>
              <a:rPr lang="en-US" sz="1600" b="1" i="1" dirty="0">
                <a:solidFill>
                  <a:srgbClr val="E8A020"/>
                </a:solidFill>
                <a:latin typeface="Calibri" pitchFamily="34" charset="0"/>
                <a:ea typeface="Calibri" pitchFamily="34" charset="-122"/>
                <a:cs typeface="Calibri" pitchFamily="34" charset="-120"/>
              </a:rPr>
              <a:t>“I see a future where everyone has a financial advisor — and public markets earn the trust we grant gold and oil. OROS is one student-sized step toward that.”</a:t>
            </a:r>
            <a:endParaRPr lang="en-US" sz="1600" dirty="0"/>
          </a:p>
        </p:txBody>
      </p:sp>
      <p:sp>
        <p:nvSpPr>
          <p:cNvPr id="17" name="Text 15"/>
          <p:cNvSpPr/>
          <p:nvPr/>
        </p:nvSpPr>
        <p:spPr>
          <a:xfrm>
            <a:off x="1005840" y="6172200"/>
            <a:ext cx="10149840" cy="411480"/>
          </a:xfrm>
          <a:prstGeom prst="rect">
            <a:avLst/>
          </a:prstGeom>
          <a:noFill/>
          <a:ln/>
        </p:spPr>
        <p:txBody>
          <a:bodyPr wrap="square" lIns="0" tIns="0" rIns="0" bIns="0" rtlCol="0" anchor="ctr"/>
          <a:lstStyle/>
          <a:p>
            <a:pPr algn="ctr" indent="0" marL="0">
              <a:buNone/>
            </a:pPr>
            <a:r>
              <a:rPr lang="en-US" sz="1200" i="1" dirty="0">
                <a:solidFill>
                  <a:srgbClr val="E6EDF3"/>
                </a:solidFill>
                <a:latin typeface="Calibri" pitchFamily="34" charset="0"/>
                <a:ea typeface="Calibri" pitchFamily="34" charset="-122"/>
                <a:cs typeface="Calibri" pitchFamily="34" charset="-120"/>
              </a:rPr>
              <a:t>“The system proposes; it never trades. The record is public — win or lose.”   — thank you · OROS Market Desk on YouTube · journals open for review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2026-07-29T17:34:18Z</dcterms:created>
  <dcterms:modified xsi:type="dcterms:W3CDTF">2026-07-29T17:34:18Z</dcterms:modified>
</cp:coreProperties>
</file>